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7" r:id="rId1"/>
  </p:sldMasterIdLst>
  <p:notesMasterIdLst>
    <p:notesMasterId r:id="rId50"/>
  </p:notesMasterIdLst>
  <p:sldIdLst>
    <p:sldId id="531" r:id="rId2"/>
    <p:sldId id="545" r:id="rId3"/>
    <p:sldId id="563" r:id="rId4"/>
    <p:sldId id="564" r:id="rId5"/>
    <p:sldId id="565" r:id="rId6"/>
    <p:sldId id="549" r:id="rId7"/>
    <p:sldId id="529" r:id="rId8"/>
    <p:sldId id="554" r:id="rId9"/>
    <p:sldId id="561" r:id="rId10"/>
    <p:sldId id="272" r:id="rId11"/>
    <p:sldId id="562" r:id="rId12"/>
    <p:sldId id="343" r:id="rId13"/>
    <p:sldId id="530" r:id="rId14"/>
    <p:sldId id="550" r:id="rId15"/>
    <p:sldId id="353" r:id="rId16"/>
    <p:sldId id="354" r:id="rId17"/>
    <p:sldId id="360" r:id="rId18"/>
    <p:sldId id="527" r:id="rId19"/>
    <p:sldId id="528" r:id="rId20"/>
    <p:sldId id="361" r:id="rId21"/>
    <p:sldId id="362" r:id="rId22"/>
    <p:sldId id="363" r:id="rId23"/>
    <p:sldId id="364" r:id="rId24"/>
    <p:sldId id="367" r:id="rId25"/>
    <p:sldId id="370" r:id="rId26"/>
    <p:sldId id="532" r:id="rId27"/>
    <p:sldId id="551" r:id="rId28"/>
    <p:sldId id="555" r:id="rId29"/>
    <p:sldId id="556" r:id="rId30"/>
    <p:sldId id="533" r:id="rId31"/>
    <p:sldId id="534" r:id="rId32"/>
    <p:sldId id="540" r:id="rId33"/>
    <p:sldId id="535" r:id="rId34"/>
    <p:sldId id="536" r:id="rId35"/>
    <p:sldId id="537" r:id="rId36"/>
    <p:sldId id="538" r:id="rId37"/>
    <p:sldId id="539" r:id="rId38"/>
    <p:sldId id="373" r:id="rId39"/>
    <p:sldId id="547" r:id="rId40"/>
    <p:sldId id="559" r:id="rId41"/>
    <p:sldId id="560" r:id="rId42"/>
    <p:sldId id="542" r:id="rId43"/>
    <p:sldId id="543" r:id="rId44"/>
    <p:sldId id="558" r:id="rId45"/>
    <p:sldId id="544" r:id="rId46"/>
    <p:sldId id="474" r:id="rId47"/>
    <p:sldId id="473" r:id="rId48"/>
    <p:sldId id="339" r:id="rId49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lin Stokes" initials="KS" lastIdx="2" clrIdx="0">
    <p:extLst/>
  </p:cmAuthor>
  <p:cmAuthor id="2" name="david groom" initials="dg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7C80"/>
    <a:srgbClr val="A82476"/>
    <a:srgbClr val="11BAB6"/>
    <a:srgbClr val="00A9C2"/>
    <a:srgbClr val="00BAC2"/>
    <a:srgbClr val="00A4ED"/>
    <a:srgbClr val="0155EF"/>
    <a:srgbClr val="ECEEEF"/>
    <a:srgbClr val="DCDE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29" autoAdjust="0"/>
    <p:restoredTop sz="93910" autoAdjust="0"/>
  </p:normalViewPr>
  <p:slideViewPr>
    <p:cSldViewPr snapToGrid="0" showGuides="1">
      <p:cViewPr varScale="1">
        <p:scale>
          <a:sx n="88" d="100"/>
          <a:sy n="88" d="100"/>
        </p:scale>
        <p:origin x="11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07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4137A-32A9-4E3E-80A1-313294284C14}" type="datetimeFigureOut">
              <a:rPr lang="en-US" smtClean="0"/>
              <a:t>8/30/2018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56D5C-5EF9-4233-82C8-1D8C4F6E2ED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40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2913" y="400050"/>
            <a:ext cx="4803775" cy="2701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6612">
              <a:defRPr/>
            </a:pPr>
            <a:r>
              <a:rPr lang="en-US" dirty="0" smtClean="0"/>
              <a:t>Version 4</a:t>
            </a:r>
          </a:p>
          <a:p>
            <a:pPr defTabSz="966612">
              <a:defRPr/>
            </a:pPr>
            <a:r>
              <a:rPr lang="en-US" dirty="0" smtClean="0"/>
              <a:t>July 14, 2018</a:t>
            </a:r>
          </a:p>
          <a:p>
            <a:pPr defTabSz="966612">
              <a:defRPr/>
            </a:pPr>
            <a:r>
              <a:rPr lang="en-US" b="0" dirty="0" smtClean="0"/>
              <a:t>Updated By:  Hayden Brown</a:t>
            </a:r>
          </a:p>
          <a:p>
            <a:pPr defTabSz="966612">
              <a:defRPr/>
            </a:pPr>
            <a:r>
              <a:rPr lang="en-US" b="0" dirty="0" smtClean="0"/>
              <a:t>hayden.brown@microfocus.com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/>
          <a:lstStyle/>
          <a:p>
            <a:fld id="{5BFEAE42-E3FE-4405-B7FC-4425D05B92A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17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956D5C-5EF9-4233-82C8-1D8C4F6E2ED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129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956D5C-5EF9-4233-82C8-1D8C4F6E2ED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88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81000"/>
            <a:ext cx="4572000" cy="25733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62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9413" y="381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-1" y="0"/>
            <a:ext cx="3884613" cy="4587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smtClean="0"/>
              <a:t>SA 9.X How to Use – Level 320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2BDB061-7AD4-4D83-9492-07C7C0462F85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Lesson:  Agent Functionality and Server Integration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Page </a:t>
            </a:r>
            <a:fld id="{FB4E503C-2B85-40E2-9AC1-29CA73359C90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668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9413" y="381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-1" y="0"/>
            <a:ext cx="3884613" cy="4587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smtClean="0"/>
              <a:t>SA 9.X How to Use – Level 320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2BDB061-7AD4-4D83-9492-07C7C0462F85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Lesson:  Agent Functionality and Server Integration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Page </a:t>
            </a:r>
            <a:fld id="{FB4E503C-2B85-40E2-9AC1-29CA73359C9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44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9413" y="381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Module: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fr-FR" dirty="0" smtClean="0"/>
              <a:t>Server Automation (SA) 10.X </a:t>
            </a:r>
            <a:r>
              <a:rPr lang="en-US" dirty="0" smtClean="0"/>
              <a:t>How to POC - Level 360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1BD305B9-83C8-45BB-A818-E1421EB36584}" type="datetime1">
              <a:rPr lang="en-US" smtClean="0"/>
              <a:t>8/30/2018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525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9413" y="381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Module: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fr-FR" dirty="0" smtClean="0"/>
              <a:t>Server Automation (SA) 10.X </a:t>
            </a:r>
            <a:r>
              <a:rPr lang="en-US" dirty="0" smtClean="0"/>
              <a:t>How to POC - Level 360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1BD305B9-83C8-45BB-A818-E1421EB36584}" type="datetime1">
              <a:rPr lang="en-US" smtClean="0"/>
              <a:t>8/30/2018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4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9413" y="381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Module: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fr-FR" dirty="0" smtClean="0"/>
              <a:t>Server Automation (SA) 10.X </a:t>
            </a:r>
            <a:r>
              <a:rPr lang="en-US" dirty="0" smtClean="0"/>
              <a:t>How to POC - Level 360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F9C30BD6-70F9-4415-B9D5-D769FF7A1303}" type="datetime1">
              <a:rPr lang="en-US" smtClean="0"/>
              <a:t>8/30/2018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2934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79413" y="3810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Module: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FEAE42-E3FE-4405-B7FC-4425D05B92A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fr-FR" dirty="0" smtClean="0"/>
              <a:t>Server Automation (SA) 10.X </a:t>
            </a:r>
            <a:r>
              <a:rPr lang="en-US" dirty="0" smtClean="0"/>
              <a:t>How to POC - Level 360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4982DECF-4C65-43FA-9106-D4A98CDBB758}" type="datetime1">
              <a:rPr lang="en-US" smtClean="0"/>
              <a:t>8/30/2018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02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9413" y="3810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54" y="4560570"/>
            <a:ext cx="5851497" cy="4320540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6599F3BF-C563-47A4-B94D-F7C75B26FF80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231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22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9413" y="3810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54" y="4560570"/>
            <a:ext cx="5851497" cy="4320540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61819C01-2807-4E22-984B-D6B3DEA3237D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44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9413" y="3810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54" y="4560570"/>
            <a:ext cx="5851497" cy="4320540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665F83A-BFA7-4EF1-B30D-90C623264F10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65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24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9413" y="3810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54" y="4560570"/>
            <a:ext cx="5851497" cy="4320540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EF5D3C5-CEF7-4035-B5F3-26E3D7347FFE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372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25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9413" y="3810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54" y="4560570"/>
            <a:ext cx="5851497" cy="4320540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EBCB7F6D-F7CA-4ADD-8810-A06183CC656A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347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26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9413" y="381000"/>
            <a:ext cx="6096000" cy="34290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54" y="4560570"/>
            <a:ext cx="5851497" cy="4320540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EBCB7F6D-F7CA-4ADD-8810-A06183CC656A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29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31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830D3FDE-2D53-487B-8731-32E4DE8B8E9C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14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32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830D3FDE-2D53-487B-8731-32E4DE8B8E9C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855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33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747A1EF5-92D6-4AE1-9007-2695CFEFCE37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535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34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231A984-D6A1-4E3A-A529-5F9CD64F6D6F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435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35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A39D2DE-81EC-42F9-802C-1D04374FA923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045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36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6559395F-A456-4FC5-9C8A-2C89AF9CC8D3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808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F37B4-DB7E-4166-9012-A5F6F1DD68F4}" type="slidenum">
              <a:rPr lang="en-US" smtClean="0"/>
              <a:pPr/>
              <a:t>37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400050"/>
            <a:ext cx="6400800" cy="360045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645" y="4788599"/>
            <a:ext cx="6241597" cy="4536567"/>
          </a:xfrm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AB35750A-B521-4284-A077-8EEB1E45788D}" type="datetime1">
              <a:rPr lang="en-US" smtClean="0"/>
              <a:t>8/30/2018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Lesson 1: Perform an Installation and Setup of SAVA</a:t>
            </a:r>
            <a:endParaRPr lang="en-US" dirty="0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SAVA 10.X How to POC - Level 360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bg>
      <p:bgPr>
        <a:gradFill flip="none" rotWithShape="1">
          <a:gsLst>
            <a:gs pos="0">
              <a:schemeClr val="accent5">
                <a:lumMod val="100000"/>
              </a:schemeClr>
            </a:gs>
            <a:gs pos="37000">
              <a:schemeClr val="accent1"/>
            </a:gs>
            <a:gs pos="99000">
              <a:srgbClr val="0155E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87780" y="0"/>
            <a:ext cx="11920244" cy="68580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096" y="0"/>
            <a:ext cx="1220419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  <a:alpha val="34000"/>
                </a:schemeClr>
              </a:gs>
              <a:gs pos="100000">
                <a:schemeClr val="accent1">
                  <a:lumMod val="100000"/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itle 1"/>
          <p:cNvSpPr>
            <a:spLocks noGrp="1"/>
          </p:cNvSpPr>
          <p:nvPr>
            <p:ph type="ctrTitle"/>
          </p:nvPr>
        </p:nvSpPr>
        <p:spPr>
          <a:xfrm>
            <a:off x="950976" y="3078933"/>
            <a:ext cx="10314432" cy="1964978"/>
          </a:xfr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0" name="Shape 48"/>
          <p:cNvSpPr>
            <a:spLocks noGrp="1"/>
          </p:cNvSpPr>
          <p:nvPr>
            <p:ph type="body" sz="quarter" idx="10" hasCustomPrompt="1"/>
          </p:nvPr>
        </p:nvSpPr>
        <p:spPr>
          <a:xfrm>
            <a:off x="951663" y="5071003"/>
            <a:ext cx="4270249" cy="14274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rPr lang="en-US" dirty="0" smtClean="0"/>
              <a:t>Speaker Name</a:t>
            </a:r>
            <a:endParaRPr dirty="0"/>
          </a:p>
          <a:p>
            <a:pPr lvl="1"/>
            <a:r>
              <a:rPr lang="en-US" dirty="0" smtClean="0"/>
              <a:t>Title/Company</a:t>
            </a:r>
            <a:endParaRPr dirty="0"/>
          </a:p>
          <a:p>
            <a:pPr lvl="2"/>
            <a:r>
              <a:rPr lang="en-US" dirty="0" smtClean="0"/>
              <a:t>Date</a:t>
            </a:r>
            <a:endParaRPr dirty="0"/>
          </a:p>
        </p:txBody>
      </p:sp>
      <p:grpSp>
        <p:nvGrpSpPr>
          <p:cNvPr id="10" name="Large Logo"/>
          <p:cNvGrpSpPr/>
          <p:nvPr/>
        </p:nvGrpSpPr>
        <p:grpSpPr>
          <a:xfrm>
            <a:off x="946986" y="1039758"/>
            <a:ext cx="2805821" cy="680014"/>
            <a:chOff x="5753494" y="2024196"/>
            <a:chExt cx="846681" cy="205200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5793240" y="2024196"/>
              <a:ext cx="164530" cy="164530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5753494" y="2063942"/>
              <a:ext cx="164530" cy="165454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6005835" y="2024196"/>
              <a:ext cx="95206" cy="88735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6145407" y="2024196"/>
              <a:ext cx="16638" cy="88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6207337" y="2024196"/>
              <a:ext cx="85962" cy="88735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6337667" y="2024196"/>
              <a:ext cx="86886" cy="88735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6468920" y="2024196"/>
              <a:ext cx="85962" cy="88735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6005835" y="2140661"/>
              <a:ext cx="86886" cy="87811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6116753" y="2140661"/>
              <a:ext cx="85962" cy="87811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6234142" y="2140661"/>
              <a:ext cx="85962" cy="88735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6351532" y="2140661"/>
              <a:ext cx="85962" cy="87811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6467996" y="2140661"/>
              <a:ext cx="86886" cy="88735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6567823" y="2025120"/>
              <a:ext cx="32352" cy="3235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1" name="Blue bar"/>
          <p:cNvSpPr/>
          <p:nvPr userDrawn="1"/>
        </p:nvSpPr>
        <p:spPr>
          <a:xfrm>
            <a:off x="944563" y="0"/>
            <a:ext cx="1799696" cy="15184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 Subtitle">
    <p:bg>
      <p:bgPr>
        <a:gradFill flip="none" rotWithShape="1">
          <a:gsLst>
            <a:gs pos="0">
              <a:schemeClr val="accent5">
                <a:lumMod val="100000"/>
              </a:schemeClr>
            </a:gs>
            <a:gs pos="37000">
              <a:schemeClr val="accent1"/>
            </a:gs>
            <a:gs pos="99000">
              <a:srgbClr val="0155E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87780" y="0"/>
            <a:ext cx="11920244" cy="68580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096" y="0"/>
            <a:ext cx="1220419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  <a:alpha val="34000"/>
                </a:schemeClr>
              </a:gs>
              <a:gs pos="100000">
                <a:schemeClr val="accent1">
                  <a:lumMod val="100000"/>
                  <a:alpha val="5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itle 1"/>
          <p:cNvSpPr>
            <a:spLocks noGrp="1"/>
          </p:cNvSpPr>
          <p:nvPr>
            <p:ph type="ctrTitle"/>
          </p:nvPr>
        </p:nvSpPr>
        <p:spPr>
          <a:xfrm>
            <a:off x="950976" y="2446511"/>
            <a:ext cx="10314432" cy="1964978"/>
          </a:xfr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0" name="Shape 48"/>
          <p:cNvSpPr>
            <a:spLocks noGrp="1"/>
          </p:cNvSpPr>
          <p:nvPr>
            <p:ph type="body" sz="quarter" idx="10" hasCustomPrompt="1"/>
          </p:nvPr>
        </p:nvSpPr>
        <p:spPr>
          <a:xfrm>
            <a:off x="951663" y="5071003"/>
            <a:ext cx="4270249" cy="14274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rPr lang="en-US" dirty="0" smtClean="0"/>
              <a:t>Speaker Name</a:t>
            </a:r>
            <a:endParaRPr dirty="0"/>
          </a:p>
          <a:p>
            <a:pPr lvl="1"/>
            <a:r>
              <a:rPr lang="en-US" dirty="0" smtClean="0"/>
              <a:t>Title/Company</a:t>
            </a:r>
            <a:endParaRPr dirty="0"/>
          </a:p>
          <a:p>
            <a:pPr lvl="2"/>
            <a:r>
              <a:rPr lang="en-US" dirty="0" smtClean="0"/>
              <a:t>Date</a:t>
            </a:r>
            <a:endParaRPr dirty="0"/>
          </a:p>
        </p:txBody>
      </p:sp>
      <p:grpSp>
        <p:nvGrpSpPr>
          <p:cNvPr id="10" name="Large Logo"/>
          <p:cNvGrpSpPr/>
          <p:nvPr/>
        </p:nvGrpSpPr>
        <p:grpSpPr>
          <a:xfrm>
            <a:off x="946986" y="1039758"/>
            <a:ext cx="2805821" cy="680014"/>
            <a:chOff x="5753494" y="2024196"/>
            <a:chExt cx="846681" cy="205200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5793240" y="2024196"/>
              <a:ext cx="164530" cy="164530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5753494" y="2063942"/>
              <a:ext cx="164530" cy="165454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6005835" y="2024196"/>
              <a:ext cx="95206" cy="88735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6145407" y="2024196"/>
              <a:ext cx="16638" cy="88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6207337" y="2024196"/>
              <a:ext cx="85962" cy="88735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6337667" y="2024196"/>
              <a:ext cx="86886" cy="88735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6468920" y="2024196"/>
              <a:ext cx="85962" cy="88735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6005835" y="2140661"/>
              <a:ext cx="86886" cy="87811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6116753" y="2140661"/>
              <a:ext cx="85962" cy="87811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6234142" y="2140661"/>
              <a:ext cx="85962" cy="88735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6351532" y="2140661"/>
              <a:ext cx="85962" cy="87811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6467996" y="2140661"/>
              <a:ext cx="86886" cy="88735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6567823" y="2025120"/>
              <a:ext cx="32352" cy="3235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1" name="Blue bar"/>
          <p:cNvSpPr/>
          <p:nvPr userDrawn="1"/>
        </p:nvSpPr>
        <p:spPr>
          <a:xfrm>
            <a:off x="944563" y="0"/>
            <a:ext cx="1799696" cy="15184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50913" y="4411489"/>
            <a:ext cx="10314495" cy="512058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bg>
      <p:bgPr>
        <a:gradFill flip="none" rotWithShape="1">
          <a:gsLst>
            <a:gs pos="40000">
              <a:schemeClr val="accent1">
                <a:lumMod val="100000"/>
              </a:schemeClr>
            </a:gs>
            <a:gs pos="0">
              <a:schemeClr val="accent5"/>
            </a:gs>
            <a:gs pos="100000">
              <a:srgbClr val="0155E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87780" y="0"/>
            <a:ext cx="11916181" cy="6858001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 flipV="1">
            <a:off x="-12191" y="-1"/>
            <a:ext cx="12204191" cy="6858001"/>
          </a:xfrm>
          <a:prstGeom prst="rect">
            <a:avLst/>
          </a:prstGeom>
          <a:gradFill flip="none" rotWithShape="1">
            <a:gsLst>
              <a:gs pos="14000">
                <a:schemeClr val="accent1">
                  <a:lumMod val="80000"/>
                  <a:lumOff val="20000"/>
                  <a:alpha val="10000"/>
                </a:schemeClr>
              </a:gs>
              <a:gs pos="100000">
                <a:schemeClr val="accent1">
                  <a:lumMod val="100000"/>
                  <a:alpha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itle 1"/>
          <p:cNvSpPr>
            <a:spLocks noGrp="1"/>
          </p:cNvSpPr>
          <p:nvPr>
            <p:ph type="ctrTitle"/>
          </p:nvPr>
        </p:nvSpPr>
        <p:spPr>
          <a:xfrm>
            <a:off x="950976" y="341105"/>
            <a:ext cx="10314432" cy="1964978"/>
          </a:xfr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0" name="Shape 48"/>
          <p:cNvSpPr>
            <a:spLocks noGrp="1"/>
          </p:cNvSpPr>
          <p:nvPr>
            <p:ph type="body" sz="quarter" idx="10" hasCustomPrompt="1"/>
          </p:nvPr>
        </p:nvSpPr>
        <p:spPr>
          <a:xfrm>
            <a:off x="951663" y="2333175"/>
            <a:ext cx="4270249" cy="14274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rPr lang="en-US" dirty="0" smtClean="0"/>
              <a:t>Speaker Name</a:t>
            </a:r>
            <a:endParaRPr dirty="0"/>
          </a:p>
          <a:p>
            <a:pPr lvl="1"/>
            <a:r>
              <a:rPr lang="en-US" dirty="0" smtClean="0"/>
              <a:t>Title/Company</a:t>
            </a:r>
            <a:endParaRPr dirty="0"/>
          </a:p>
          <a:p>
            <a:pPr lvl="2"/>
            <a:r>
              <a:rPr lang="en-US" dirty="0" smtClean="0"/>
              <a:t>Date</a:t>
            </a:r>
            <a:endParaRPr dirty="0"/>
          </a:p>
        </p:txBody>
      </p:sp>
      <p:grpSp>
        <p:nvGrpSpPr>
          <p:cNvPr id="10" name="Large Logo"/>
          <p:cNvGrpSpPr/>
          <p:nvPr/>
        </p:nvGrpSpPr>
        <p:grpSpPr>
          <a:xfrm>
            <a:off x="946986" y="5176329"/>
            <a:ext cx="2805821" cy="680014"/>
            <a:chOff x="5753494" y="2024196"/>
            <a:chExt cx="846681" cy="205200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5793240" y="2024196"/>
              <a:ext cx="164530" cy="164530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5753494" y="2063942"/>
              <a:ext cx="164530" cy="165454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6005835" y="2024196"/>
              <a:ext cx="95206" cy="88735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6145407" y="2024196"/>
              <a:ext cx="16638" cy="88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6207337" y="2024196"/>
              <a:ext cx="85962" cy="88735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6337667" y="2024196"/>
              <a:ext cx="86886" cy="88735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6468920" y="2024196"/>
              <a:ext cx="85962" cy="88735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6005835" y="2140661"/>
              <a:ext cx="86886" cy="87811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6116753" y="2140661"/>
              <a:ext cx="85962" cy="87811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6234142" y="2140661"/>
              <a:ext cx="85962" cy="88735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6351532" y="2140661"/>
              <a:ext cx="85962" cy="87811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6467996" y="2140661"/>
              <a:ext cx="86886" cy="88735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6567823" y="2025120"/>
              <a:ext cx="32352" cy="3235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1" name="Blue bar"/>
          <p:cNvSpPr/>
          <p:nvPr userDrawn="1"/>
        </p:nvSpPr>
        <p:spPr>
          <a:xfrm>
            <a:off x="944563" y="0"/>
            <a:ext cx="1799696" cy="15184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gradFill>
          <a:gsLst>
            <a:gs pos="0">
              <a:srgbClr val="1DBDFF"/>
            </a:gs>
            <a:gs pos="32000">
              <a:srgbClr val="1A8CFF"/>
            </a:gs>
            <a:gs pos="100000">
              <a:srgbClr val="752FB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80465" y="0"/>
            <a:ext cx="11916181" cy="6858001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>
          <a:xfrm flipV="1">
            <a:off x="-12191" y="-1"/>
            <a:ext cx="12204191" cy="6858001"/>
          </a:xfrm>
          <a:prstGeom prst="rect">
            <a:avLst/>
          </a:prstGeom>
          <a:gradFill flip="none" rotWithShape="1">
            <a:gsLst>
              <a:gs pos="14000">
                <a:schemeClr val="accent1">
                  <a:lumMod val="80000"/>
                  <a:lumOff val="20000"/>
                  <a:alpha val="10000"/>
                </a:schemeClr>
              </a:gs>
              <a:gs pos="100000">
                <a:schemeClr val="accent1">
                  <a:lumMod val="100000"/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itle 1"/>
          <p:cNvSpPr>
            <a:spLocks noGrp="1"/>
          </p:cNvSpPr>
          <p:nvPr>
            <p:ph type="ctrTitle"/>
          </p:nvPr>
        </p:nvSpPr>
        <p:spPr>
          <a:xfrm>
            <a:off x="950976" y="341105"/>
            <a:ext cx="10314432" cy="1964978"/>
          </a:xfrm>
        </p:spPr>
        <p:txBody>
          <a:bodyPr anchor="b" anchorCtr="0">
            <a:norm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0" name="Shape 48"/>
          <p:cNvSpPr>
            <a:spLocks noGrp="1"/>
          </p:cNvSpPr>
          <p:nvPr>
            <p:ph type="body" sz="quarter" idx="10" hasCustomPrompt="1"/>
          </p:nvPr>
        </p:nvSpPr>
        <p:spPr>
          <a:xfrm>
            <a:off x="951663" y="2333175"/>
            <a:ext cx="4270249" cy="14274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000">
                <a:solidFill>
                  <a:srgbClr val="FFFFFF"/>
                </a:solidFill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rPr lang="en-US" dirty="0" smtClean="0"/>
              <a:t>Speaker Name</a:t>
            </a:r>
            <a:endParaRPr dirty="0"/>
          </a:p>
          <a:p>
            <a:pPr lvl="1"/>
            <a:r>
              <a:rPr lang="en-US" dirty="0" smtClean="0"/>
              <a:t>Title/Company</a:t>
            </a:r>
            <a:endParaRPr dirty="0"/>
          </a:p>
          <a:p>
            <a:pPr lvl="2"/>
            <a:r>
              <a:rPr lang="en-US" dirty="0" smtClean="0"/>
              <a:t>Date</a:t>
            </a:r>
            <a:endParaRPr dirty="0"/>
          </a:p>
        </p:txBody>
      </p:sp>
      <p:grpSp>
        <p:nvGrpSpPr>
          <p:cNvPr id="10" name="Large Logo"/>
          <p:cNvGrpSpPr/>
          <p:nvPr/>
        </p:nvGrpSpPr>
        <p:grpSpPr>
          <a:xfrm>
            <a:off x="946986" y="5176329"/>
            <a:ext cx="2805821" cy="680014"/>
            <a:chOff x="5753494" y="2024196"/>
            <a:chExt cx="846681" cy="205200"/>
          </a:xfrm>
        </p:grpSpPr>
        <p:sp>
          <p:nvSpPr>
            <p:cNvPr id="11" name="Freeform 5"/>
            <p:cNvSpPr>
              <a:spLocks/>
            </p:cNvSpPr>
            <p:nvPr/>
          </p:nvSpPr>
          <p:spPr bwMode="auto">
            <a:xfrm>
              <a:off x="5793240" y="2024196"/>
              <a:ext cx="164530" cy="164530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2" name="Freeform 6"/>
            <p:cNvSpPr>
              <a:spLocks/>
            </p:cNvSpPr>
            <p:nvPr/>
          </p:nvSpPr>
          <p:spPr bwMode="auto">
            <a:xfrm>
              <a:off x="5753494" y="2063942"/>
              <a:ext cx="164530" cy="165454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6005835" y="2024196"/>
              <a:ext cx="95206" cy="88735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6145407" y="2024196"/>
              <a:ext cx="16638" cy="88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auto">
            <a:xfrm>
              <a:off x="6207337" y="2024196"/>
              <a:ext cx="85962" cy="88735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auto">
            <a:xfrm>
              <a:off x="6337667" y="2024196"/>
              <a:ext cx="86886" cy="88735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auto">
            <a:xfrm>
              <a:off x="6468920" y="2024196"/>
              <a:ext cx="85962" cy="88735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6005835" y="2140661"/>
              <a:ext cx="86886" cy="87811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6116753" y="2140661"/>
              <a:ext cx="85962" cy="87811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6234142" y="2140661"/>
              <a:ext cx="85962" cy="88735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6351532" y="2140661"/>
              <a:ext cx="85962" cy="87811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6467996" y="2140661"/>
              <a:ext cx="86886" cy="88735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17"/>
            <p:cNvSpPr>
              <a:spLocks noEditPoints="1"/>
            </p:cNvSpPr>
            <p:nvPr/>
          </p:nvSpPr>
          <p:spPr bwMode="auto">
            <a:xfrm>
              <a:off x="6567823" y="2025120"/>
              <a:ext cx="32352" cy="3235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1" name="Blue bar"/>
          <p:cNvSpPr/>
          <p:nvPr userDrawn="1"/>
        </p:nvSpPr>
        <p:spPr>
          <a:xfrm>
            <a:off x="944563" y="0"/>
            <a:ext cx="1799696" cy="15184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SzPct val="80000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smtClean="0"/>
              <a:t>First level 28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Title and Content</a:t>
            </a:r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529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buSzPct val="80000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Forth level – avoid as too small 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Title and Content—INFORM</a:t>
            </a:r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04472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 smtClean="0"/>
              <a:t>Content + Subtitle</a:t>
            </a:r>
            <a:endParaRPr lang="en-US" dirty="0"/>
          </a:p>
        </p:txBody>
      </p:sp>
      <p:sp>
        <p:nvSpPr>
          <p:cNvPr id="5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087119"/>
            <a:ext cx="10311765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946786" y="1728000"/>
            <a:ext cx="10311765" cy="445213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0816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Subtitle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buSzPct val="80000"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Forth level – avoid as too small 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 smtClean="0"/>
              <a:t>Content + Subtitle—INFORM</a:t>
            </a:r>
            <a:endParaRPr lang="en-US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7" y="1087119"/>
            <a:ext cx="10307574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9814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419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dirty="0" smtClean="0"/>
              <a:t>Title Only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049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 smtClean="0"/>
              <a:t>Title + Subtitle Only </a:t>
            </a:r>
            <a:endParaRPr lang="en-US" dirty="0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7" y="1087119"/>
            <a:ext cx="10307574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1918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857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50976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9350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419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Two Columns—INFORM</a:t>
            </a:r>
            <a:endParaRPr lang="en-US" dirty="0"/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87416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 Subtitle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50976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9350" y="1736725"/>
            <a:ext cx="5029200" cy="44402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Two Column with Subtitle—INFORM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7" y="1087119"/>
            <a:ext cx="10307574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48919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 Heading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46785" y="1736725"/>
            <a:ext cx="50292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50976" y="2224405"/>
            <a:ext cx="5029200" cy="39553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22441" y="1736724"/>
            <a:ext cx="50292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22441" y="2224405"/>
            <a:ext cx="5029200" cy="39553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Two Columns with Headings—INFORM</a:t>
            </a:r>
            <a:endParaRPr lang="en-US" dirty="0"/>
          </a:p>
        </p:txBody>
      </p:sp>
      <p:sp>
        <p:nvSpPr>
          <p:cNvPr id="1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803365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, Subtitle and Heading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46785" y="1736725"/>
            <a:ext cx="50292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950976" y="2224405"/>
            <a:ext cx="5029200" cy="39553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22441" y="1736724"/>
            <a:ext cx="5029200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22441" y="2224405"/>
            <a:ext cx="5029200" cy="395533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- avoid</a:t>
            </a:r>
          </a:p>
          <a:p>
            <a:pPr lvl="4"/>
            <a:r>
              <a:rPr lang="en-US" dirty="0" smtClean="0"/>
              <a:t>Fifth level - avoid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Two Column with Subtitle and Headings—INFORM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7" y="1087119"/>
            <a:ext cx="10307574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10" name="Footer Placeholder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0614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46785" y="1736725"/>
            <a:ext cx="3268376" cy="4440239"/>
          </a:xfrm>
        </p:spPr>
        <p:txBody>
          <a:bodyPr/>
          <a:lstStyle>
            <a:lvl1pPr marL="228594" indent="-228594"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 baseline="0"/>
            </a:lvl4pPr>
            <a:lvl5pPr>
              <a:spcAft>
                <a:spcPts val="600"/>
              </a:spcAft>
              <a:defRPr sz="1400" baseline="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27035" y="1736725"/>
            <a:ext cx="3229804" cy="4440239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7868712" y="1736725"/>
            <a:ext cx="3367536" cy="4440239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/>
            </a:lvl1pPr>
          </a:lstStyle>
          <a:p>
            <a:r>
              <a:rPr lang="en-US" dirty="0" smtClean="0"/>
              <a:t>Three Column—INFORM</a:t>
            </a:r>
            <a:endParaRPr lang="en-US" dirty="0"/>
          </a:p>
        </p:txBody>
      </p:sp>
      <p:sp>
        <p:nvSpPr>
          <p:cNvPr id="10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33402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, Subtitle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46785" y="1736725"/>
            <a:ext cx="3268376" cy="4440239"/>
          </a:xfrm>
        </p:spPr>
        <p:txBody>
          <a:bodyPr/>
          <a:lstStyle>
            <a:lvl1pPr marL="228594" indent="-228594"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27035" y="1736725"/>
            <a:ext cx="3229804" cy="4440239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7868712" y="1736725"/>
            <a:ext cx="3367536" cy="4440239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Three Column with Subtitle—INFORM</a:t>
            </a:r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50976" y="1087119"/>
            <a:ext cx="10307575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10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33386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w Heading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46785" y="2205038"/>
            <a:ext cx="3268376" cy="3971926"/>
          </a:xfrm>
        </p:spPr>
        <p:txBody>
          <a:bodyPr/>
          <a:lstStyle>
            <a:lvl1pPr marL="228594" indent="-228594"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 baseline="0"/>
            </a:lvl4pPr>
            <a:lvl5pPr>
              <a:spcAft>
                <a:spcPts val="600"/>
              </a:spcAft>
              <a:defRPr sz="1400" baseline="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27035" y="2205038"/>
            <a:ext cx="3229804" cy="3971926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7868712" y="2205038"/>
            <a:ext cx="3367536" cy="3971926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46785" y="1736725"/>
            <a:ext cx="326837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4427035" y="1736724"/>
            <a:ext cx="3229804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7868712" y="1736725"/>
            <a:ext cx="336753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14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Three Column with Headings—INFORM</a:t>
            </a:r>
            <a:endParaRPr lang="en-US" dirty="0"/>
          </a:p>
        </p:txBody>
      </p:sp>
      <p:sp>
        <p:nvSpPr>
          <p:cNvPr id="10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926519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, Subtitle and Heading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46785" y="2205038"/>
            <a:ext cx="3268376" cy="3971926"/>
          </a:xfrm>
        </p:spPr>
        <p:txBody>
          <a:bodyPr/>
          <a:lstStyle>
            <a:lvl1pPr marL="228594" indent="-228594"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 baseline="0"/>
            </a:lvl4pPr>
            <a:lvl5pPr>
              <a:spcAft>
                <a:spcPts val="600"/>
              </a:spcAft>
              <a:defRPr sz="1400" baseline="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427035" y="2205038"/>
            <a:ext cx="3229804" cy="3971926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7868712" y="2205038"/>
            <a:ext cx="3367536" cy="3971926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600"/>
            </a:lvl2pPr>
            <a:lvl3pPr>
              <a:spcAft>
                <a:spcPts val="600"/>
              </a:spcAft>
              <a:defRPr sz="14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– avoid as too small</a:t>
            </a:r>
          </a:p>
          <a:p>
            <a:pPr lvl="3"/>
            <a:r>
              <a:rPr lang="en-US" dirty="0" smtClean="0"/>
              <a:t>Fourth – avoid as too small</a:t>
            </a:r>
          </a:p>
          <a:p>
            <a:pPr lvl="4"/>
            <a:r>
              <a:rPr lang="en-US" dirty="0" smtClean="0"/>
              <a:t>Fifth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46785" y="1736725"/>
            <a:ext cx="326837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4427035" y="1736724"/>
            <a:ext cx="3229804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7868712" y="1736725"/>
            <a:ext cx="3367536" cy="417195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 smtClean="0"/>
              <a:t>Column Title 20 </a:t>
            </a:r>
            <a:r>
              <a:rPr lang="en-US" dirty="0" err="1" smtClean="0"/>
              <a:t>pt</a:t>
            </a:r>
            <a:r>
              <a:rPr lang="en-US" dirty="0" smtClean="0"/>
              <a:t> bold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946786" y="429275"/>
            <a:ext cx="10311765" cy="657844"/>
          </a:xfrm>
        </p:spPr>
        <p:txBody>
          <a:bodyPr>
            <a:normAutofit/>
          </a:bodyPr>
          <a:lstStyle>
            <a:lvl1pPr>
              <a:defRPr baseline="0"/>
            </a:lvl1pPr>
          </a:lstStyle>
          <a:p>
            <a:r>
              <a:rPr lang="en-US" dirty="0" smtClean="0"/>
              <a:t>Three Column with Subtitle and Headings—INFORM</a:t>
            </a:r>
            <a:endParaRPr lang="en-US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950976" y="1087119"/>
            <a:ext cx="10307575" cy="41837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kern="1200" baseline="0" smtClean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>
              <a:defRPr lang="en-US" sz="2000" b="1" kern="1200" baseline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>
              <a:defRPr lang="en-US" sz="2000" b="1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Subtitle text in Calibri (20pt)</a:t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470247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1"/>
          </p:nvPr>
        </p:nvSpPr>
        <p:spPr bwMode="ltGray">
          <a:xfrm>
            <a:off x="946786" y="1736726"/>
            <a:ext cx="6286795" cy="44434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7404101" y="1736724"/>
            <a:ext cx="3854450" cy="4443413"/>
          </a:xfrm>
        </p:spPr>
        <p:txBody>
          <a:bodyPr/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/>
            </a:lvl1pPr>
            <a:lvl2pPr marL="346075" indent="0">
              <a:spcAft>
                <a:spcPts val="600"/>
              </a:spcAft>
              <a:buNone/>
              <a:defRPr sz="1800"/>
            </a:lvl2pPr>
            <a:lvl3pPr marL="574675" indent="0">
              <a:spcAft>
                <a:spcPts val="600"/>
              </a:spcAft>
              <a:buNone/>
              <a:defRPr sz="1600"/>
            </a:lvl3pPr>
            <a:lvl4pPr marL="744538" indent="0">
              <a:spcAft>
                <a:spcPts val="600"/>
              </a:spcAft>
              <a:buNone/>
              <a:defRPr sz="1600"/>
            </a:lvl4pPr>
            <a:lvl5pPr marL="922337" indent="0">
              <a:spcAft>
                <a:spcPts val="600"/>
              </a:spcAft>
              <a:buNone/>
              <a:defRPr sz="1600"/>
            </a:lvl5pPr>
          </a:lstStyle>
          <a:p>
            <a:pPr lvl="0"/>
            <a:r>
              <a:rPr lang="en-US" dirty="0" smtClean="0"/>
              <a:t>First level 24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– avoid as too small</a:t>
            </a:r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Image Left</a:t>
            </a:r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9506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1"/>
          </p:nvPr>
        </p:nvSpPr>
        <p:spPr bwMode="ltGray">
          <a:xfrm>
            <a:off x="946786" y="1736726"/>
            <a:ext cx="6286795" cy="44434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7404101" y="1736724"/>
            <a:ext cx="3854450" cy="4443413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24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 smtClean="0"/>
              <a:t>First level 24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– avoid as too small</a:t>
            </a:r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>
              <a:defRPr baseline="0"/>
            </a:lvl1pPr>
          </a:lstStyle>
          <a:p>
            <a:r>
              <a:rPr lang="en-US" dirty="0" smtClean="0"/>
              <a:t>Image Left with Bullets</a:t>
            </a:r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258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with Bullets—IN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1"/>
          </p:nvPr>
        </p:nvSpPr>
        <p:spPr bwMode="ltGray">
          <a:xfrm>
            <a:off x="946786" y="1736726"/>
            <a:ext cx="6286795" cy="44434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7404101" y="1736724"/>
            <a:ext cx="3854450" cy="4443413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§"/>
              <a:defRPr sz="20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600"/>
            </a:lvl3pPr>
            <a:lvl4pPr>
              <a:spcAft>
                <a:spcPts val="600"/>
              </a:spcAft>
              <a:defRPr sz="1400"/>
            </a:lvl4pPr>
            <a:lvl5pPr>
              <a:spcAft>
                <a:spcPts val="600"/>
              </a:spcAft>
              <a:defRPr sz="14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– avoid as too small</a:t>
            </a:r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"/>
          <p:cNvSpPr>
            <a:spLocks noGrp="1"/>
          </p:cNvSpPr>
          <p:nvPr>
            <p:ph type="title" hasCustomPrompt="1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dirty="0" smtClean="0"/>
              <a:t>Image Left with Bullets—INFORM</a:t>
            </a:r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41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 bwMode="ltGray">
          <a:xfrm>
            <a:off x="5113360" y="1736725"/>
            <a:ext cx="6145191" cy="4443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Image Right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946786" y="1736725"/>
            <a:ext cx="3955414" cy="4443413"/>
          </a:xfrm>
        </p:spPr>
        <p:txBody>
          <a:bodyPr/>
          <a:lstStyle>
            <a:lvl1pPr marL="0" indent="0">
              <a:spcAft>
                <a:spcPts val="1200"/>
              </a:spcAft>
              <a:buNone/>
              <a:defRPr sz="2400"/>
            </a:lvl1pPr>
            <a:lvl2pPr marL="346075" indent="0">
              <a:spcAft>
                <a:spcPts val="1200"/>
              </a:spcAft>
              <a:buNone/>
              <a:defRPr sz="1800"/>
            </a:lvl2pPr>
            <a:lvl3pPr marL="574675" indent="0">
              <a:spcAft>
                <a:spcPts val="1200"/>
              </a:spcAft>
              <a:buNone/>
              <a:defRPr sz="1600"/>
            </a:lvl3pPr>
            <a:lvl4pPr marL="744538" indent="0">
              <a:spcAft>
                <a:spcPts val="1200"/>
              </a:spcAft>
              <a:buNone/>
              <a:defRPr sz="1600"/>
            </a:lvl4pPr>
            <a:lvl5pPr marL="922337" indent="0">
              <a:spcAft>
                <a:spcPts val="1200"/>
              </a:spcAft>
              <a:buNone/>
              <a:defRPr sz="1600"/>
            </a:lvl5pPr>
          </a:lstStyle>
          <a:p>
            <a:pPr lvl="0"/>
            <a:r>
              <a:rPr lang="en-US" dirty="0" smtClean="0"/>
              <a:t>First level 24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– avoid as too small</a:t>
            </a:r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18916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Righ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 bwMode="ltGray">
          <a:xfrm>
            <a:off x="5113360" y="1736725"/>
            <a:ext cx="6145191" cy="4443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Image Right with Bullets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946786" y="1736725"/>
            <a:ext cx="3955414" cy="4443413"/>
          </a:xfrm>
        </p:spPr>
        <p:txBody>
          <a:bodyPr/>
          <a:lstStyle>
            <a:lvl1pPr>
              <a:spcAft>
                <a:spcPts val="1200"/>
              </a:spcAft>
              <a:defRPr sz="2400"/>
            </a:lvl1pPr>
            <a:lvl2pPr>
              <a:spcAft>
                <a:spcPts val="1200"/>
              </a:spcAft>
              <a:defRPr sz="1800"/>
            </a:lvl2pPr>
            <a:lvl3pPr>
              <a:spcAft>
                <a:spcPts val="1200"/>
              </a:spcAft>
              <a:defRPr sz="1600"/>
            </a:lvl3pPr>
            <a:lvl4pPr>
              <a:spcAft>
                <a:spcPts val="1200"/>
              </a:spcAft>
              <a:defRPr sz="1600"/>
            </a:lvl4pPr>
            <a:lvl5pPr>
              <a:spcAft>
                <a:spcPts val="1200"/>
              </a:spcAft>
              <a:defRPr sz="1600"/>
            </a:lvl5pPr>
          </a:lstStyle>
          <a:p>
            <a:pPr lvl="0"/>
            <a:r>
              <a:rPr lang="en-US" dirty="0" smtClean="0"/>
              <a:t>First level 24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– avoid as too small</a:t>
            </a:r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18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Right with Bullets—INFOR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 bwMode="ltGray">
          <a:xfrm>
            <a:off x="5113360" y="1736725"/>
            <a:ext cx="6145191" cy="4443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Image Right with Bullets—INFORM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946786" y="1736725"/>
            <a:ext cx="3955414" cy="4443413"/>
          </a:xfrm>
        </p:spPr>
        <p:txBody>
          <a:bodyPr/>
          <a:lstStyle>
            <a:lvl1pPr>
              <a:spcAft>
                <a:spcPts val="1200"/>
              </a:spcAft>
              <a:defRPr sz="2000"/>
            </a:lvl1pPr>
            <a:lvl2pPr>
              <a:spcAft>
                <a:spcPts val="1200"/>
              </a:spcAft>
              <a:defRPr sz="1800"/>
            </a:lvl2pPr>
            <a:lvl3pPr>
              <a:spcAft>
                <a:spcPts val="1200"/>
              </a:spcAft>
              <a:defRPr sz="1600"/>
            </a:lvl3pPr>
            <a:lvl4pPr>
              <a:spcAft>
                <a:spcPts val="1200"/>
              </a:spcAft>
              <a:defRPr sz="1400"/>
            </a:lvl4pPr>
            <a:lvl5pPr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 smtClean="0"/>
              <a:t>First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– avoid as too small</a:t>
            </a:r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691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-Screen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47750" y="1987091"/>
            <a:ext cx="4383499" cy="393638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Half Screen Image Right 36 </a:t>
            </a:r>
            <a:r>
              <a:rPr lang="en-US" dirty="0" err="1" smtClean="0"/>
              <a:t>pt</a:t>
            </a:r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/>
          </p:nvPr>
        </p:nvSpPr>
        <p:spPr bwMode="ltGray">
          <a:xfrm>
            <a:off x="6191251" y="1"/>
            <a:ext cx="6000750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467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-Screen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69250" y="1951465"/>
            <a:ext cx="4383499" cy="39363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Half Screen Image </a:t>
            </a:r>
            <a:br>
              <a:rPr lang="en-US" dirty="0" smtClean="0"/>
            </a:br>
            <a:r>
              <a:rPr lang="en-US" dirty="0" smtClean="0"/>
              <a:t>Left 36 </a:t>
            </a:r>
            <a:r>
              <a:rPr lang="en-US" dirty="0" err="1" smtClean="0"/>
              <a:t>pt</a:t>
            </a:r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1"/>
          </p:nvPr>
        </p:nvSpPr>
        <p:spPr bwMode="ltGray">
          <a:xfrm>
            <a:off x="1" y="1"/>
            <a:ext cx="6000752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457200">
            <a:normAutofit/>
          </a:bodyPr>
          <a:lstStyle>
            <a:lvl1pPr marL="0" indent="0" algn="ctr">
              <a:buNone/>
              <a:defRPr sz="18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7819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baseline="0"/>
            </a:lvl1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041400" y="0"/>
            <a:ext cx="1803400" cy="152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412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Break w Mark">
    <p:bg>
      <p:bgPr>
        <a:gradFill>
          <a:gsLst>
            <a:gs pos="0">
              <a:srgbClr val="1DBDFF"/>
            </a:gs>
            <a:gs pos="47000">
              <a:srgbClr val="188DFF"/>
            </a:gs>
            <a:gs pos="100000">
              <a:srgbClr val="752FB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PT Backdrop-01.png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sp>
        <p:nvSpPr>
          <p:cNvPr id="17" name="white bar" descr="Rectangle 59"/>
          <p:cNvSpPr/>
          <p:nvPr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94182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785172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Break w Mark">
    <p:bg>
      <p:bgPr>
        <a:gradFill>
          <a:gsLst>
            <a:gs pos="0">
              <a:srgbClr val="2694FF"/>
            </a:gs>
            <a:gs pos="42000">
              <a:srgbClr val="0A88FF"/>
            </a:gs>
            <a:gs pos="100000">
              <a:srgbClr val="0155E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PT Backdrop-01.png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" name="Group 12"/>
          <p:cNvGrpSpPr/>
          <p:nvPr/>
        </p:nvGrpSpPr>
        <p:grpSpPr>
          <a:xfrm>
            <a:off x="94375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>
            <a:off x="943753" y="4408637"/>
            <a:ext cx="698500" cy="701675"/>
          </a:xfrm>
          <a:custGeom>
            <a:avLst/>
            <a:gdLst>
              <a:gd name="T0" fmla="*/ 0 w 440"/>
              <a:gd name="T1" fmla="*/ 442 h 442"/>
              <a:gd name="T2" fmla="*/ 0 w 440"/>
              <a:gd name="T3" fmla="*/ 0 h 442"/>
              <a:gd name="T4" fmla="*/ 106 w 440"/>
              <a:gd name="T5" fmla="*/ 0 h 442"/>
              <a:gd name="T6" fmla="*/ 106 w 440"/>
              <a:gd name="T7" fmla="*/ 334 h 442"/>
              <a:gd name="T8" fmla="*/ 440 w 440"/>
              <a:gd name="T9" fmla="*/ 334 h 442"/>
              <a:gd name="T10" fmla="*/ 440 w 440"/>
              <a:gd name="T11" fmla="*/ 442 h 442"/>
              <a:gd name="T12" fmla="*/ 0 w 440"/>
              <a:gd name="T13" fmla="*/ 442 h 442"/>
              <a:gd name="T14" fmla="*/ 0 w 440"/>
              <a:gd name="T15" fmla="*/ 442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0" h="442">
                <a:moveTo>
                  <a:pt x="0" y="442"/>
                </a:moveTo>
                <a:lnTo>
                  <a:pt x="0" y="0"/>
                </a:lnTo>
                <a:lnTo>
                  <a:pt x="106" y="0"/>
                </a:lnTo>
                <a:lnTo>
                  <a:pt x="106" y="334"/>
                </a:lnTo>
                <a:lnTo>
                  <a:pt x="440" y="334"/>
                </a:lnTo>
                <a:lnTo>
                  <a:pt x="440" y="442"/>
                </a:lnTo>
                <a:lnTo>
                  <a:pt x="0" y="442"/>
                </a:lnTo>
                <a:lnTo>
                  <a:pt x="0" y="4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1" name="Freeform 10"/>
          <p:cNvSpPr>
            <a:spLocks/>
          </p:cNvSpPr>
          <p:nvPr userDrawn="1"/>
        </p:nvSpPr>
        <p:spPr bwMode="auto">
          <a:xfrm>
            <a:off x="943753" y="4408637"/>
            <a:ext cx="698500" cy="701675"/>
          </a:xfrm>
          <a:custGeom>
            <a:avLst/>
            <a:gdLst>
              <a:gd name="T0" fmla="*/ 0 w 440"/>
              <a:gd name="T1" fmla="*/ 442 h 442"/>
              <a:gd name="T2" fmla="*/ 0 w 440"/>
              <a:gd name="T3" fmla="*/ 0 h 442"/>
              <a:gd name="T4" fmla="*/ 106 w 440"/>
              <a:gd name="T5" fmla="*/ 0 h 442"/>
              <a:gd name="T6" fmla="*/ 106 w 440"/>
              <a:gd name="T7" fmla="*/ 334 h 442"/>
              <a:gd name="T8" fmla="*/ 440 w 440"/>
              <a:gd name="T9" fmla="*/ 334 h 442"/>
              <a:gd name="T10" fmla="*/ 440 w 440"/>
              <a:gd name="T11" fmla="*/ 442 h 442"/>
              <a:gd name="T12" fmla="*/ 0 w 440"/>
              <a:gd name="T13" fmla="*/ 442 h 442"/>
              <a:gd name="T14" fmla="*/ 0 w 440"/>
              <a:gd name="T15" fmla="*/ 442 h 4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0" h="442">
                <a:moveTo>
                  <a:pt x="0" y="442"/>
                </a:moveTo>
                <a:lnTo>
                  <a:pt x="0" y="0"/>
                </a:lnTo>
                <a:lnTo>
                  <a:pt x="106" y="0"/>
                </a:lnTo>
                <a:lnTo>
                  <a:pt x="106" y="334"/>
                </a:lnTo>
                <a:lnTo>
                  <a:pt x="440" y="334"/>
                </a:lnTo>
                <a:lnTo>
                  <a:pt x="440" y="442"/>
                </a:lnTo>
                <a:lnTo>
                  <a:pt x="0" y="442"/>
                </a:lnTo>
                <a:lnTo>
                  <a:pt x="0" y="4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8537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ction Break w Mark">
    <p:bg>
      <p:bgPr>
        <a:gradFill>
          <a:gsLst>
            <a:gs pos="0">
              <a:schemeClr val="accent2"/>
            </a:gs>
            <a:gs pos="100000">
              <a:schemeClr val="accent2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3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ction Break w Mark">
    <p:bg>
      <p:bgPr>
        <a:gradFill>
          <a:gsLst>
            <a:gs pos="0">
              <a:srgbClr val="8230B7"/>
            </a:gs>
            <a:gs pos="100000">
              <a:srgbClr val="4C248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3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1349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ction Break w Mark">
    <p:bg>
      <p:bgPr>
        <a:gradFill>
          <a:gsLst>
            <a:gs pos="0">
              <a:schemeClr val="accent4">
                <a:alpha val="90000"/>
              </a:schemeClr>
            </a:gs>
            <a:gs pos="100000">
              <a:schemeClr val="accent4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2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5888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Section Break w Mark">
    <p:bg>
      <p:bgPr>
        <a:gradFill>
          <a:gsLst>
            <a:gs pos="0">
              <a:schemeClr val="accent5"/>
            </a:gs>
            <a:gs pos="100000">
              <a:srgbClr val="00A4ED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7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Section Break w Mark">
    <p:bg>
      <p:bgPr>
        <a:gradFill>
          <a:gsLst>
            <a:gs pos="0">
              <a:schemeClr val="accent6"/>
            </a:gs>
            <a:gs pos="100000">
              <a:srgbClr val="11BAB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7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/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Break w Numbers">
    <p:bg>
      <p:bgPr>
        <a:gradFill>
          <a:gsLst>
            <a:gs pos="0">
              <a:srgbClr val="1DBDFF"/>
            </a:gs>
            <a:gs pos="47000">
              <a:srgbClr val="188DFF"/>
            </a:gs>
            <a:gs pos="100000">
              <a:srgbClr val="752FB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PT Backdrop-01.png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white bar" descr="Rectangle 59"/>
          <p:cNvSpPr/>
          <p:nvPr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941823" y="4240362"/>
            <a:ext cx="869950" cy="869950"/>
            <a:chOff x="3513138" y="642938"/>
            <a:chExt cx="869950" cy="869950"/>
          </a:xfrm>
          <a:solidFill>
            <a:schemeClr val="bg1">
              <a:alpha val="5000"/>
            </a:schemeClr>
          </a:solidFill>
        </p:grpSpPr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Break w Numbers">
    <p:bg>
      <p:bgPr>
        <a:gradFill>
          <a:gsLst>
            <a:gs pos="0">
              <a:srgbClr val="2694FF"/>
            </a:gs>
            <a:gs pos="42000">
              <a:srgbClr val="0A88FF"/>
            </a:gs>
            <a:gs pos="100000">
              <a:srgbClr val="0155E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PT Backdrop-01.png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" name="Group 12"/>
          <p:cNvGrpSpPr/>
          <p:nvPr/>
        </p:nvGrpSpPr>
        <p:grpSpPr>
          <a:xfrm>
            <a:off x="943753" y="4240362"/>
            <a:ext cx="869950" cy="869950"/>
            <a:chOff x="3513138" y="642938"/>
            <a:chExt cx="869950" cy="869950"/>
          </a:xfrm>
          <a:solidFill>
            <a:schemeClr val="bg1">
              <a:alpha val="5000"/>
            </a:schemeClr>
          </a:solidFill>
        </p:grpSpPr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sp>
        <p:nvSpPr>
          <p:cNvPr id="20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6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Break w Numbers">
    <p:bg>
      <p:bgPr>
        <a:gradFill>
          <a:gsLst>
            <a:gs pos="0">
              <a:schemeClr val="accent2"/>
            </a:gs>
            <a:gs pos="100000">
              <a:schemeClr val="accent2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3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>
              <a:alpha val="3000"/>
            </a:schemeClr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Break w Numbers">
    <p:bg>
      <p:bgPr>
        <a:gradFill>
          <a:gsLst>
            <a:gs pos="0">
              <a:srgbClr val="8230B7"/>
            </a:gs>
            <a:gs pos="100000">
              <a:srgbClr val="4C248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3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>
              <a:alpha val="3000"/>
            </a:schemeClr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Break w Numbers">
    <p:bg>
      <p:bgPr>
        <a:gradFill>
          <a:gsLst>
            <a:gs pos="0">
              <a:schemeClr val="accent4">
                <a:alpha val="90000"/>
              </a:schemeClr>
            </a:gs>
            <a:gs pos="100000">
              <a:schemeClr val="accent4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5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>
              <a:alpha val="5000"/>
            </a:schemeClr>
          </a:solidFill>
        </p:grpSpPr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2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Break w Numbers">
    <p:bg>
      <p:bgPr>
        <a:gradFill>
          <a:gsLst>
            <a:gs pos="0">
              <a:schemeClr val="accent5"/>
            </a:gs>
            <a:gs pos="100000">
              <a:srgbClr val="00A4ED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7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>
              <a:alpha val="5000"/>
            </a:schemeClr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ection Break w Numbers">
    <p:bg>
      <p:bgPr>
        <a:gradFill>
          <a:gsLst>
            <a:gs pos="0">
              <a:schemeClr val="accent6"/>
            </a:gs>
            <a:gs pos="100000">
              <a:srgbClr val="11BAB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PT Backdrop-01.png"/>
          <p:cNvPicPr>
            <a:picLocks noChangeAspect="1"/>
          </p:cNvPicPr>
          <p:nvPr/>
        </p:nvPicPr>
        <p:blipFill>
          <a:blip r:embed="rId2">
            <a:alphaModFix amt="7000"/>
            <a:extLst/>
          </a:blip>
          <a:stretch>
            <a:fillRect/>
          </a:stretch>
        </p:blipFill>
        <p:spPr>
          <a:xfrm>
            <a:off x="-10241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148840" y="3767327"/>
            <a:ext cx="9109710" cy="1874520"/>
          </a:xfrm>
        </p:spPr>
        <p:txBody>
          <a:bodyPr lIns="91440" tIns="45720" rIns="91440" bIns="45720" anchor="ctr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Title Text</a:t>
            </a:r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56453" y="4240362"/>
            <a:ext cx="869950" cy="869950"/>
            <a:chOff x="3513138" y="642938"/>
            <a:chExt cx="869950" cy="869950"/>
          </a:xfrm>
          <a:solidFill>
            <a:schemeClr val="bg1">
              <a:alpha val="5000"/>
            </a:schemeClr>
          </a:solidFill>
        </p:grpSpPr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513138" y="811213"/>
              <a:ext cx="698500" cy="701675"/>
            </a:xfrm>
            <a:custGeom>
              <a:avLst/>
              <a:gdLst>
                <a:gd name="T0" fmla="*/ 0 w 440"/>
                <a:gd name="T1" fmla="*/ 442 h 442"/>
                <a:gd name="T2" fmla="*/ 0 w 440"/>
                <a:gd name="T3" fmla="*/ 0 h 442"/>
                <a:gd name="T4" fmla="*/ 106 w 440"/>
                <a:gd name="T5" fmla="*/ 0 h 442"/>
                <a:gd name="T6" fmla="*/ 106 w 440"/>
                <a:gd name="T7" fmla="*/ 334 h 442"/>
                <a:gd name="T8" fmla="*/ 440 w 440"/>
                <a:gd name="T9" fmla="*/ 334 h 442"/>
                <a:gd name="T10" fmla="*/ 440 w 440"/>
                <a:gd name="T11" fmla="*/ 442 h 442"/>
                <a:gd name="T12" fmla="*/ 0 w 440"/>
                <a:gd name="T13" fmla="*/ 442 h 442"/>
                <a:gd name="T14" fmla="*/ 0 w 440"/>
                <a:gd name="T15" fmla="*/ 442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442">
                  <a:moveTo>
                    <a:pt x="0" y="442"/>
                  </a:moveTo>
                  <a:lnTo>
                    <a:pt x="0" y="0"/>
                  </a:lnTo>
                  <a:lnTo>
                    <a:pt x="106" y="0"/>
                  </a:lnTo>
                  <a:lnTo>
                    <a:pt x="106" y="334"/>
                  </a:lnTo>
                  <a:lnTo>
                    <a:pt x="440" y="334"/>
                  </a:lnTo>
                  <a:lnTo>
                    <a:pt x="440" y="442"/>
                  </a:lnTo>
                  <a:lnTo>
                    <a:pt x="0" y="442"/>
                  </a:lnTo>
                  <a:lnTo>
                    <a:pt x="0" y="4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3681413" y="642938"/>
              <a:ext cx="701675" cy="698500"/>
            </a:xfrm>
            <a:custGeom>
              <a:avLst/>
              <a:gdLst>
                <a:gd name="T0" fmla="*/ 0 w 442"/>
                <a:gd name="T1" fmla="*/ 106 h 440"/>
                <a:gd name="T2" fmla="*/ 0 w 442"/>
                <a:gd name="T3" fmla="*/ 0 h 440"/>
                <a:gd name="T4" fmla="*/ 442 w 442"/>
                <a:gd name="T5" fmla="*/ 0 h 440"/>
                <a:gd name="T6" fmla="*/ 442 w 442"/>
                <a:gd name="T7" fmla="*/ 440 h 440"/>
                <a:gd name="T8" fmla="*/ 334 w 442"/>
                <a:gd name="T9" fmla="*/ 440 h 440"/>
                <a:gd name="T10" fmla="*/ 334 w 442"/>
                <a:gd name="T11" fmla="*/ 106 h 440"/>
                <a:gd name="T12" fmla="*/ 0 w 442"/>
                <a:gd name="T13" fmla="*/ 106 h 440"/>
                <a:gd name="T14" fmla="*/ 0 w 442"/>
                <a:gd name="T15" fmla="*/ 106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2" h="440">
                  <a:moveTo>
                    <a:pt x="0" y="106"/>
                  </a:moveTo>
                  <a:lnTo>
                    <a:pt x="0" y="0"/>
                  </a:lnTo>
                  <a:lnTo>
                    <a:pt x="442" y="0"/>
                  </a:lnTo>
                  <a:lnTo>
                    <a:pt x="442" y="440"/>
                  </a:lnTo>
                  <a:lnTo>
                    <a:pt x="334" y="440"/>
                  </a:lnTo>
                  <a:lnTo>
                    <a:pt x="334" y="106"/>
                  </a:lnTo>
                  <a:lnTo>
                    <a:pt x="0" y="106"/>
                  </a:lnTo>
                  <a:lnTo>
                    <a:pt x="0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0" hasCustomPrompt="1"/>
          </p:nvPr>
        </p:nvSpPr>
        <p:spPr>
          <a:xfrm>
            <a:off x="944563" y="3767138"/>
            <a:ext cx="1085204" cy="18748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#</a:t>
            </a:r>
            <a:endParaRPr lang="en-US" dirty="0"/>
          </a:p>
        </p:txBody>
      </p:sp>
    </p:spTree>
    <p:extLst/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Color">
    <p:bg>
      <p:bgPr>
        <a:gradFill>
          <a:gsLst>
            <a:gs pos="0">
              <a:srgbClr val="1DBDFF"/>
            </a:gs>
            <a:gs pos="47000">
              <a:srgbClr val="188DFF"/>
            </a:gs>
            <a:gs pos="100000">
              <a:srgbClr val="752FB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white bar" descr="Rectangle 59"/>
          <p:cNvSpPr/>
          <p:nvPr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lank Color">
    <p:bg>
      <p:bgPr>
        <a:gradFill>
          <a:gsLst>
            <a:gs pos="0">
              <a:srgbClr val="2694FF"/>
            </a:gs>
            <a:gs pos="42000">
              <a:srgbClr val="0A88FF"/>
            </a:gs>
            <a:gs pos="100000">
              <a:srgbClr val="0155E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Blank Color">
    <p:bg>
      <p:bgPr>
        <a:gradFill>
          <a:gsLst>
            <a:gs pos="0">
              <a:schemeClr val="accent2"/>
            </a:gs>
            <a:gs pos="100000">
              <a:schemeClr val="accent2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Color">
    <p:bg>
      <p:bgPr>
        <a:gradFill>
          <a:gsLst>
            <a:gs pos="0">
              <a:srgbClr val="8230B7"/>
            </a:gs>
            <a:gs pos="100000">
              <a:srgbClr val="4C248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 Color">
    <p:bg>
      <p:bgPr>
        <a:gradFill>
          <a:gsLst>
            <a:gs pos="23000">
              <a:srgbClr val="B81592"/>
            </a:gs>
            <a:gs pos="0">
              <a:schemeClr val="accent4">
                <a:alpha val="90000"/>
              </a:schemeClr>
            </a:gs>
            <a:gs pos="100000">
              <a:schemeClr val="accent4">
                <a:lumMod val="75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Blank Color">
    <p:bg>
      <p:bgPr>
        <a:gradFill>
          <a:gsLst>
            <a:gs pos="0">
              <a:schemeClr val="accent5"/>
            </a:gs>
            <a:gs pos="100000">
              <a:srgbClr val="00A4ED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Blank_Color">
    <p:bg>
      <p:bgPr>
        <a:gradFill>
          <a:gsLst>
            <a:gs pos="0">
              <a:schemeClr val="accent6"/>
            </a:gs>
            <a:gs pos="100000">
              <a:srgbClr val="11BAB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_Gray">
    <p:bg>
      <p:bgPr>
        <a:gradFill>
          <a:gsLst>
            <a:gs pos="0">
              <a:schemeClr val="bg2">
                <a:lumMod val="95000"/>
                <a:lumOff val="5000"/>
              </a:schemeClr>
            </a:gs>
            <a:gs pos="100000">
              <a:schemeClr val="bg2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</p:spTree>
    <p:extLst/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lide">
    <p:bg>
      <p:bgPr>
        <a:gradFill flip="none" rotWithShape="1">
          <a:gsLst>
            <a:gs pos="0">
              <a:schemeClr val="accent5"/>
            </a:gs>
            <a:gs pos="47000">
              <a:schemeClr val="accent1">
                <a:lumMod val="90000"/>
                <a:lumOff val="10000"/>
              </a:schemeClr>
            </a:gs>
            <a:gs pos="100000">
              <a:schemeClr val="accent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463703" y="2986727"/>
            <a:ext cx="3649746" cy="884546"/>
            <a:chOff x="5753494" y="2024196"/>
            <a:chExt cx="846681" cy="205200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5793240" y="2024196"/>
              <a:ext cx="164530" cy="164530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5753494" y="2063942"/>
              <a:ext cx="164530" cy="165454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1" name="Freeform 7"/>
            <p:cNvSpPr>
              <a:spLocks/>
            </p:cNvSpPr>
            <p:nvPr/>
          </p:nvSpPr>
          <p:spPr bwMode="auto">
            <a:xfrm>
              <a:off x="6005835" y="2024196"/>
              <a:ext cx="95206" cy="88735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6145407" y="2024196"/>
              <a:ext cx="16638" cy="88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auto">
            <a:xfrm>
              <a:off x="6207337" y="2024196"/>
              <a:ext cx="85962" cy="88735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6337667" y="2024196"/>
              <a:ext cx="86886" cy="88735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5" name="Freeform 11"/>
            <p:cNvSpPr>
              <a:spLocks noEditPoints="1"/>
            </p:cNvSpPr>
            <p:nvPr/>
          </p:nvSpPr>
          <p:spPr bwMode="auto">
            <a:xfrm>
              <a:off x="6468920" y="2024196"/>
              <a:ext cx="85962" cy="88735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6005835" y="2140661"/>
              <a:ext cx="86886" cy="87811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7" name="Freeform 13"/>
            <p:cNvSpPr>
              <a:spLocks noEditPoints="1"/>
            </p:cNvSpPr>
            <p:nvPr/>
          </p:nvSpPr>
          <p:spPr bwMode="auto">
            <a:xfrm>
              <a:off x="6116753" y="2140661"/>
              <a:ext cx="85962" cy="87811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6234142" y="2140661"/>
              <a:ext cx="85962" cy="88735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6351532" y="2140661"/>
              <a:ext cx="85962" cy="87811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6467996" y="2140661"/>
              <a:ext cx="86886" cy="88735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1" name="Freeform 17"/>
            <p:cNvSpPr>
              <a:spLocks noEditPoints="1"/>
            </p:cNvSpPr>
            <p:nvPr/>
          </p:nvSpPr>
          <p:spPr bwMode="auto">
            <a:xfrm>
              <a:off x="6567823" y="2025120"/>
              <a:ext cx="32352" cy="3235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22" name="Group 21"/>
          <p:cNvGrpSpPr/>
          <p:nvPr userDrawn="1"/>
        </p:nvGrpSpPr>
        <p:grpSpPr>
          <a:xfrm>
            <a:off x="4463703" y="2986727"/>
            <a:ext cx="3649746" cy="884546"/>
            <a:chOff x="5753494" y="2024196"/>
            <a:chExt cx="846681" cy="205200"/>
          </a:xfrm>
        </p:grpSpPr>
        <p:sp>
          <p:nvSpPr>
            <p:cNvPr id="23" name="Freeform 5"/>
            <p:cNvSpPr>
              <a:spLocks/>
            </p:cNvSpPr>
            <p:nvPr/>
          </p:nvSpPr>
          <p:spPr bwMode="auto">
            <a:xfrm>
              <a:off x="5793240" y="2024196"/>
              <a:ext cx="164530" cy="164530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4" name="Freeform 6"/>
            <p:cNvSpPr>
              <a:spLocks/>
            </p:cNvSpPr>
            <p:nvPr/>
          </p:nvSpPr>
          <p:spPr bwMode="auto">
            <a:xfrm>
              <a:off x="5753494" y="2063942"/>
              <a:ext cx="164530" cy="165454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5" name="Freeform 7"/>
            <p:cNvSpPr>
              <a:spLocks/>
            </p:cNvSpPr>
            <p:nvPr/>
          </p:nvSpPr>
          <p:spPr bwMode="auto">
            <a:xfrm>
              <a:off x="6005835" y="2024196"/>
              <a:ext cx="95206" cy="88735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6145407" y="2024196"/>
              <a:ext cx="16638" cy="88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7" name="Freeform 9"/>
            <p:cNvSpPr>
              <a:spLocks/>
            </p:cNvSpPr>
            <p:nvPr/>
          </p:nvSpPr>
          <p:spPr bwMode="auto">
            <a:xfrm>
              <a:off x="6207337" y="2024196"/>
              <a:ext cx="85962" cy="88735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8" name="Freeform 10"/>
            <p:cNvSpPr>
              <a:spLocks noEditPoints="1"/>
            </p:cNvSpPr>
            <p:nvPr/>
          </p:nvSpPr>
          <p:spPr bwMode="auto">
            <a:xfrm>
              <a:off x="6337667" y="2024196"/>
              <a:ext cx="86886" cy="88735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29" name="Freeform 11"/>
            <p:cNvSpPr>
              <a:spLocks noEditPoints="1"/>
            </p:cNvSpPr>
            <p:nvPr/>
          </p:nvSpPr>
          <p:spPr bwMode="auto">
            <a:xfrm>
              <a:off x="6468920" y="2024196"/>
              <a:ext cx="85962" cy="88735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0" name="Freeform 12"/>
            <p:cNvSpPr>
              <a:spLocks/>
            </p:cNvSpPr>
            <p:nvPr/>
          </p:nvSpPr>
          <p:spPr bwMode="auto">
            <a:xfrm>
              <a:off x="6005835" y="2140661"/>
              <a:ext cx="86886" cy="87811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1" name="Freeform 13"/>
            <p:cNvSpPr>
              <a:spLocks noEditPoints="1"/>
            </p:cNvSpPr>
            <p:nvPr/>
          </p:nvSpPr>
          <p:spPr bwMode="auto">
            <a:xfrm>
              <a:off x="6116753" y="2140661"/>
              <a:ext cx="85962" cy="87811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2" name="Freeform 14"/>
            <p:cNvSpPr>
              <a:spLocks/>
            </p:cNvSpPr>
            <p:nvPr/>
          </p:nvSpPr>
          <p:spPr bwMode="auto">
            <a:xfrm>
              <a:off x="6234142" y="2140661"/>
              <a:ext cx="85962" cy="88735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3" name="Freeform 15"/>
            <p:cNvSpPr>
              <a:spLocks/>
            </p:cNvSpPr>
            <p:nvPr/>
          </p:nvSpPr>
          <p:spPr bwMode="auto">
            <a:xfrm>
              <a:off x="6351532" y="2140661"/>
              <a:ext cx="85962" cy="87811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4" name="Freeform 16"/>
            <p:cNvSpPr>
              <a:spLocks/>
            </p:cNvSpPr>
            <p:nvPr/>
          </p:nvSpPr>
          <p:spPr bwMode="auto">
            <a:xfrm>
              <a:off x="6467996" y="2140661"/>
              <a:ext cx="86886" cy="88735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35" name="Freeform 17"/>
            <p:cNvSpPr>
              <a:spLocks noEditPoints="1"/>
            </p:cNvSpPr>
            <p:nvPr/>
          </p:nvSpPr>
          <p:spPr bwMode="auto">
            <a:xfrm>
              <a:off x="6567823" y="2025120"/>
              <a:ext cx="32352" cy="32352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99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Divider_Slide">
    <p:bg>
      <p:bgPr>
        <a:gradFill flip="none" rotWithShape="1">
          <a:gsLst>
            <a:gs pos="35000">
              <a:srgbClr val="29ADFE"/>
            </a:gs>
            <a:gs pos="74000">
              <a:srgbClr val="114E91"/>
            </a:gs>
          </a:gsLst>
          <a:lin ang="263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Picture 58" descr="Picture 58"/>
          <p:cNvPicPr>
            <a:picLocks noChangeAspect="1"/>
          </p:cNvPicPr>
          <p:nvPr userDrawn="1"/>
        </p:nvPicPr>
        <p:blipFill>
          <a:blip r:embed="rId2">
            <a:alphaModFix amt="28000"/>
            <a:extLst/>
          </a:blip>
          <a:stretch>
            <a:fillRect/>
          </a:stretch>
        </p:blipFill>
        <p:spPr>
          <a:xfrm>
            <a:off x="0" y="0"/>
            <a:ext cx="121666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Rectangle 95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33000">
                <a:schemeClr val="accent5">
                  <a:alpha val="12000"/>
                </a:schemeClr>
              </a:gs>
              <a:gs pos="83000">
                <a:srgbClr val="114E91">
                  <a:alpha val="39000"/>
                </a:srgbClr>
              </a:gs>
            </a:gsLst>
            <a:lin ang="2639999"/>
          </a:gradFill>
          <a:ln w="12700">
            <a:miter lim="400000"/>
          </a:ln>
        </p:spPr>
        <p:txBody>
          <a:bodyPr lIns="45719" rIns="45719" anchor="ctr"/>
          <a:lstStyle/>
          <a:p>
            <a:pPr algn="ctr" defTabSz="914400" hangingPunct="0">
              <a:defRPr>
                <a:solidFill>
                  <a:srgbClr val="FFFFFF"/>
                </a:solidFill>
              </a:defRPr>
            </a:pPr>
            <a:endParaRPr kern="0" dirty="0">
              <a:solidFill>
                <a:srgbClr val="FFFFFF"/>
              </a:solidFill>
              <a:latin typeface="Calibri"/>
              <a:cs typeface="Calibri"/>
              <a:sym typeface="Calibri"/>
            </a:endParaRPr>
          </a:p>
        </p:txBody>
      </p:sp>
      <p:grpSp>
        <p:nvGrpSpPr>
          <p:cNvPr id="387" name="Group 47"/>
          <p:cNvGrpSpPr/>
          <p:nvPr/>
        </p:nvGrpSpPr>
        <p:grpSpPr>
          <a:xfrm>
            <a:off x="11311010" y="6527385"/>
            <a:ext cx="740367" cy="179272"/>
            <a:chOff x="0" y="0"/>
            <a:chExt cx="740366" cy="179271"/>
          </a:xfrm>
        </p:grpSpPr>
        <p:sp>
          <p:nvSpPr>
            <p:cNvPr id="374" name="Freeform 5"/>
            <p:cNvSpPr/>
            <p:nvPr/>
          </p:nvSpPr>
          <p:spPr>
            <a:xfrm>
              <a:off x="-1" y="37251"/>
              <a:ext cx="142021" cy="142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5311" y="0"/>
                  </a:lnTo>
                  <a:lnTo>
                    <a:pt x="5311" y="16289"/>
                  </a:lnTo>
                  <a:lnTo>
                    <a:pt x="21600" y="1628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75" name="Freeform 6"/>
            <p:cNvSpPr/>
            <p:nvPr/>
          </p:nvSpPr>
          <p:spPr>
            <a:xfrm>
              <a:off x="34922" y="4656"/>
              <a:ext cx="142021" cy="1396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04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16289" y="21600"/>
                  </a:lnTo>
                  <a:lnTo>
                    <a:pt x="16289" y="5040"/>
                  </a:lnTo>
                  <a:lnTo>
                    <a:pt x="0" y="504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76" name="Freeform 7"/>
            <p:cNvSpPr/>
            <p:nvPr/>
          </p:nvSpPr>
          <p:spPr>
            <a:xfrm>
              <a:off x="216522" y="4656"/>
              <a:ext cx="81487" cy="74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17897" y="0"/>
                  </a:lnTo>
                  <a:lnTo>
                    <a:pt x="11109" y="10800"/>
                  </a:lnTo>
                  <a:lnTo>
                    <a:pt x="432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320" y="21600"/>
                  </a:lnTo>
                  <a:lnTo>
                    <a:pt x="4320" y="7425"/>
                  </a:lnTo>
                  <a:lnTo>
                    <a:pt x="9874" y="16200"/>
                  </a:lnTo>
                  <a:lnTo>
                    <a:pt x="12343" y="16200"/>
                  </a:lnTo>
                  <a:lnTo>
                    <a:pt x="17897" y="7425"/>
                  </a:lnTo>
                  <a:lnTo>
                    <a:pt x="17897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77" name="Freeform 8"/>
            <p:cNvSpPr/>
            <p:nvPr/>
          </p:nvSpPr>
          <p:spPr>
            <a:xfrm>
              <a:off x="337588" y="4656"/>
              <a:ext cx="13970" cy="74503"/>
            </a:xfrm>
            <a:prstGeom prst="rect">
              <a:avLst/>
            </a:pr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78" name="Freeform 9"/>
            <p:cNvSpPr/>
            <p:nvPr/>
          </p:nvSpPr>
          <p:spPr>
            <a:xfrm>
              <a:off x="391136" y="4656"/>
              <a:ext cx="72175" cy="74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5"/>
                  </a:moveTo>
                  <a:lnTo>
                    <a:pt x="21600" y="14850"/>
                  </a:lnTo>
                  <a:lnTo>
                    <a:pt x="17419" y="14850"/>
                  </a:lnTo>
                  <a:lnTo>
                    <a:pt x="17419" y="17550"/>
                  </a:lnTo>
                  <a:lnTo>
                    <a:pt x="4181" y="17550"/>
                  </a:lnTo>
                  <a:lnTo>
                    <a:pt x="4181" y="4050"/>
                  </a:lnTo>
                  <a:lnTo>
                    <a:pt x="17419" y="4050"/>
                  </a:lnTo>
                  <a:lnTo>
                    <a:pt x="17419" y="6075"/>
                  </a:lnTo>
                  <a:lnTo>
                    <a:pt x="21600" y="675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925"/>
                  </a:lnTo>
                  <a:lnTo>
                    <a:pt x="2090" y="21600"/>
                  </a:lnTo>
                  <a:lnTo>
                    <a:pt x="19510" y="21600"/>
                  </a:lnTo>
                  <a:lnTo>
                    <a:pt x="21600" y="20925"/>
                  </a:lnTo>
                  <a:lnTo>
                    <a:pt x="21600" y="19575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79" name="Freeform 10"/>
            <p:cNvSpPr/>
            <p:nvPr/>
          </p:nvSpPr>
          <p:spPr>
            <a:xfrm>
              <a:off x="502890" y="4656"/>
              <a:ext cx="74503" cy="74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4850" y="12825"/>
                  </a:lnTo>
                  <a:lnTo>
                    <a:pt x="19575" y="12825"/>
                  </a:lnTo>
                  <a:lnTo>
                    <a:pt x="20925" y="12150"/>
                  </a:lnTo>
                  <a:lnTo>
                    <a:pt x="21600" y="10800"/>
                  </a:lnTo>
                  <a:lnTo>
                    <a:pt x="21600" y="2025"/>
                  </a:lnTo>
                  <a:lnTo>
                    <a:pt x="20925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050" y="21600"/>
                  </a:lnTo>
                  <a:lnTo>
                    <a:pt x="4050" y="12825"/>
                  </a:lnTo>
                  <a:lnTo>
                    <a:pt x="9450" y="12825"/>
                  </a:lnTo>
                  <a:lnTo>
                    <a:pt x="16200" y="21600"/>
                  </a:lnTo>
                  <a:lnTo>
                    <a:pt x="21600" y="21600"/>
                  </a:lnTo>
                  <a:close/>
                  <a:moveTo>
                    <a:pt x="4050" y="4050"/>
                  </a:moveTo>
                  <a:lnTo>
                    <a:pt x="16875" y="4050"/>
                  </a:lnTo>
                  <a:lnTo>
                    <a:pt x="16875" y="8775"/>
                  </a:lnTo>
                  <a:lnTo>
                    <a:pt x="4050" y="8775"/>
                  </a:lnTo>
                  <a:lnTo>
                    <a:pt x="4050" y="405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0" name="Freeform 11"/>
            <p:cNvSpPr/>
            <p:nvPr/>
          </p:nvSpPr>
          <p:spPr>
            <a:xfrm>
              <a:off x="614643" y="4656"/>
              <a:ext cx="74503" cy="74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5"/>
                  </a:moveTo>
                  <a:lnTo>
                    <a:pt x="21600" y="2025"/>
                  </a:lnTo>
                  <a:lnTo>
                    <a:pt x="20925" y="0"/>
                  </a:lnTo>
                  <a:lnTo>
                    <a:pt x="675" y="0"/>
                  </a:lnTo>
                  <a:lnTo>
                    <a:pt x="0" y="2025"/>
                  </a:lnTo>
                  <a:lnTo>
                    <a:pt x="0" y="19575"/>
                  </a:lnTo>
                  <a:lnTo>
                    <a:pt x="675" y="20925"/>
                  </a:lnTo>
                  <a:lnTo>
                    <a:pt x="2025" y="21600"/>
                  </a:lnTo>
                  <a:lnTo>
                    <a:pt x="19575" y="21600"/>
                  </a:lnTo>
                  <a:lnTo>
                    <a:pt x="20925" y="20925"/>
                  </a:lnTo>
                  <a:lnTo>
                    <a:pt x="21600" y="19575"/>
                  </a:lnTo>
                  <a:close/>
                  <a:moveTo>
                    <a:pt x="4050" y="4050"/>
                  </a:moveTo>
                  <a:lnTo>
                    <a:pt x="17550" y="4050"/>
                  </a:lnTo>
                  <a:lnTo>
                    <a:pt x="17550" y="17550"/>
                  </a:lnTo>
                  <a:lnTo>
                    <a:pt x="4050" y="17550"/>
                  </a:lnTo>
                  <a:lnTo>
                    <a:pt x="4050" y="405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1" name="Freeform 12"/>
            <p:cNvSpPr/>
            <p:nvPr/>
          </p:nvSpPr>
          <p:spPr>
            <a:xfrm>
              <a:off x="216522" y="102440"/>
              <a:ext cx="74503" cy="76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582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725" y="21600"/>
                  </a:lnTo>
                  <a:lnTo>
                    <a:pt x="4725" y="13091"/>
                  </a:lnTo>
                  <a:lnTo>
                    <a:pt x="17550" y="13091"/>
                  </a:lnTo>
                  <a:lnTo>
                    <a:pt x="17550" y="8509"/>
                  </a:lnTo>
                  <a:lnTo>
                    <a:pt x="4725" y="8509"/>
                  </a:lnTo>
                  <a:lnTo>
                    <a:pt x="4725" y="4582"/>
                  </a:lnTo>
                  <a:lnTo>
                    <a:pt x="21600" y="458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2" name="Freeform 13"/>
            <p:cNvSpPr/>
            <p:nvPr/>
          </p:nvSpPr>
          <p:spPr>
            <a:xfrm>
              <a:off x="311978" y="102440"/>
              <a:ext cx="74503" cy="76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2618"/>
                  </a:lnTo>
                  <a:lnTo>
                    <a:pt x="20925" y="655"/>
                  </a:lnTo>
                  <a:lnTo>
                    <a:pt x="19575" y="0"/>
                  </a:lnTo>
                  <a:lnTo>
                    <a:pt x="2025" y="0"/>
                  </a:lnTo>
                  <a:lnTo>
                    <a:pt x="675" y="655"/>
                  </a:lnTo>
                  <a:lnTo>
                    <a:pt x="0" y="2618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025" y="21600"/>
                  </a:lnTo>
                  <a:lnTo>
                    <a:pt x="19575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  <a:moveTo>
                    <a:pt x="4050" y="4582"/>
                  </a:moveTo>
                  <a:lnTo>
                    <a:pt x="17550" y="4582"/>
                  </a:lnTo>
                  <a:lnTo>
                    <a:pt x="17550" y="17018"/>
                  </a:lnTo>
                  <a:lnTo>
                    <a:pt x="4050" y="17018"/>
                  </a:lnTo>
                  <a:lnTo>
                    <a:pt x="4050" y="4582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3" name="Freeform 14"/>
            <p:cNvSpPr/>
            <p:nvPr/>
          </p:nvSpPr>
          <p:spPr>
            <a:xfrm>
              <a:off x="412090" y="102440"/>
              <a:ext cx="74503" cy="76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14400"/>
                  </a:lnTo>
                  <a:lnTo>
                    <a:pt x="17550" y="15055"/>
                  </a:lnTo>
                  <a:lnTo>
                    <a:pt x="17550" y="17018"/>
                  </a:lnTo>
                  <a:lnTo>
                    <a:pt x="4725" y="17018"/>
                  </a:lnTo>
                  <a:lnTo>
                    <a:pt x="4725" y="4582"/>
                  </a:lnTo>
                  <a:lnTo>
                    <a:pt x="17550" y="4582"/>
                  </a:lnTo>
                  <a:lnTo>
                    <a:pt x="17550" y="6545"/>
                  </a:lnTo>
                  <a:lnTo>
                    <a:pt x="21600" y="7200"/>
                  </a:lnTo>
                  <a:lnTo>
                    <a:pt x="21600" y="2618"/>
                  </a:lnTo>
                  <a:lnTo>
                    <a:pt x="20925" y="655"/>
                  </a:lnTo>
                  <a:lnTo>
                    <a:pt x="19575" y="0"/>
                  </a:lnTo>
                  <a:lnTo>
                    <a:pt x="2700" y="0"/>
                  </a:lnTo>
                  <a:lnTo>
                    <a:pt x="675" y="655"/>
                  </a:lnTo>
                  <a:lnTo>
                    <a:pt x="0" y="2618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700" y="21600"/>
                  </a:lnTo>
                  <a:lnTo>
                    <a:pt x="19575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4" name="Freeform 15"/>
            <p:cNvSpPr/>
            <p:nvPr/>
          </p:nvSpPr>
          <p:spPr>
            <a:xfrm>
              <a:off x="514531" y="102440"/>
              <a:ext cx="74503" cy="76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0"/>
                  </a:lnTo>
                  <a:lnTo>
                    <a:pt x="16875" y="0"/>
                  </a:lnTo>
                  <a:lnTo>
                    <a:pt x="16875" y="17018"/>
                  </a:lnTo>
                  <a:lnTo>
                    <a:pt x="4050" y="17018"/>
                  </a:lnTo>
                  <a:lnTo>
                    <a:pt x="4050" y="0"/>
                  </a:lnTo>
                  <a:lnTo>
                    <a:pt x="0" y="0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025" y="21600"/>
                  </a:lnTo>
                  <a:lnTo>
                    <a:pt x="18900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5" name="Freeform 16"/>
            <p:cNvSpPr/>
            <p:nvPr/>
          </p:nvSpPr>
          <p:spPr>
            <a:xfrm>
              <a:off x="614643" y="102440"/>
              <a:ext cx="74503" cy="76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11127"/>
                  </a:lnTo>
                  <a:lnTo>
                    <a:pt x="20925" y="9164"/>
                  </a:lnTo>
                  <a:lnTo>
                    <a:pt x="19575" y="8509"/>
                  </a:lnTo>
                  <a:lnTo>
                    <a:pt x="4050" y="8509"/>
                  </a:lnTo>
                  <a:lnTo>
                    <a:pt x="4050" y="4582"/>
                  </a:lnTo>
                  <a:lnTo>
                    <a:pt x="17550" y="4582"/>
                  </a:lnTo>
                  <a:lnTo>
                    <a:pt x="17550" y="6545"/>
                  </a:lnTo>
                  <a:lnTo>
                    <a:pt x="21600" y="7200"/>
                  </a:lnTo>
                  <a:lnTo>
                    <a:pt x="21600" y="2618"/>
                  </a:lnTo>
                  <a:lnTo>
                    <a:pt x="20925" y="655"/>
                  </a:lnTo>
                  <a:lnTo>
                    <a:pt x="19575" y="0"/>
                  </a:lnTo>
                  <a:lnTo>
                    <a:pt x="2025" y="0"/>
                  </a:lnTo>
                  <a:lnTo>
                    <a:pt x="675" y="655"/>
                  </a:lnTo>
                  <a:lnTo>
                    <a:pt x="0" y="2618"/>
                  </a:lnTo>
                  <a:lnTo>
                    <a:pt x="0" y="10473"/>
                  </a:lnTo>
                  <a:lnTo>
                    <a:pt x="675" y="12436"/>
                  </a:lnTo>
                  <a:lnTo>
                    <a:pt x="2025" y="13091"/>
                  </a:lnTo>
                  <a:lnTo>
                    <a:pt x="17550" y="13091"/>
                  </a:lnTo>
                  <a:lnTo>
                    <a:pt x="17550" y="17018"/>
                  </a:lnTo>
                  <a:lnTo>
                    <a:pt x="4050" y="17018"/>
                  </a:lnTo>
                  <a:lnTo>
                    <a:pt x="4050" y="15055"/>
                  </a:lnTo>
                  <a:lnTo>
                    <a:pt x="0" y="14400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025" y="21600"/>
                  </a:lnTo>
                  <a:lnTo>
                    <a:pt x="19575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86" name="Freeform 17"/>
            <p:cNvSpPr/>
            <p:nvPr/>
          </p:nvSpPr>
          <p:spPr>
            <a:xfrm>
              <a:off x="707771" y="-1"/>
              <a:ext cx="32596" cy="325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6171" y="20057"/>
                  </a:lnTo>
                  <a:lnTo>
                    <a:pt x="3086" y="18514"/>
                  </a:lnTo>
                  <a:lnTo>
                    <a:pt x="0" y="13886"/>
                  </a:lnTo>
                  <a:lnTo>
                    <a:pt x="0" y="6171"/>
                  </a:lnTo>
                  <a:lnTo>
                    <a:pt x="6171" y="0"/>
                  </a:lnTo>
                  <a:lnTo>
                    <a:pt x="13886" y="0"/>
                  </a:lnTo>
                  <a:lnTo>
                    <a:pt x="18514" y="3086"/>
                  </a:lnTo>
                  <a:lnTo>
                    <a:pt x="20057" y="6171"/>
                  </a:lnTo>
                  <a:lnTo>
                    <a:pt x="21600" y="10800"/>
                  </a:lnTo>
                  <a:lnTo>
                    <a:pt x="20057" y="13886"/>
                  </a:lnTo>
                  <a:lnTo>
                    <a:pt x="18514" y="18514"/>
                  </a:lnTo>
                  <a:lnTo>
                    <a:pt x="13886" y="20057"/>
                  </a:lnTo>
                  <a:lnTo>
                    <a:pt x="10800" y="21600"/>
                  </a:lnTo>
                  <a:close/>
                  <a:moveTo>
                    <a:pt x="10800" y="0"/>
                  </a:moveTo>
                  <a:lnTo>
                    <a:pt x="6171" y="1543"/>
                  </a:lnTo>
                  <a:lnTo>
                    <a:pt x="3086" y="3086"/>
                  </a:lnTo>
                  <a:lnTo>
                    <a:pt x="1543" y="6171"/>
                  </a:lnTo>
                  <a:lnTo>
                    <a:pt x="0" y="10800"/>
                  </a:lnTo>
                  <a:lnTo>
                    <a:pt x="3086" y="16971"/>
                  </a:lnTo>
                  <a:lnTo>
                    <a:pt x="6171" y="18514"/>
                  </a:lnTo>
                  <a:lnTo>
                    <a:pt x="10800" y="20057"/>
                  </a:lnTo>
                  <a:lnTo>
                    <a:pt x="16971" y="16971"/>
                  </a:lnTo>
                  <a:lnTo>
                    <a:pt x="20057" y="10800"/>
                  </a:lnTo>
                  <a:lnTo>
                    <a:pt x="18514" y="6171"/>
                  </a:lnTo>
                  <a:lnTo>
                    <a:pt x="16971" y="3086"/>
                  </a:lnTo>
                  <a:lnTo>
                    <a:pt x="10800" y="0"/>
                  </a:lnTo>
                  <a:close/>
                  <a:moveTo>
                    <a:pt x="12343" y="16971"/>
                  </a:moveTo>
                  <a:lnTo>
                    <a:pt x="10800" y="10800"/>
                  </a:lnTo>
                  <a:lnTo>
                    <a:pt x="7714" y="10800"/>
                  </a:lnTo>
                  <a:lnTo>
                    <a:pt x="7714" y="16971"/>
                  </a:lnTo>
                  <a:lnTo>
                    <a:pt x="6171" y="16971"/>
                  </a:lnTo>
                  <a:lnTo>
                    <a:pt x="6171" y="3086"/>
                  </a:lnTo>
                  <a:lnTo>
                    <a:pt x="10800" y="3086"/>
                  </a:lnTo>
                  <a:lnTo>
                    <a:pt x="13886" y="4629"/>
                  </a:lnTo>
                  <a:lnTo>
                    <a:pt x="13886" y="9257"/>
                  </a:lnTo>
                  <a:lnTo>
                    <a:pt x="12343" y="10800"/>
                  </a:lnTo>
                  <a:lnTo>
                    <a:pt x="13886" y="16971"/>
                  </a:lnTo>
                  <a:lnTo>
                    <a:pt x="12343" y="16971"/>
                  </a:lnTo>
                  <a:close/>
                  <a:moveTo>
                    <a:pt x="7714" y="9257"/>
                  </a:moveTo>
                  <a:lnTo>
                    <a:pt x="12343" y="9257"/>
                  </a:lnTo>
                  <a:lnTo>
                    <a:pt x="12343" y="6171"/>
                  </a:lnTo>
                  <a:lnTo>
                    <a:pt x="9257" y="4629"/>
                  </a:lnTo>
                  <a:lnTo>
                    <a:pt x="7714" y="4629"/>
                  </a:lnTo>
                  <a:lnTo>
                    <a:pt x="7714" y="9257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914400" hangingPunct="0"/>
              <a:endParaRPr kern="0" dirty="0">
                <a:solidFill>
                  <a:srgbClr val="212E35"/>
                </a:solidFill>
                <a:latin typeface="Calibri"/>
                <a:cs typeface="Calibri"/>
                <a:sym typeface="Calibri"/>
              </a:endParaRPr>
            </a:p>
          </p:txBody>
        </p:sp>
      </p:grpSp>
      <p:sp>
        <p:nvSpPr>
          <p:cNvPr id="38" name="white bar" descr="Rectangle 59"/>
          <p:cNvSpPr/>
          <p:nvPr userDrawn="1"/>
        </p:nvSpPr>
        <p:spPr>
          <a:xfrm>
            <a:off x="9464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9" name="Content Placeholder"/>
          <p:cNvSpPr>
            <a:spLocks noGrp="1"/>
          </p:cNvSpPr>
          <p:nvPr>
            <p:ph idx="1" hasCustomPrompt="1"/>
          </p:nvPr>
        </p:nvSpPr>
        <p:spPr>
          <a:xfrm>
            <a:off x="946405" y="2148840"/>
            <a:ext cx="8713814" cy="2246965"/>
          </a:xfrm>
        </p:spPr>
        <p:txBody>
          <a:bodyPr/>
          <a:lstStyle>
            <a:lvl1pPr>
              <a:buSzPct val="80000"/>
              <a:defRPr sz="3200">
                <a:solidFill>
                  <a:srgbClr val="FFFFFF"/>
                </a:solidFill>
              </a:defRPr>
            </a:lvl1pPr>
            <a:lvl2pPr>
              <a:defRPr sz="24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smtClean="0"/>
              <a:t>First level 24 </a:t>
            </a:r>
            <a:r>
              <a:rPr lang="en-US" dirty="0" err="1" smtClean="0"/>
              <a:t>pt</a:t>
            </a:r>
            <a:endParaRPr lang="en-US" dirty="0" smtClean="0"/>
          </a:p>
        </p:txBody>
      </p:sp>
      <p:sp>
        <p:nvSpPr>
          <p:cNvPr id="40" name="Title 1"/>
          <p:cNvSpPr>
            <a:spLocks noGrp="1"/>
          </p:cNvSpPr>
          <p:nvPr>
            <p:ph type="title" hasCustomPrompt="1"/>
          </p:nvPr>
        </p:nvSpPr>
        <p:spPr>
          <a:xfrm>
            <a:off x="946405" y="86960"/>
            <a:ext cx="8713814" cy="1313174"/>
          </a:xfrm>
        </p:spPr>
        <p:txBody>
          <a:bodyPr lIns="91440" tIns="45720" rIns="91440" bIns="45720" anchor="ctr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Section Title Text</a:t>
            </a:r>
            <a:endParaRPr lang="en-US" dirty="0"/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43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_Slide">
    <p:bg>
      <p:bgPr>
        <a:gradFill>
          <a:gsLst>
            <a:gs pos="0">
              <a:schemeClr val="tx2">
                <a:lumMod val="80000"/>
                <a:lumOff val="20000"/>
              </a:schemeClr>
            </a:gs>
            <a:gs pos="100000">
              <a:schemeClr val="tx2"/>
            </a:gs>
            <a:gs pos="100000">
              <a:srgbClr val="0056EF">
                <a:lumMod val="90000"/>
                <a:lumOff val="10000"/>
              </a:srgb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lue bar"/>
          <p:cNvSpPr/>
          <p:nvPr userDrawn="1"/>
        </p:nvSpPr>
        <p:spPr>
          <a:xfrm>
            <a:off x="944563" y="0"/>
            <a:ext cx="1799696" cy="15184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7" name="Picture Placeholder 2"/>
          <p:cNvSpPr>
            <a:spLocks noGrp="1"/>
          </p:cNvSpPr>
          <p:nvPr>
            <p:ph type="pic" idx="13"/>
          </p:nvPr>
        </p:nvSpPr>
        <p:spPr>
          <a:xfrm>
            <a:off x="1" y="19323"/>
            <a:ext cx="12191999" cy="6857999"/>
          </a:xfrm>
        </p:spPr>
      </p:sp>
      <p:sp>
        <p:nvSpPr>
          <p:cNvPr id="37" name="Title 1"/>
          <p:cNvSpPr>
            <a:spLocks noGrp="1"/>
          </p:cNvSpPr>
          <p:nvPr>
            <p:ph type="ctrTitle" hasCustomPrompt="1"/>
          </p:nvPr>
        </p:nvSpPr>
        <p:spPr>
          <a:xfrm>
            <a:off x="930880" y="3446588"/>
            <a:ext cx="8735635" cy="13188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Name of Course</a:t>
            </a:r>
            <a:br>
              <a:rPr lang="en-US" dirty="0" smtClean="0"/>
            </a:br>
            <a:r>
              <a:rPr lang="en-US" sz="3600" dirty="0" smtClean="0"/>
              <a:t>Type of Training,</a:t>
            </a:r>
            <a:r>
              <a:rPr lang="en-US" sz="3600" baseline="0" dirty="0" smtClean="0"/>
              <a:t> Level ###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  <p:sp>
        <p:nvSpPr>
          <p:cNvPr id="41" name="Shape 48"/>
          <p:cNvSpPr>
            <a:spLocks noGrp="1"/>
          </p:cNvSpPr>
          <p:nvPr>
            <p:ph type="body" sz="quarter" idx="12" hasCustomPrompt="1"/>
          </p:nvPr>
        </p:nvSpPr>
        <p:spPr>
          <a:xfrm>
            <a:off x="932556" y="4931917"/>
            <a:ext cx="4270249" cy="7699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2"/>
            <a:r>
              <a:rPr lang="en-US" dirty="0" smtClean="0"/>
              <a:t>Author</a:t>
            </a:r>
            <a:br>
              <a:rPr lang="en-US" dirty="0" smtClean="0"/>
            </a:br>
            <a:r>
              <a:rPr lang="en-US" dirty="0" smtClean="0"/>
              <a:t>Department</a:t>
            </a:r>
            <a:endParaRPr dirty="0"/>
          </a:p>
        </p:txBody>
      </p:sp>
      <p:sp>
        <p:nvSpPr>
          <p:cNvPr id="46" name="Shape 48"/>
          <p:cNvSpPr>
            <a:spLocks noGrp="1"/>
          </p:cNvSpPr>
          <p:nvPr>
            <p:ph type="body" sz="quarter" idx="11" hasCustomPrompt="1"/>
          </p:nvPr>
        </p:nvSpPr>
        <p:spPr>
          <a:xfrm>
            <a:off x="930880" y="6196333"/>
            <a:ext cx="4270249" cy="4317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 b="1">
                <a:solidFill>
                  <a:srgbClr val="FFFFFF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 b="1">
                <a:solidFill>
                  <a:srgbClr val="FFFFFF"/>
                </a:solidFill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 b="1">
                <a:solidFill>
                  <a:srgbClr val="FFFFFF"/>
                </a:solidFill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 lvl="2"/>
            <a:r>
              <a:rPr lang="en-US" dirty="0" smtClean="0"/>
              <a:t>Month Year</a:t>
            </a:r>
            <a:endParaRPr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64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3" y="1825625"/>
            <a:ext cx="5029200" cy="43513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350" y="1825625"/>
            <a:ext cx="5029200" cy="435133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1632" y="6352240"/>
            <a:ext cx="365760" cy="365125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>
                <a:solidFill>
                  <a:prstClr val="white">
                    <a:lumMod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06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946786" y="429273"/>
            <a:ext cx="10311765" cy="10800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/>
          <a:p>
            <a:r>
              <a:rPr lang="en-US" dirty="0" smtClean="0"/>
              <a:t>Title Text</a:t>
            </a:r>
            <a:br>
              <a:rPr lang="en-US" dirty="0" smtClean="0"/>
            </a:br>
            <a:r>
              <a:rPr lang="en-US" dirty="0" smtClean="0"/>
              <a:t>with up to two lines</a:t>
            </a:r>
            <a:endParaRPr lang="en-US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946786" y="1728000"/>
            <a:ext cx="10311765" cy="4452138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 smtClean="0"/>
              <a:t>First level 28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1"/>
            <a:r>
              <a:rPr lang="en-US" dirty="0" smtClean="0"/>
              <a:t>Second level 20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2"/>
            <a:r>
              <a:rPr lang="en-US" dirty="0" smtClean="0"/>
              <a:t>Third level 18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3"/>
            <a:r>
              <a:rPr lang="en-US" dirty="0" smtClean="0"/>
              <a:t>Fourth level 16 </a:t>
            </a:r>
            <a:r>
              <a:rPr lang="en-US" dirty="0" err="1" smtClean="0"/>
              <a:t>pt</a:t>
            </a:r>
            <a:endParaRPr lang="en-US" dirty="0" smtClean="0"/>
          </a:p>
          <a:p>
            <a:pPr lvl="4"/>
            <a:r>
              <a:rPr lang="en-US" dirty="0" smtClean="0"/>
              <a:t>Fifth level – avoid as too small</a:t>
            </a:r>
            <a:endParaRPr lang="en-US" dirty="0"/>
          </a:p>
        </p:txBody>
      </p:sp>
      <p:sp>
        <p:nvSpPr>
          <p:cNvPr id="24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 wrap="none" anchor="ctr"/>
          <a:lstStyle>
            <a:lvl1pPr>
              <a:defRPr sz="1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FB999A9-77CE-4AD1-9911-24A29F08BC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4" name="Logo"/>
          <p:cNvGrpSpPr>
            <a:grpSpLocks noChangeAspect="1"/>
          </p:cNvGrpSpPr>
          <p:nvPr userDrawn="1"/>
        </p:nvGrpSpPr>
        <p:grpSpPr>
          <a:xfrm>
            <a:off x="11051812" y="6398865"/>
            <a:ext cx="875755" cy="212246"/>
            <a:chOff x="941528" y="4056809"/>
            <a:chExt cx="1454151" cy="352425"/>
          </a:xfrm>
          <a:solidFill>
            <a:schemeClr val="bg1">
              <a:lumMod val="75000"/>
            </a:schemeClr>
          </a:solidFill>
        </p:grpSpPr>
        <p:sp>
          <p:nvSpPr>
            <p:cNvPr id="55" name="Freeform 5"/>
            <p:cNvSpPr>
              <a:spLocks/>
            </p:cNvSpPr>
            <p:nvPr/>
          </p:nvSpPr>
          <p:spPr bwMode="auto">
            <a:xfrm>
              <a:off x="1009791" y="4056809"/>
              <a:ext cx="282575" cy="282575"/>
            </a:xfrm>
            <a:custGeom>
              <a:avLst/>
              <a:gdLst>
                <a:gd name="T0" fmla="*/ 178 w 178"/>
                <a:gd name="T1" fmla="*/ 0 h 178"/>
                <a:gd name="T2" fmla="*/ 178 w 178"/>
                <a:gd name="T3" fmla="*/ 178 h 178"/>
                <a:gd name="T4" fmla="*/ 135 w 178"/>
                <a:gd name="T5" fmla="*/ 178 h 178"/>
                <a:gd name="T6" fmla="*/ 135 w 178"/>
                <a:gd name="T7" fmla="*/ 43 h 178"/>
                <a:gd name="T8" fmla="*/ 0 w 178"/>
                <a:gd name="T9" fmla="*/ 43 h 178"/>
                <a:gd name="T10" fmla="*/ 0 w 178"/>
                <a:gd name="T11" fmla="*/ 0 h 178"/>
                <a:gd name="T12" fmla="*/ 178 w 178"/>
                <a:gd name="T13" fmla="*/ 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8">
                  <a:moveTo>
                    <a:pt x="178" y="0"/>
                  </a:moveTo>
                  <a:lnTo>
                    <a:pt x="178" y="178"/>
                  </a:lnTo>
                  <a:lnTo>
                    <a:pt x="135" y="178"/>
                  </a:lnTo>
                  <a:lnTo>
                    <a:pt x="135" y="43"/>
                  </a:lnTo>
                  <a:lnTo>
                    <a:pt x="0" y="43"/>
                  </a:lnTo>
                  <a:lnTo>
                    <a:pt x="0" y="0"/>
                  </a:lnTo>
                  <a:lnTo>
                    <a:pt x="1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56" name="Freeform 6"/>
            <p:cNvSpPr>
              <a:spLocks/>
            </p:cNvSpPr>
            <p:nvPr/>
          </p:nvSpPr>
          <p:spPr bwMode="auto">
            <a:xfrm>
              <a:off x="941528" y="4125071"/>
              <a:ext cx="282575" cy="284163"/>
            </a:xfrm>
            <a:custGeom>
              <a:avLst/>
              <a:gdLst>
                <a:gd name="T0" fmla="*/ 178 w 178"/>
                <a:gd name="T1" fmla="*/ 135 h 179"/>
                <a:gd name="T2" fmla="*/ 178 w 178"/>
                <a:gd name="T3" fmla="*/ 179 h 179"/>
                <a:gd name="T4" fmla="*/ 0 w 178"/>
                <a:gd name="T5" fmla="*/ 179 h 179"/>
                <a:gd name="T6" fmla="*/ 0 w 178"/>
                <a:gd name="T7" fmla="*/ 0 h 179"/>
                <a:gd name="T8" fmla="*/ 43 w 178"/>
                <a:gd name="T9" fmla="*/ 0 h 179"/>
                <a:gd name="T10" fmla="*/ 43 w 178"/>
                <a:gd name="T11" fmla="*/ 135 h 179"/>
                <a:gd name="T12" fmla="*/ 178 w 178"/>
                <a:gd name="T13" fmla="*/ 13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179">
                  <a:moveTo>
                    <a:pt x="178" y="135"/>
                  </a:moveTo>
                  <a:lnTo>
                    <a:pt x="178" y="179"/>
                  </a:lnTo>
                  <a:lnTo>
                    <a:pt x="0" y="179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135"/>
                  </a:lnTo>
                  <a:lnTo>
                    <a:pt x="178" y="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57" name="Freeform 7"/>
            <p:cNvSpPr>
              <a:spLocks/>
            </p:cNvSpPr>
            <p:nvPr/>
          </p:nvSpPr>
          <p:spPr bwMode="auto">
            <a:xfrm>
              <a:off x="1374916" y="4056809"/>
              <a:ext cx="163513" cy="152400"/>
            </a:xfrm>
            <a:custGeom>
              <a:avLst/>
              <a:gdLst>
                <a:gd name="T0" fmla="*/ 103 w 103"/>
                <a:gd name="T1" fmla="*/ 96 h 96"/>
                <a:gd name="T2" fmla="*/ 103 w 103"/>
                <a:gd name="T3" fmla="*/ 0 h 96"/>
                <a:gd name="T4" fmla="*/ 85 w 103"/>
                <a:gd name="T5" fmla="*/ 0 h 96"/>
                <a:gd name="T6" fmla="*/ 52 w 103"/>
                <a:gd name="T7" fmla="*/ 48 h 96"/>
                <a:gd name="T8" fmla="*/ 19 w 103"/>
                <a:gd name="T9" fmla="*/ 0 h 96"/>
                <a:gd name="T10" fmla="*/ 0 w 103"/>
                <a:gd name="T11" fmla="*/ 0 h 96"/>
                <a:gd name="T12" fmla="*/ 0 w 103"/>
                <a:gd name="T13" fmla="*/ 96 h 96"/>
                <a:gd name="T14" fmla="*/ 19 w 103"/>
                <a:gd name="T15" fmla="*/ 96 h 96"/>
                <a:gd name="T16" fmla="*/ 19 w 103"/>
                <a:gd name="T17" fmla="*/ 33 h 96"/>
                <a:gd name="T18" fmla="*/ 46 w 103"/>
                <a:gd name="T19" fmla="*/ 73 h 96"/>
                <a:gd name="T20" fmla="*/ 57 w 103"/>
                <a:gd name="T21" fmla="*/ 73 h 96"/>
                <a:gd name="T22" fmla="*/ 84 w 103"/>
                <a:gd name="T23" fmla="*/ 33 h 96"/>
                <a:gd name="T24" fmla="*/ 84 w 103"/>
                <a:gd name="T25" fmla="*/ 96 h 96"/>
                <a:gd name="T26" fmla="*/ 103 w 103"/>
                <a:gd name="T2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" h="96">
                  <a:moveTo>
                    <a:pt x="103" y="96"/>
                  </a:moveTo>
                  <a:lnTo>
                    <a:pt x="103" y="0"/>
                  </a:lnTo>
                  <a:lnTo>
                    <a:pt x="85" y="0"/>
                  </a:lnTo>
                  <a:lnTo>
                    <a:pt x="52" y="48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96"/>
                  </a:lnTo>
                  <a:lnTo>
                    <a:pt x="19" y="96"/>
                  </a:lnTo>
                  <a:lnTo>
                    <a:pt x="19" y="33"/>
                  </a:lnTo>
                  <a:lnTo>
                    <a:pt x="46" y="73"/>
                  </a:lnTo>
                  <a:lnTo>
                    <a:pt x="57" y="73"/>
                  </a:lnTo>
                  <a:lnTo>
                    <a:pt x="84" y="33"/>
                  </a:lnTo>
                  <a:lnTo>
                    <a:pt x="84" y="96"/>
                  </a:lnTo>
                  <a:lnTo>
                    <a:pt x="103" y="9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1614628" y="4056809"/>
              <a:ext cx="28575" cy="1524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59" name="Freeform 9"/>
            <p:cNvSpPr>
              <a:spLocks/>
            </p:cNvSpPr>
            <p:nvPr/>
          </p:nvSpPr>
          <p:spPr bwMode="auto">
            <a:xfrm>
              <a:off x="1720991" y="4056809"/>
              <a:ext cx="147638" cy="152400"/>
            </a:xfrm>
            <a:custGeom>
              <a:avLst/>
              <a:gdLst>
                <a:gd name="T0" fmla="*/ 193 w 193"/>
                <a:gd name="T1" fmla="*/ 178 h 198"/>
                <a:gd name="T2" fmla="*/ 193 w 193"/>
                <a:gd name="T3" fmla="*/ 134 h 198"/>
                <a:gd name="T4" fmla="*/ 154 w 193"/>
                <a:gd name="T5" fmla="*/ 134 h 198"/>
                <a:gd name="T6" fmla="*/ 154 w 193"/>
                <a:gd name="T7" fmla="*/ 160 h 198"/>
                <a:gd name="T8" fmla="*/ 37 w 193"/>
                <a:gd name="T9" fmla="*/ 160 h 198"/>
                <a:gd name="T10" fmla="*/ 37 w 193"/>
                <a:gd name="T11" fmla="*/ 38 h 198"/>
                <a:gd name="T12" fmla="*/ 154 w 193"/>
                <a:gd name="T13" fmla="*/ 38 h 198"/>
                <a:gd name="T14" fmla="*/ 154 w 193"/>
                <a:gd name="T15" fmla="*/ 64 h 198"/>
                <a:gd name="T16" fmla="*/ 193 w 193"/>
                <a:gd name="T17" fmla="*/ 64 h 198"/>
                <a:gd name="T18" fmla="*/ 193 w 193"/>
                <a:gd name="T19" fmla="*/ 20 h 198"/>
                <a:gd name="T20" fmla="*/ 173 w 193"/>
                <a:gd name="T21" fmla="*/ 0 h 198"/>
                <a:gd name="T22" fmla="*/ 18 w 193"/>
                <a:gd name="T23" fmla="*/ 0 h 198"/>
                <a:gd name="T24" fmla="*/ 0 w 193"/>
                <a:gd name="T25" fmla="*/ 20 h 198"/>
                <a:gd name="T26" fmla="*/ 0 w 193"/>
                <a:gd name="T27" fmla="*/ 178 h 198"/>
                <a:gd name="T28" fmla="*/ 18 w 193"/>
                <a:gd name="T29" fmla="*/ 198 h 198"/>
                <a:gd name="T30" fmla="*/ 174 w 193"/>
                <a:gd name="T31" fmla="*/ 198 h 198"/>
                <a:gd name="T32" fmla="*/ 193 w 193"/>
                <a:gd name="T33" fmla="*/ 178 h 198"/>
                <a:gd name="T34" fmla="*/ 193 w 193"/>
                <a:gd name="T35" fmla="*/ 17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3" h="198">
                  <a:moveTo>
                    <a:pt x="193" y="178"/>
                  </a:moveTo>
                  <a:lnTo>
                    <a:pt x="193" y="134"/>
                  </a:lnTo>
                  <a:lnTo>
                    <a:pt x="154" y="134"/>
                  </a:lnTo>
                  <a:lnTo>
                    <a:pt x="154" y="160"/>
                  </a:lnTo>
                  <a:lnTo>
                    <a:pt x="37" y="160"/>
                  </a:lnTo>
                  <a:lnTo>
                    <a:pt x="37" y="38"/>
                  </a:lnTo>
                  <a:lnTo>
                    <a:pt x="154" y="38"/>
                  </a:lnTo>
                  <a:lnTo>
                    <a:pt x="154" y="64"/>
                  </a:lnTo>
                  <a:lnTo>
                    <a:pt x="193" y="64"/>
                  </a:ln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78"/>
                  </a:cubicBezTo>
                  <a:lnTo>
                    <a:pt x="193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0" name="Freeform 10"/>
            <p:cNvSpPr>
              <a:spLocks noEditPoints="1"/>
            </p:cNvSpPr>
            <p:nvPr/>
          </p:nvSpPr>
          <p:spPr bwMode="auto">
            <a:xfrm>
              <a:off x="1944828" y="4056809"/>
              <a:ext cx="149225" cy="152400"/>
            </a:xfrm>
            <a:custGeom>
              <a:avLst/>
              <a:gdLst>
                <a:gd name="T0" fmla="*/ 195 w 195"/>
                <a:gd name="T1" fmla="*/ 200 h 200"/>
                <a:gd name="T2" fmla="*/ 136 w 195"/>
                <a:gd name="T3" fmla="*/ 120 h 200"/>
                <a:gd name="T4" fmla="*/ 175 w 195"/>
                <a:gd name="T5" fmla="*/ 120 h 200"/>
                <a:gd name="T6" fmla="*/ 195 w 195"/>
                <a:gd name="T7" fmla="*/ 100 h 200"/>
                <a:gd name="T8" fmla="*/ 195 w 195"/>
                <a:gd name="T9" fmla="*/ 20 h 200"/>
                <a:gd name="T10" fmla="*/ 175 w 195"/>
                <a:gd name="T11" fmla="*/ 0 h 200"/>
                <a:gd name="T12" fmla="*/ 0 w 195"/>
                <a:gd name="T13" fmla="*/ 0 h 200"/>
                <a:gd name="T14" fmla="*/ 0 w 195"/>
                <a:gd name="T15" fmla="*/ 199 h 200"/>
                <a:gd name="T16" fmla="*/ 39 w 195"/>
                <a:gd name="T17" fmla="*/ 199 h 200"/>
                <a:gd name="T18" fmla="*/ 39 w 195"/>
                <a:gd name="T19" fmla="*/ 119 h 200"/>
                <a:gd name="T20" fmla="*/ 87 w 195"/>
                <a:gd name="T21" fmla="*/ 119 h 200"/>
                <a:gd name="T22" fmla="*/ 145 w 195"/>
                <a:gd name="T23" fmla="*/ 199 h 200"/>
                <a:gd name="T24" fmla="*/ 195 w 195"/>
                <a:gd name="T25" fmla="*/ 199 h 200"/>
                <a:gd name="T26" fmla="*/ 195 w 195"/>
                <a:gd name="T27" fmla="*/ 200 h 200"/>
                <a:gd name="T28" fmla="*/ 39 w 195"/>
                <a:gd name="T29" fmla="*/ 40 h 200"/>
                <a:gd name="T30" fmla="*/ 156 w 195"/>
                <a:gd name="T31" fmla="*/ 40 h 200"/>
                <a:gd name="T32" fmla="*/ 156 w 195"/>
                <a:gd name="T33" fmla="*/ 82 h 200"/>
                <a:gd name="T34" fmla="*/ 39 w 195"/>
                <a:gd name="T35" fmla="*/ 82 h 200"/>
                <a:gd name="T36" fmla="*/ 39 w 195"/>
                <a:gd name="T37" fmla="*/ 40 h 200"/>
                <a:gd name="T38" fmla="*/ 39 w 195"/>
                <a:gd name="T39" fmla="*/ 4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5" h="200">
                  <a:moveTo>
                    <a:pt x="195" y="200"/>
                  </a:moveTo>
                  <a:lnTo>
                    <a:pt x="136" y="120"/>
                  </a:lnTo>
                  <a:lnTo>
                    <a:pt x="175" y="120"/>
                  </a:lnTo>
                  <a:cubicBezTo>
                    <a:pt x="185" y="120"/>
                    <a:pt x="195" y="112"/>
                    <a:pt x="195" y="100"/>
                  </a:cubicBezTo>
                  <a:lnTo>
                    <a:pt x="195" y="20"/>
                  </a:lnTo>
                  <a:cubicBezTo>
                    <a:pt x="195" y="8"/>
                    <a:pt x="187" y="0"/>
                    <a:pt x="175" y="0"/>
                  </a:cubicBezTo>
                  <a:lnTo>
                    <a:pt x="0" y="0"/>
                  </a:lnTo>
                  <a:lnTo>
                    <a:pt x="0" y="199"/>
                  </a:lnTo>
                  <a:lnTo>
                    <a:pt x="39" y="199"/>
                  </a:lnTo>
                  <a:lnTo>
                    <a:pt x="39" y="119"/>
                  </a:lnTo>
                  <a:lnTo>
                    <a:pt x="87" y="119"/>
                  </a:lnTo>
                  <a:lnTo>
                    <a:pt x="145" y="199"/>
                  </a:lnTo>
                  <a:lnTo>
                    <a:pt x="195" y="199"/>
                  </a:lnTo>
                  <a:lnTo>
                    <a:pt x="195" y="200"/>
                  </a:lnTo>
                  <a:close/>
                  <a:moveTo>
                    <a:pt x="39" y="40"/>
                  </a:moveTo>
                  <a:lnTo>
                    <a:pt x="156" y="40"/>
                  </a:lnTo>
                  <a:lnTo>
                    <a:pt x="156" y="82"/>
                  </a:lnTo>
                  <a:lnTo>
                    <a:pt x="39" y="82"/>
                  </a:lnTo>
                  <a:lnTo>
                    <a:pt x="39" y="40"/>
                  </a:lnTo>
                  <a:lnTo>
                    <a:pt x="39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1" name="Freeform 11"/>
            <p:cNvSpPr>
              <a:spLocks noEditPoints="1"/>
            </p:cNvSpPr>
            <p:nvPr/>
          </p:nvSpPr>
          <p:spPr bwMode="auto">
            <a:xfrm>
              <a:off x="2170253" y="4056809"/>
              <a:ext cx="147638" cy="152400"/>
            </a:xfrm>
            <a:custGeom>
              <a:avLst/>
              <a:gdLst>
                <a:gd name="T0" fmla="*/ 194 w 194"/>
                <a:gd name="T1" fmla="*/ 178 h 198"/>
                <a:gd name="T2" fmla="*/ 194 w 194"/>
                <a:gd name="T3" fmla="*/ 20 h 198"/>
                <a:gd name="T4" fmla="*/ 174 w 194"/>
                <a:gd name="T5" fmla="*/ 0 h 198"/>
                <a:gd name="T6" fmla="*/ 18 w 194"/>
                <a:gd name="T7" fmla="*/ 0 h 198"/>
                <a:gd name="T8" fmla="*/ 0 w 194"/>
                <a:gd name="T9" fmla="*/ 20 h 198"/>
                <a:gd name="T10" fmla="*/ 0 w 194"/>
                <a:gd name="T11" fmla="*/ 178 h 198"/>
                <a:gd name="T12" fmla="*/ 18 w 194"/>
                <a:gd name="T13" fmla="*/ 198 h 198"/>
                <a:gd name="T14" fmla="*/ 176 w 194"/>
                <a:gd name="T15" fmla="*/ 198 h 198"/>
                <a:gd name="T16" fmla="*/ 194 w 194"/>
                <a:gd name="T17" fmla="*/ 178 h 198"/>
                <a:gd name="T18" fmla="*/ 194 w 194"/>
                <a:gd name="T19" fmla="*/ 178 h 198"/>
                <a:gd name="T20" fmla="*/ 38 w 194"/>
                <a:gd name="T21" fmla="*/ 38 h 198"/>
                <a:gd name="T22" fmla="*/ 156 w 194"/>
                <a:gd name="T23" fmla="*/ 38 h 198"/>
                <a:gd name="T24" fmla="*/ 156 w 194"/>
                <a:gd name="T25" fmla="*/ 160 h 198"/>
                <a:gd name="T26" fmla="*/ 38 w 194"/>
                <a:gd name="T27" fmla="*/ 160 h 198"/>
                <a:gd name="T28" fmla="*/ 38 w 194"/>
                <a:gd name="T29" fmla="*/ 38 h 198"/>
                <a:gd name="T30" fmla="*/ 38 w 194"/>
                <a:gd name="T31" fmla="*/ 38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98">
                  <a:moveTo>
                    <a:pt x="194" y="178"/>
                  </a:move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6" y="198"/>
                  </a:lnTo>
                  <a:cubicBezTo>
                    <a:pt x="186" y="198"/>
                    <a:pt x="194" y="190"/>
                    <a:pt x="194" y="178"/>
                  </a:cubicBezTo>
                  <a:lnTo>
                    <a:pt x="194" y="178"/>
                  </a:lnTo>
                  <a:close/>
                  <a:moveTo>
                    <a:pt x="38" y="38"/>
                  </a:moveTo>
                  <a:lnTo>
                    <a:pt x="156" y="38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2" name="Freeform 12"/>
            <p:cNvSpPr>
              <a:spLocks/>
            </p:cNvSpPr>
            <p:nvPr/>
          </p:nvSpPr>
          <p:spPr bwMode="auto">
            <a:xfrm>
              <a:off x="1374916" y="4256834"/>
              <a:ext cx="149225" cy="150813"/>
            </a:xfrm>
            <a:custGeom>
              <a:avLst/>
              <a:gdLst>
                <a:gd name="T0" fmla="*/ 94 w 94"/>
                <a:gd name="T1" fmla="*/ 19 h 95"/>
                <a:gd name="T2" fmla="*/ 94 w 94"/>
                <a:gd name="T3" fmla="*/ 0 h 95"/>
                <a:gd name="T4" fmla="*/ 0 w 94"/>
                <a:gd name="T5" fmla="*/ 0 h 95"/>
                <a:gd name="T6" fmla="*/ 0 w 94"/>
                <a:gd name="T7" fmla="*/ 95 h 95"/>
                <a:gd name="T8" fmla="*/ 19 w 94"/>
                <a:gd name="T9" fmla="*/ 95 h 95"/>
                <a:gd name="T10" fmla="*/ 19 w 94"/>
                <a:gd name="T11" fmla="*/ 57 h 95"/>
                <a:gd name="T12" fmla="*/ 75 w 94"/>
                <a:gd name="T13" fmla="*/ 57 h 95"/>
                <a:gd name="T14" fmla="*/ 75 w 94"/>
                <a:gd name="T15" fmla="*/ 38 h 95"/>
                <a:gd name="T16" fmla="*/ 19 w 94"/>
                <a:gd name="T17" fmla="*/ 38 h 95"/>
                <a:gd name="T18" fmla="*/ 19 w 94"/>
                <a:gd name="T19" fmla="*/ 19 h 95"/>
                <a:gd name="T20" fmla="*/ 94 w 94"/>
                <a:gd name="T21" fmla="*/ 19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" h="95">
                  <a:moveTo>
                    <a:pt x="94" y="19"/>
                  </a:moveTo>
                  <a:lnTo>
                    <a:pt x="94" y="0"/>
                  </a:lnTo>
                  <a:lnTo>
                    <a:pt x="0" y="0"/>
                  </a:lnTo>
                  <a:lnTo>
                    <a:pt x="0" y="95"/>
                  </a:lnTo>
                  <a:lnTo>
                    <a:pt x="19" y="95"/>
                  </a:lnTo>
                  <a:lnTo>
                    <a:pt x="19" y="57"/>
                  </a:lnTo>
                  <a:lnTo>
                    <a:pt x="75" y="57"/>
                  </a:lnTo>
                  <a:lnTo>
                    <a:pt x="75" y="38"/>
                  </a:lnTo>
                  <a:lnTo>
                    <a:pt x="19" y="38"/>
                  </a:lnTo>
                  <a:lnTo>
                    <a:pt x="19" y="19"/>
                  </a:lnTo>
                  <a:lnTo>
                    <a:pt x="94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3" name="Freeform 13"/>
            <p:cNvSpPr>
              <a:spLocks noEditPoints="1"/>
            </p:cNvSpPr>
            <p:nvPr/>
          </p:nvSpPr>
          <p:spPr bwMode="auto">
            <a:xfrm>
              <a:off x="1565416" y="4256834"/>
              <a:ext cx="147638" cy="150813"/>
            </a:xfrm>
            <a:custGeom>
              <a:avLst/>
              <a:gdLst>
                <a:gd name="T0" fmla="*/ 193 w 193"/>
                <a:gd name="T1" fmla="*/ 180 h 198"/>
                <a:gd name="T2" fmla="*/ 193 w 193"/>
                <a:gd name="T3" fmla="*/ 20 h 198"/>
                <a:gd name="T4" fmla="*/ 173 w 193"/>
                <a:gd name="T5" fmla="*/ 0 h 198"/>
                <a:gd name="T6" fmla="*/ 18 w 193"/>
                <a:gd name="T7" fmla="*/ 0 h 198"/>
                <a:gd name="T8" fmla="*/ 0 w 193"/>
                <a:gd name="T9" fmla="*/ 20 h 198"/>
                <a:gd name="T10" fmla="*/ 0 w 193"/>
                <a:gd name="T11" fmla="*/ 178 h 198"/>
                <a:gd name="T12" fmla="*/ 18 w 193"/>
                <a:gd name="T13" fmla="*/ 198 h 198"/>
                <a:gd name="T14" fmla="*/ 174 w 193"/>
                <a:gd name="T15" fmla="*/ 198 h 198"/>
                <a:gd name="T16" fmla="*/ 193 w 193"/>
                <a:gd name="T17" fmla="*/ 180 h 198"/>
                <a:gd name="T18" fmla="*/ 193 w 193"/>
                <a:gd name="T19" fmla="*/ 180 h 198"/>
                <a:gd name="T20" fmla="*/ 38 w 193"/>
                <a:gd name="T21" fmla="*/ 40 h 198"/>
                <a:gd name="T22" fmla="*/ 154 w 193"/>
                <a:gd name="T23" fmla="*/ 40 h 198"/>
                <a:gd name="T24" fmla="*/ 154 w 193"/>
                <a:gd name="T25" fmla="*/ 161 h 198"/>
                <a:gd name="T26" fmla="*/ 37 w 193"/>
                <a:gd name="T27" fmla="*/ 161 h 198"/>
                <a:gd name="T28" fmla="*/ 37 w 193"/>
                <a:gd name="T29" fmla="*/ 40 h 198"/>
                <a:gd name="T30" fmla="*/ 38 w 193"/>
                <a:gd name="T31" fmla="*/ 4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198">
                  <a:moveTo>
                    <a:pt x="193" y="180"/>
                  </a:moveTo>
                  <a:lnTo>
                    <a:pt x="193" y="20"/>
                  </a:lnTo>
                  <a:cubicBezTo>
                    <a:pt x="193" y="8"/>
                    <a:pt x="185" y="0"/>
                    <a:pt x="173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5" y="198"/>
                    <a:pt x="193" y="190"/>
                    <a:pt x="193" y="180"/>
                  </a:cubicBezTo>
                  <a:lnTo>
                    <a:pt x="193" y="180"/>
                  </a:lnTo>
                  <a:close/>
                  <a:moveTo>
                    <a:pt x="38" y="40"/>
                  </a:moveTo>
                  <a:lnTo>
                    <a:pt x="154" y="40"/>
                  </a:lnTo>
                  <a:lnTo>
                    <a:pt x="154" y="161"/>
                  </a:lnTo>
                  <a:lnTo>
                    <a:pt x="37" y="161"/>
                  </a:lnTo>
                  <a:lnTo>
                    <a:pt x="37" y="40"/>
                  </a:lnTo>
                  <a:lnTo>
                    <a:pt x="38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4" name="Freeform 14"/>
            <p:cNvSpPr>
              <a:spLocks/>
            </p:cNvSpPr>
            <p:nvPr/>
          </p:nvSpPr>
          <p:spPr bwMode="auto">
            <a:xfrm>
              <a:off x="1767028" y="4256834"/>
              <a:ext cx="147638" cy="152400"/>
            </a:xfrm>
            <a:custGeom>
              <a:avLst/>
              <a:gdLst>
                <a:gd name="T0" fmla="*/ 194 w 194"/>
                <a:gd name="T1" fmla="*/ 179 h 199"/>
                <a:gd name="T2" fmla="*/ 194 w 194"/>
                <a:gd name="T3" fmla="*/ 135 h 199"/>
                <a:gd name="T4" fmla="*/ 156 w 194"/>
                <a:gd name="T5" fmla="*/ 135 h 199"/>
                <a:gd name="T6" fmla="*/ 156 w 194"/>
                <a:gd name="T7" fmla="*/ 160 h 199"/>
                <a:gd name="T8" fmla="*/ 38 w 194"/>
                <a:gd name="T9" fmla="*/ 160 h 199"/>
                <a:gd name="T10" fmla="*/ 38 w 194"/>
                <a:gd name="T11" fmla="*/ 39 h 199"/>
                <a:gd name="T12" fmla="*/ 156 w 194"/>
                <a:gd name="T13" fmla="*/ 39 h 199"/>
                <a:gd name="T14" fmla="*/ 156 w 194"/>
                <a:gd name="T15" fmla="*/ 64 h 199"/>
                <a:gd name="T16" fmla="*/ 194 w 194"/>
                <a:gd name="T17" fmla="*/ 64 h 199"/>
                <a:gd name="T18" fmla="*/ 194 w 194"/>
                <a:gd name="T19" fmla="*/ 20 h 199"/>
                <a:gd name="T20" fmla="*/ 174 w 194"/>
                <a:gd name="T21" fmla="*/ 0 h 199"/>
                <a:gd name="T22" fmla="*/ 18 w 194"/>
                <a:gd name="T23" fmla="*/ 0 h 199"/>
                <a:gd name="T24" fmla="*/ 0 w 194"/>
                <a:gd name="T25" fmla="*/ 20 h 199"/>
                <a:gd name="T26" fmla="*/ 0 w 194"/>
                <a:gd name="T27" fmla="*/ 179 h 199"/>
                <a:gd name="T28" fmla="*/ 18 w 194"/>
                <a:gd name="T29" fmla="*/ 199 h 199"/>
                <a:gd name="T30" fmla="*/ 174 w 194"/>
                <a:gd name="T31" fmla="*/ 199 h 199"/>
                <a:gd name="T32" fmla="*/ 194 w 194"/>
                <a:gd name="T33" fmla="*/ 179 h 199"/>
                <a:gd name="T34" fmla="*/ 194 w 194"/>
                <a:gd name="T35" fmla="*/ 17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199">
                  <a:moveTo>
                    <a:pt x="194" y="179"/>
                  </a:moveTo>
                  <a:lnTo>
                    <a:pt x="194" y="135"/>
                  </a:lnTo>
                  <a:lnTo>
                    <a:pt x="156" y="135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39"/>
                  </a:lnTo>
                  <a:lnTo>
                    <a:pt x="156" y="39"/>
                  </a:lnTo>
                  <a:lnTo>
                    <a:pt x="156" y="64"/>
                  </a:lnTo>
                  <a:lnTo>
                    <a:pt x="194" y="64"/>
                  </a:lnTo>
                  <a:lnTo>
                    <a:pt x="194" y="20"/>
                  </a:lnTo>
                  <a:cubicBezTo>
                    <a:pt x="194" y="8"/>
                    <a:pt x="186" y="0"/>
                    <a:pt x="174" y="0"/>
                  </a:cubicBezTo>
                  <a:lnTo>
                    <a:pt x="18" y="0"/>
                  </a:lnTo>
                  <a:cubicBezTo>
                    <a:pt x="8" y="0"/>
                    <a:pt x="0" y="8"/>
                    <a:pt x="0" y="20"/>
                  </a:cubicBezTo>
                  <a:lnTo>
                    <a:pt x="0" y="179"/>
                  </a:lnTo>
                  <a:cubicBezTo>
                    <a:pt x="0" y="189"/>
                    <a:pt x="8" y="199"/>
                    <a:pt x="18" y="199"/>
                  </a:cubicBezTo>
                  <a:lnTo>
                    <a:pt x="174" y="199"/>
                  </a:lnTo>
                  <a:cubicBezTo>
                    <a:pt x="185" y="197"/>
                    <a:pt x="194" y="189"/>
                    <a:pt x="194" y="179"/>
                  </a:cubicBezTo>
                  <a:lnTo>
                    <a:pt x="194" y="1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5" name="Freeform 15"/>
            <p:cNvSpPr>
              <a:spLocks/>
            </p:cNvSpPr>
            <p:nvPr/>
          </p:nvSpPr>
          <p:spPr bwMode="auto">
            <a:xfrm>
              <a:off x="1968641" y="4256834"/>
              <a:ext cx="147638" cy="150813"/>
            </a:xfrm>
            <a:custGeom>
              <a:avLst/>
              <a:gdLst>
                <a:gd name="T0" fmla="*/ 194 w 194"/>
                <a:gd name="T1" fmla="*/ 180 h 198"/>
                <a:gd name="T2" fmla="*/ 194 w 194"/>
                <a:gd name="T3" fmla="*/ 0 h 198"/>
                <a:gd name="T4" fmla="*/ 156 w 194"/>
                <a:gd name="T5" fmla="*/ 0 h 198"/>
                <a:gd name="T6" fmla="*/ 156 w 194"/>
                <a:gd name="T7" fmla="*/ 160 h 198"/>
                <a:gd name="T8" fmla="*/ 38 w 194"/>
                <a:gd name="T9" fmla="*/ 160 h 198"/>
                <a:gd name="T10" fmla="*/ 38 w 194"/>
                <a:gd name="T11" fmla="*/ 0 h 198"/>
                <a:gd name="T12" fmla="*/ 0 w 194"/>
                <a:gd name="T13" fmla="*/ 0 h 198"/>
                <a:gd name="T14" fmla="*/ 0 w 194"/>
                <a:gd name="T15" fmla="*/ 178 h 198"/>
                <a:gd name="T16" fmla="*/ 18 w 194"/>
                <a:gd name="T17" fmla="*/ 198 h 198"/>
                <a:gd name="T18" fmla="*/ 174 w 194"/>
                <a:gd name="T19" fmla="*/ 198 h 198"/>
                <a:gd name="T20" fmla="*/ 194 w 194"/>
                <a:gd name="T21" fmla="*/ 180 h 198"/>
                <a:gd name="T22" fmla="*/ 194 w 194"/>
                <a:gd name="T23" fmla="*/ 18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4" h="198">
                  <a:moveTo>
                    <a:pt x="194" y="180"/>
                  </a:moveTo>
                  <a:lnTo>
                    <a:pt x="194" y="0"/>
                  </a:lnTo>
                  <a:lnTo>
                    <a:pt x="156" y="0"/>
                  </a:lnTo>
                  <a:lnTo>
                    <a:pt x="156" y="160"/>
                  </a:lnTo>
                  <a:lnTo>
                    <a:pt x="38" y="160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178"/>
                  </a:lnTo>
                  <a:cubicBezTo>
                    <a:pt x="0" y="189"/>
                    <a:pt x="8" y="198"/>
                    <a:pt x="18" y="198"/>
                  </a:cubicBezTo>
                  <a:lnTo>
                    <a:pt x="174" y="198"/>
                  </a:lnTo>
                  <a:cubicBezTo>
                    <a:pt x="186" y="198"/>
                    <a:pt x="194" y="190"/>
                    <a:pt x="194" y="180"/>
                  </a:cubicBezTo>
                  <a:lnTo>
                    <a:pt x="194" y="1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6" name="Freeform 16"/>
            <p:cNvSpPr>
              <a:spLocks/>
            </p:cNvSpPr>
            <p:nvPr/>
          </p:nvSpPr>
          <p:spPr bwMode="auto">
            <a:xfrm>
              <a:off x="2168666" y="4256834"/>
              <a:ext cx="149225" cy="152400"/>
            </a:xfrm>
            <a:custGeom>
              <a:avLst/>
              <a:gdLst>
                <a:gd name="T0" fmla="*/ 196 w 196"/>
                <a:gd name="T1" fmla="*/ 179 h 200"/>
                <a:gd name="T2" fmla="*/ 196 w 196"/>
                <a:gd name="T3" fmla="*/ 100 h 200"/>
                <a:gd name="T4" fmla="*/ 176 w 196"/>
                <a:gd name="T5" fmla="*/ 80 h 200"/>
                <a:gd name="T6" fmla="*/ 40 w 196"/>
                <a:gd name="T7" fmla="*/ 80 h 200"/>
                <a:gd name="T8" fmla="*/ 40 w 196"/>
                <a:gd name="T9" fmla="*/ 39 h 200"/>
                <a:gd name="T10" fmla="*/ 158 w 196"/>
                <a:gd name="T11" fmla="*/ 39 h 200"/>
                <a:gd name="T12" fmla="*/ 158 w 196"/>
                <a:gd name="T13" fmla="*/ 60 h 200"/>
                <a:gd name="T14" fmla="*/ 196 w 196"/>
                <a:gd name="T15" fmla="*/ 60 h 200"/>
                <a:gd name="T16" fmla="*/ 196 w 196"/>
                <a:gd name="T17" fmla="*/ 20 h 200"/>
                <a:gd name="T18" fmla="*/ 176 w 196"/>
                <a:gd name="T19" fmla="*/ 0 h 200"/>
                <a:gd name="T20" fmla="*/ 20 w 196"/>
                <a:gd name="T21" fmla="*/ 0 h 200"/>
                <a:gd name="T22" fmla="*/ 2 w 196"/>
                <a:gd name="T23" fmla="*/ 20 h 200"/>
                <a:gd name="T24" fmla="*/ 2 w 196"/>
                <a:gd name="T25" fmla="*/ 99 h 200"/>
                <a:gd name="T26" fmla="*/ 20 w 196"/>
                <a:gd name="T27" fmla="*/ 119 h 200"/>
                <a:gd name="T28" fmla="*/ 156 w 196"/>
                <a:gd name="T29" fmla="*/ 119 h 200"/>
                <a:gd name="T30" fmla="*/ 156 w 196"/>
                <a:gd name="T31" fmla="*/ 160 h 200"/>
                <a:gd name="T32" fmla="*/ 39 w 196"/>
                <a:gd name="T33" fmla="*/ 160 h 200"/>
                <a:gd name="T34" fmla="*/ 39 w 196"/>
                <a:gd name="T35" fmla="*/ 140 h 200"/>
                <a:gd name="T36" fmla="*/ 0 w 196"/>
                <a:gd name="T37" fmla="*/ 140 h 200"/>
                <a:gd name="T38" fmla="*/ 0 w 196"/>
                <a:gd name="T39" fmla="*/ 180 h 200"/>
                <a:gd name="T40" fmla="*/ 19 w 196"/>
                <a:gd name="T41" fmla="*/ 200 h 200"/>
                <a:gd name="T42" fmla="*/ 175 w 196"/>
                <a:gd name="T43" fmla="*/ 200 h 200"/>
                <a:gd name="T44" fmla="*/ 196 w 196"/>
                <a:gd name="T45" fmla="*/ 179 h 200"/>
                <a:gd name="T46" fmla="*/ 196 w 196"/>
                <a:gd name="T47" fmla="*/ 179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6" h="200">
                  <a:moveTo>
                    <a:pt x="196" y="179"/>
                  </a:moveTo>
                  <a:lnTo>
                    <a:pt x="196" y="100"/>
                  </a:lnTo>
                  <a:cubicBezTo>
                    <a:pt x="196" y="89"/>
                    <a:pt x="188" y="80"/>
                    <a:pt x="176" y="80"/>
                  </a:cubicBezTo>
                  <a:lnTo>
                    <a:pt x="40" y="80"/>
                  </a:lnTo>
                  <a:lnTo>
                    <a:pt x="40" y="39"/>
                  </a:lnTo>
                  <a:lnTo>
                    <a:pt x="158" y="39"/>
                  </a:lnTo>
                  <a:lnTo>
                    <a:pt x="158" y="60"/>
                  </a:lnTo>
                  <a:lnTo>
                    <a:pt x="196" y="60"/>
                  </a:lnTo>
                  <a:lnTo>
                    <a:pt x="196" y="20"/>
                  </a:lnTo>
                  <a:cubicBezTo>
                    <a:pt x="196" y="8"/>
                    <a:pt x="188" y="0"/>
                    <a:pt x="176" y="0"/>
                  </a:cubicBezTo>
                  <a:lnTo>
                    <a:pt x="20" y="0"/>
                  </a:lnTo>
                  <a:cubicBezTo>
                    <a:pt x="10" y="0"/>
                    <a:pt x="2" y="8"/>
                    <a:pt x="2" y="20"/>
                  </a:cubicBezTo>
                  <a:lnTo>
                    <a:pt x="2" y="99"/>
                  </a:lnTo>
                  <a:cubicBezTo>
                    <a:pt x="2" y="109"/>
                    <a:pt x="10" y="119"/>
                    <a:pt x="20" y="119"/>
                  </a:cubicBezTo>
                  <a:lnTo>
                    <a:pt x="156" y="119"/>
                  </a:lnTo>
                  <a:lnTo>
                    <a:pt x="156" y="160"/>
                  </a:lnTo>
                  <a:lnTo>
                    <a:pt x="39" y="160"/>
                  </a:lnTo>
                  <a:lnTo>
                    <a:pt x="39" y="140"/>
                  </a:lnTo>
                  <a:lnTo>
                    <a:pt x="0" y="140"/>
                  </a:lnTo>
                  <a:lnTo>
                    <a:pt x="0" y="180"/>
                  </a:lnTo>
                  <a:cubicBezTo>
                    <a:pt x="0" y="191"/>
                    <a:pt x="8" y="200"/>
                    <a:pt x="19" y="200"/>
                  </a:cubicBezTo>
                  <a:lnTo>
                    <a:pt x="175" y="200"/>
                  </a:lnTo>
                  <a:cubicBezTo>
                    <a:pt x="188" y="197"/>
                    <a:pt x="196" y="189"/>
                    <a:pt x="196" y="179"/>
                  </a:cubicBezTo>
                  <a:lnTo>
                    <a:pt x="196" y="1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  <p:sp>
          <p:nvSpPr>
            <p:cNvPr id="67" name="Freeform 17"/>
            <p:cNvSpPr>
              <a:spLocks noEditPoints="1"/>
            </p:cNvSpPr>
            <p:nvPr/>
          </p:nvSpPr>
          <p:spPr bwMode="auto">
            <a:xfrm>
              <a:off x="2340116" y="4058396"/>
              <a:ext cx="55563" cy="5556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3 h 72"/>
                <a:gd name="T12" fmla="*/ 2 w 72"/>
                <a:gd name="T13" fmla="*/ 36 h 72"/>
                <a:gd name="T14" fmla="*/ 36 w 72"/>
                <a:gd name="T15" fmla="*/ 68 h 72"/>
                <a:gd name="T16" fmla="*/ 68 w 72"/>
                <a:gd name="T17" fmla="*/ 36 h 72"/>
                <a:gd name="T18" fmla="*/ 36 w 72"/>
                <a:gd name="T19" fmla="*/ 3 h 72"/>
                <a:gd name="T20" fmla="*/ 45 w 72"/>
                <a:gd name="T21" fmla="*/ 59 h 72"/>
                <a:gd name="T22" fmla="*/ 36 w 72"/>
                <a:gd name="T23" fmla="*/ 39 h 72"/>
                <a:gd name="T24" fmla="*/ 28 w 72"/>
                <a:gd name="T25" fmla="*/ 39 h 72"/>
                <a:gd name="T26" fmla="*/ 28 w 72"/>
                <a:gd name="T27" fmla="*/ 59 h 72"/>
                <a:gd name="T28" fmla="*/ 22 w 72"/>
                <a:gd name="T29" fmla="*/ 59 h 72"/>
                <a:gd name="T30" fmla="*/ 22 w 72"/>
                <a:gd name="T31" fmla="*/ 14 h 72"/>
                <a:gd name="T32" fmla="*/ 36 w 72"/>
                <a:gd name="T33" fmla="*/ 14 h 72"/>
                <a:gd name="T34" fmla="*/ 50 w 72"/>
                <a:gd name="T35" fmla="*/ 27 h 72"/>
                <a:gd name="T36" fmla="*/ 41 w 72"/>
                <a:gd name="T37" fmla="*/ 39 h 72"/>
                <a:gd name="T38" fmla="*/ 50 w 72"/>
                <a:gd name="T39" fmla="*/ 59 h 72"/>
                <a:gd name="T40" fmla="*/ 45 w 72"/>
                <a:gd name="T41" fmla="*/ 59 h 72"/>
                <a:gd name="T42" fmla="*/ 28 w 72"/>
                <a:gd name="T43" fmla="*/ 34 h 72"/>
                <a:gd name="T44" fmla="*/ 36 w 72"/>
                <a:gd name="T45" fmla="*/ 34 h 72"/>
                <a:gd name="T46" fmla="*/ 45 w 72"/>
                <a:gd name="T47" fmla="*/ 26 h 72"/>
                <a:gd name="T48" fmla="*/ 36 w 72"/>
                <a:gd name="T49" fmla="*/ 18 h 72"/>
                <a:gd name="T50" fmla="*/ 29 w 72"/>
                <a:gd name="T51" fmla="*/ 18 h 72"/>
                <a:gd name="T52" fmla="*/ 29 w 72"/>
                <a:gd name="T53" fmla="*/ 34 h 72"/>
                <a:gd name="T54" fmla="*/ 28 w 72"/>
                <a:gd name="T55" fmla="*/ 3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3"/>
                  </a:moveTo>
                  <a:cubicBezTo>
                    <a:pt x="17" y="3"/>
                    <a:pt x="2" y="18"/>
                    <a:pt x="2" y="36"/>
                  </a:cubicBezTo>
                  <a:cubicBezTo>
                    <a:pt x="2" y="55"/>
                    <a:pt x="17" y="68"/>
                    <a:pt x="36" y="68"/>
                  </a:cubicBezTo>
                  <a:cubicBezTo>
                    <a:pt x="54" y="68"/>
                    <a:pt x="68" y="54"/>
                    <a:pt x="68" y="36"/>
                  </a:cubicBezTo>
                  <a:cubicBezTo>
                    <a:pt x="68" y="18"/>
                    <a:pt x="54" y="3"/>
                    <a:pt x="36" y="3"/>
                  </a:cubicBezTo>
                  <a:close/>
                  <a:moveTo>
                    <a:pt x="45" y="59"/>
                  </a:moveTo>
                  <a:lnTo>
                    <a:pt x="36" y="39"/>
                  </a:lnTo>
                  <a:lnTo>
                    <a:pt x="28" y="39"/>
                  </a:lnTo>
                  <a:lnTo>
                    <a:pt x="28" y="59"/>
                  </a:lnTo>
                  <a:lnTo>
                    <a:pt x="22" y="59"/>
                  </a:lnTo>
                  <a:lnTo>
                    <a:pt x="22" y="14"/>
                  </a:lnTo>
                  <a:lnTo>
                    <a:pt x="36" y="14"/>
                  </a:lnTo>
                  <a:cubicBezTo>
                    <a:pt x="46" y="14"/>
                    <a:pt x="50" y="18"/>
                    <a:pt x="50" y="27"/>
                  </a:cubicBezTo>
                  <a:cubicBezTo>
                    <a:pt x="50" y="34"/>
                    <a:pt x="48" y="38"/>
                    <a:pt x="41" y="39"/>
                  </a:cubicBezTo>
                  <a:lnTo>
                    <a:pt x="50" y="59"/>
                  </a:lnTo>
                  <a:lnTo>
                    <a:pt x="45" y="59"/>
                  </a:lnTo>
                  <a:close/>
                  <a:moveTo>
                    <a:pt x="28" y="34"/>
                  </a:moveTo>
                  <a:lnTo>
                    <a:pt x="36" y="34"/>
                  </a:lnTo>
                  <a:cubicBezTo>
                    <a:pt x="42" y="34"/>
                    <a:pt x="45" y="31"/>
                    <a:pt x="45" y="26"/>
                  </a:cubicBezTo>
                  <a:cubicBezTo>
                    <a:pt x="45" y="20"/>
                    <a:pt x="42" y="18"/>
                    <a:pt x="36" y="18"/>
                  </a:cubicBezTo>
                  <a:lnTo>
                    <a:pt x="29" y="18"/>
                  </a:lnTo>
                  <a:lnTo>
                    <a:pt x="29" y="34"/>
                  </a:lnTo>
                  <a:lnTo>
                    <a:pt x="28" y="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sp>
        <p:nvSpPr>
          <p:cNvPr id="21" name="Blue bar"/>
          <p:cNvSpPr/>
          <p:nvPr userDrawn="1"/>
        </p:nvSpPr>
        <p:spPr>
          <a:xfrm>
            <a:off x="944563" y="0"/>
            <a:ext cx="1799696" cy="151844"/>
          </a:xfrm>
          <a:prstGeom prst="rect">
            <a:avLst/>
          </a:prstGeom>
          <a:solidFill>
            <a:srgbClr val="0079E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8940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910" r:id="rId2"/>
    <p:sldLayoutId id="2147483896" r:id="rId3"/>
    <p:sldLayoutId id="2147483895" r:id="rId4"/>
    <p:sldLayoutId id="2147483860" r:id="rId5"/>
    <p:sldLayoutId id="2147483886" r:id="rId6"/>
    <p:sldLayoutId id="2147483861" r:id="rId7"/>
    <p:sldLayoutId id="2147483890" r:id="rId8"/>
    <p:sldLayoutId id="2147483863" r:id="rId9"/>
    <p:sldLayoutId id="2147483885" r:id="rId10"/>
    <p:sldLayoutId id="2147483864" r:id="rId11"/>
    <p:sldLayoutId id="2147483866" r:id="rId12"/>
    <p:sldLayoutId id="2147483884" r:id="rId13"/>
    <p:sldLayoutId id="2147483865" r:id="rId14"/>
    <p:sldLayoutId id="2147483897" r:id="rId15"/>
    <p:sldLayoutId id="2147483867" r:id="rId16"/>
    <p:sldLayoutId id="2147483883" r:id="rId17"/>
    <p:sldLayoutId id="2147483893" r:id="rId18"/>
    <p:sldLayoutId id="2147483898" r:id="rId19"/>
    <p:sldLayoutId id="2147483868" r:id="rId20"/>
    <p:sldLayoutId id="2147483888" r:id="rId21"/>
    <p:sldLayoutId id="2147483891" r:id="rId22"/>
    <p:sldLayoutId id="2147483869" r:id="rId23"/>
    <p:sldLayoutId id="2147483889" r:id="rId24"/>
    <p:sldLayoutId id="2147483892" r:id="rId25"/>
    <p:sldLayoutId id="2147483870" r:id="rId26"/>
    <p:sldLayoutId id="2147483871" r:id="rId27"/>
    <p:sldLayoutId id="2147483872" r:id="rId28"/>
    <p:sldLayoutId id="2147483873" r:id="rId29"/>
    <p:sldLayoutId id="2147483874" r:id="rId30"/>
    <p:sldLayoutId id="2147483908" r:id="rId31"/>
    <p:sldLayoutId id="2147483876" r:id="rId32"/>
    <p:sldLayoutId id="2147483875" r:id="rId33"/>
    <p:sldLayoutId id="2147483899" r:id="rId34"/>
    <p:sldLayoutId id="2147483900" r:id="rId35"/>
    <p:sldLayoutId id="2147483901" r:id="rId36"/>
    <p:sldLayoutId id="2147483902" r:id="rId37"/>
    <p:sldLayoutId id="2147483909" r:id="rId38"/>
    <p:sldLayoutId id="2147483906" r:id="rId39"/>
    <p:sldLayoutId id="2147483904" r:id="rId40"/>
    <p:sldLayoutId id="2147483905" r:id="rId41"/>
    <p:sldLayoutId id="2147483907" r:id="rId42"/>
    <p:sldLayoutId id="2147483916" r:id="rId43"/>
    <p:sldLayoutId id="2147483903" r:id="rId44"/>
    <p:sldLayoutId id="2147483915" r:id="rId45"/>
    <p:sldLayoutId id="2147483914" r:id="rId46"/>
    <p:sldLayoutId id="2147483913" r:id="rId47"/>
    <p:sldLayoutId id="2147483912" r:id="rId48"/>
    <p:sldLayoutId id="2147483911" r:id="rId49"/>
    <p:sldLayoutId id="2147483917" r:id="rId50"/>
    <p:sldLayoutId id="2147483881" r:id="rId51"/>
    <p:sldLayoutId id="2147483918" r:id="rId52"/>
    <p:sldLayoutId id="2147483919" r:id="rId53"/>
    <p:sldLayoutId id="2147483920" r:id="rId5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7338" indent="-287338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Tx/>
        <a:buSzPct val="80000"/>
        <a:buFont typeface="Wingdings" panose="05000000000000000000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22860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Tx/>
        <a:buSzPct val="80000"/>
        <a:buFont typeface="Wingdings" panose="05000000000000000000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44538" indent="-169863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Tx/>
        <a:buSzPct val="80000"/>
        <a:buFont typeface="Wingdings" panose="05000000000000000000" pitchFamily="2" charset="2"/>
        <a:buChar char="§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22338" indent="-17780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Tx/>
        <a:buSzPct val="80000"/>
        <a:buFont typeface="Wingdings" panose="05000000000000000000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9500" indent="-15875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Tx/>
        <a:buSzPct val="80000"/>
        <a:buFont typeface="Wingdings" panose="05000000000000000000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7092">
          <p15:clr>
            <a:srgbClr val="F26B43"/>
          </p15:clr>
        </p15:guide>
        <p15:guide id="4" pos="595">
          <p15:clr>
            <a:srgbClr val="F26B43"/>
          </p15:clr>
        </p15:guide>
        <p15:guide id="5" orient="horz" pos="540">
          <p15:clr>
            <a:srgbClr val="F26B43"/>
          </p15:clr>
        </p15:guide>
        <p15:guide id="6" orient="horz" pos="96">
          <p15:clr>
            <a:srgbClr val="F26B43"/>
          </p15:clr>
        </p15:guide>
        <p15:guide id="7" orient="horz" pos="4224">
          <p15:clr>
            <a:srgbClr val="F26B43"/>
          </p15:clr>
        </p15:guide>
        <p15:guide id="8" orient="horz" pos="1094" userDrawn="1">
          <p15:clr>
            <a:srgbClr val="F26B43"/>
          </p15:clr>
        </p15:guide>
        <p15:guide id="0" pos="3840" userDrawn="1">
          <p15:clr>
            <a:srgbClr val="F26B43"/>
          </p15:clr>
        </p15:guide>
        <p15:guide id="9" orient="horz" pos="3893" userDrawn="1">
          <p15:clr>
            <a:srgbClr val="F26B43"/>
          </p15:clr>
        </p15:guide>
        <p15:guide id="10" orient="horz" pos="1389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slide" Target="slide10.xml"/><Relationship Id="rId7" Type="http://schemas.openxmlformats.org/officeDocument/2006/relationships/slide" Target="slide38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30.xml"/><Relationship Id="rId5" Type="http://schemas.openxmlformats.org/officeDocument/2006/relationships/slide" Target="slide27.xml"/><Relationship Id="rId4" Type="http://schemas.openxmlformats.org/officeDocument/2006/relationships/slide" Target="slide20.xml"/><Relationship Id="rId9" Type="http://schemas.openxmlformats.org/officeDocument/2006/relationships/slide" Target="slide4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hayden.brown@microfocus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dca-pocapp-mast.dca.demo.local:33111/" TargetMode="Externa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mailto:hayden.brown@microfocus.com" TargetMode="Externa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xmlns="" id="{D0AFB2B4-50F1-4E58-9F6C-6D505D5B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52" y="0"/>
            <a:ext cx="12197152" cy="8126353"/>
          </a:xfrm>
          <a:prstGeom prst="rect">
            <a:avLst/>
          </a:prstGeom>
        </p:spPr>
      </p:pic>
      <p:sp>
        <p:nvSpPr>
          <p:cNvPr id="20" name="Rectangle 8"/>
          <p:cNvSpPr/>
          <p:nvPr/>
        </p:nvSpPr>
        <p:spPr>
          <a:xfrm>
            <a:off x="1048005" y="0"/>
            <a:ext cx="1799696" cy="1518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808080"/>
                </a:solidFill>
              </a:defRPr>
            </a:pPr>
            <a:endParaRPr dirty="0">
              <a:solidFill>
                <a:srgbClr val="808080"/>
              </a:solidFill>
            </a:endParaRPr>
          </a:p>
        </p:txBody>
      </p:sp>
      <p:grpSp>
        <p:nvGrpSpPr>
          <p:cNvPr id="21" name="Group 9"/>
          <p:cNvGrpSpPr/>
          <p:nvPr/>
        </p:nvGrpSpPr>
        <p:grpSpPr>
          <a:xfrm>
            <a:off x="1048005" y="766394"/>
            <a:ext cx="1930326" cy="467408"/>
            <a:chOff x="0" y="0"/>
            <a:chExt cx="1930325" cy="467406"/>
          </a:xfrm>
        </p:grpSpPr>
        <p:sp>
          <p:nvSpPr>
            <p:cNvPr id="22" name="Freeform 5"/>
            <p:cNvSpPr/>
            <p:nvPr/>
          </p:nvSpPr>
          <p:spPr>
            <a:xfrm>
              <a:off x="0" y="97123"/>
              <a:ext cx="370283" cy="3702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5311" y="0"/>
                  </a:lnTo>
                  <a:lnTo>
                    <a:pt x="5311" y="16289"/>
                  </a:lnTo>
                  <a:lnTo>
                    <a:pt x="21600" y="16289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3" name="Freeform 6"/>
            <p:cNvSpPr/>
            <p:nvPr/>
          </p:nvSpPr>
          <p:spPr>
            <a:xfrm>
              <a:off x="91053" y="12140"/>
              <a:ext cx="370283" cy="364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5040"/>
                  </a:move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16289" y="21600"/>
                  </a:lnTo>
                  <a:lnTo>
                    <a:pt x="16289" y="5040"/>
                  </a:lnTo>
                  <a:lnTo>
                    <a:pt x="0" y="504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4" name="Freeform 7"/>
            <p:cNvSpPr/>
            <p:nvPr/>
          </p:nvSpPr>
          <p:spPr>
            <a:xfrm>
              <a:off x="564529" y="12140"/>
              <a:ext cx="212458" cy="194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17897" y="0"/>
                  </a:lnTo>
                  <a:lnTo>
                    <a:pt x="11109" y="10800"/>
                  </a:lnTo>
                  <a:lnTo>
                    <a:pt x="432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320" y="21600"/>
                  </a:lnTo>
                  <a:lnTo>
                    <a:pt x="4320" y="7425"/>
                  </a:lnTo>
                  <a:lnTo>
                    <a:pt x="9874" y="16200"/>
                  </a:lnTo>
                  <a:lnTo>
                    <a:pt x="12343" y="16200"/>
                  </a:lnTo>
                  <a:lnTo>
                    <a:pt x="17897" y="7425"/>
                  </a:lnTo>
                  <a:lnTo>
                    <a:pt x="17897" y="2160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5" name="Freeform 8"/>
            <p:cNvSpPr/>
            <p:nvPr/>
          </p:nvSpPr>
          <p:spPr>
            <a:xfrm>
              <a:off x="880180" y="12140"/>
              <a:ext cx="36422" cy="19424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6" name="Freeform 9"/>
            <p:cNvSpPr/>
            <p:nvPr/>
          </p:nvSpPr>
          <p:spPr>
            <a:xfrm>
              <a:off x="1019794" y="12140"/>
              <a:ext cx="188178" cy="194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5"/>
                  </a:moveTo>
                  <a:lnTo>
                    <a:pt x="21600" y="14850"/>
                  </a:lnTo>
                  <a:lnTo>
                    <a:pt x="17419" y="14850"/>
                  </a:lnTo>
                  <a:lnTo>
                    <a:pt x="17419" y="17550"/>
                  </a:lnTo>
                  <a:lnTo>
                    <a:pt x="4181" y="17550"/>
                  </a:lnTo>
                  <a:lnTo>
                    <a:pt x="4181" y="4050"/>
                  </a:lnTo>
                  <a:lnTo>
                    <a:pt x="17419" y="4050"/>
                  </a:lnTo>
                  <a:lnTo>
                    <a:pt x="17419" y="6075"/>
                  </a:lnTo>
                  <a:lnTo>
                    <a:pt x="21600" y="675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0925"/>
                  </a:lnTo>
                  <a:lnTo>
                    <a:pt x="2090" y="21600"/>
                  </a:lnTo>
                  <a:lnTo>
                    <a:pt x="19510" y="21600"/>
                  </a:lnTo>
                  <a:lnTo>
                    <a:pt x="21600" y="20925"/>
                  </a:lnTo>
                  <a:lnTo>
                    <a:pt x="21600" y="1957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7" name="Freeform 10"/>
            <p:cNvSpPr/>
            <p:nvPr/>
          </p:nvSpPr>
          <p:spPr>
            <a:xfrm>
              <a:off x="1311164" y="12140"/>
              <a:ext cx="194248" cy="194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14850" y="12825"/>
                  </a:lnTo>
                  <a:lnTo>
                    <a:pt x="19575" y="12825"/>
                  </a:lnTo>
                  <a:lnTo>
                    <a:pt x="20925" y="12150"/>
                  </a:lnTo>
                  <a:lnTo>
                    <a:pt x="21600" y="10800"/>
                  </a:lnTo>
                  <a:lnTo>
                    <a:pt x="21600" y="2025"/>
                  </a:lnTo>
                  <a:lnTo>
                    <a:pt x="20925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050" y="21600"/>
                  </a:lnTo>
                  <a:lnTo>
                    <a:pt x="4050" y="12825"/>
                  </a:lnTo>
                  <a:lnTo>
                    <a:pt x="9450" y="12825"/>
                  </a:lnTo>
                  <a:lnTo>
                    <a:pt x="16200" y="21600"/>
                  </a:lnTo>
                  <a:lnTo>
                    <a:pt x="21600" y="21600"/>
                  </a:lnTo>
                  <a:close/>
                  <a:moveTo>
                    <a:pt x="4050" y="4050"/>
                  </a:moveTo>
                  <a:lnTo>
                    <a:pt x="16875" y="4050"/>
                  </a:lnTo>
                  <a:lnTo>
                    <a:pt x="16875" y="8775"/>
                  </a:lnTo>
                  <a:lnTo>
                    <a:pt x="4050" y="8775"/>
                  </a:lnTo>
                  <a:lnTo>
                    <a:pt x="4050" y="405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8" name="Freeform 11"/>
            <p:cNvSpPr/>
            <p:nvPr/>
          </p:nvSpPr>
          <p:spPr>
            <a:xfrm>
              <a:off x="1602534" y="12140"/>
              <a:ext cx="194248" cy="194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5"/>
                  </a:moveTo>
                  <a:lnTo>
                    <a:pt x="21600" y="2025"/>
                  </a:lnTo>
                  <a:lnTo>
                    <a:pt x="20925" y="0"/>
                  </a:lnTo>
                  <a:lnTo>
                    <a:pt x="675" y="0"/>
                  </a:lnTo>
                  <a:lnTo>
                    <a:pt x="0" y="2025"/>
                  </a:lnTo>
                  <a:lnTo>
                    <a:pt x="0" y="19575"/>
                  </a:lnTo>
                  <a:lnTo>
                    <a:pt x="675" y="20925"/>
                  </a:lnTo>
                  <a:lnTo>
                    <a:pt x="2025" y="21600"/>
                  </a:lnTo>
                  <a:lnTo>
                    <a:pt x="19575" y="21600"/>
                  </a:lnTo>
                  <a:lnTo>
                    <a:pt x="20925" y="20925"/>
                  </a:lnTo>
                  <a:lnTo>
                    <a:pt x="21600" y="19575"/>
                  </a:lnTo>
                  <a:close/>
                  <a:moveTo>
                    <a:pt x="4050" y="4050"/>
                  </a:moveTo>
                  <a:lnTo>
                    <a:pt x="17550" y="4050"/>
                  </a:lnTo>
                  <a:lnTo>
                    <a:pt x="17550" y="17550"/>
                  </a:lnTo>
                  <a:lnTo>
                    <a:pt x="4050" y="17550"/>
                  </a:lnTo>
                  <a:lnTo>
                    <a:pt x="4050" y="405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29" name="Freeform 12"/>
            <p:cNvSpPr/>
            <p:nvPr/>
          </p:nvSpPr>
          <p:spPr>
            <a:xfrm>
              <a:off x="564529" y="267089"/>
              <a:ext cx="194247" cy="200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4582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lnTo>
                    <a:pt x="4725" y="21600"/>
                  </a:lnTo>
                  <a:lnTo>
                    <a:pt x="4725" y="13091"/>
                  </a:lnTo>
                  <a:lnTo>
                    <a:pt x="17550" y="13091"/>
                  </a:lnTo>
                  <a:lnTo>
                    <a:pt x="17550" y="8509"/>
                  </a:lnTo>
                  <a:lnTo>
                    <a:pt x="4725" y="8509"/>
                  </a:lnTo>
                  <a:lnTo>
                    <a:pt x="4725" y="4582"/>
                  </a:lnTo>
                  <a:lnTo>
                    <a:pt x="21600" y="4582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30" name="Freeform 13"/>
            <p:cNvSpPr/>
            <p:nvPr/>
          </p:nvSpPr>
          <p:spPr>
            <a:xfrm>
              <a:off x="813407" y="267089"/>
              <a:ext cx="194248" cy="200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2618"/>
                  </a:lnTo>
                  <a:lnTo>
                    <a:pt x="20925" y="655"/>
                  </a:lnTo>
                  <a:lnTo>
                    <a:pt x="19575" y="0"/>
                  </a:lnTo>
                  <a:lnTo>
                    <a:pt x="2025" y="0"/>
                  </a:lnTo>
                  <a:lnTo>
                    <a:pt x="675" y="655"/>
                  </a:lnTo>
                  <a:lnTo>
                    <a:pt x="0" y="2618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025" y="21600"/>
                  </a:lnTo>
                  <a:lnTo>
                    <a:pt x="19575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  <a:moveTo>
                    <a:pt x="4050" y="4582"/>
                  </a:moveTo>
                  <a:lnTo>
                    <a:pt x="17550" y="4582"/>
                  </a:lnTo>
                  <a:lnTo>
                    <a:pt x="17550" y="17018"/>
                  </a:lnTo>
                  <a:lnTo>
                    <a:pt x="4050" y="17018"/>
                  </a:lnTo>
                  <a:lnTo>
                    <a:pt x="4050" y="4582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31" name="Freeform 14"/>
            <p:cNvSpPr/>
            <p:nvPr/>
          </p:nvSpPr>
          <p:spPr>
            <a:xfrm>
              <a:off x="1074426" y="267089"/>
              <a:ext cx="194248" cy="200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14400"/>
                  </a:lnTo>
                  <a:lnTo>
                    <a:pt x="17550" y="15055"/>
                  </a:lnTo>
                  <a:lnTo>
                    <a:pt x="17550" y="17018"/>
                  </a:lnTo>
                  <a:lnTo>
                    <a:pt x="4725" y="17018"/>
                  </a:lnTo>
                  <a:lnTo>
                    <a:pt x="4725" y="4582"/>
                  </a:lnTo>
                  <a:lnTo>
                    <a:pt x="17550" y="4582"/>
                  </a:lnTo>
                  <a:lnTo>
                    <a:pt x="17550" y="6545"/>
                  </a:lnTo>
                  <a:lnTo>
                    <a:pt x="21600" y="7200"/>
                  </a:lnTo>
                  <a:lnTo>
                    <a:pt x="21600" y="2618"/>
                  </a:lnTo>
                  <a:lnTo>
                    <a:pt x="20925" y="655"/>
                  </a:lnTo>
                  <a:lnTo>
                    <a:pt x="19575" y="0"/>
                  </a:lnTo>
                  <a:lnTo>
                    <a:pt x="2700" y="0"/>
                  </a:lnTo>
                  <a:lnTo>
                    <a:pt x="675" y="655"/>
                  </a:lnTo>
                  <a:lnTo>
                    <a:pt x="0" y="2618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700" y="21600"/>
                  </a:lnTo>
                  <a:lnTo>
                    <a:pt x="19575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32" name="Freeform 15"/>
            <p:cNvSpPr/>
            <p:nvPr/>
          </p:nvSpPr>
          <p:spPr>
            <a:xfrm>
              <a:off x="1341515" y="267089"/>
              <a:ext cx="194248" cy="200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0"/>
                  </a:lnTo>
                  <a:lnTo>
                    <a:pt x="16875" y="0"/>
                  </a:lnTo>
                  <a:lnTo>
                    <a:pt x="16875" y="17018"/>
                  </a:lnTo>
                  <a:lnTo>
                    <a:pt x="4050" y="17018"/>
                  </a:lnTo>
                  <a:lnTo>
                    <a:pt x="4050" y="0"/>
                  </a:lnTo>
                  <a:lnTo>
                    <a:pt x="0" y="0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025" y="21600"/>
                  </a:lnTo>
                  <a:lnTo>
                    <a:pt x="18900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  <p:sp>
          <p:nvSpPr>
            <p:cNvPr id="33" name="Freeform 16"/>
            <p:cNvSpPr/>
            <p:nvPr/>
          </p:nvSpPr>
          <p:spPr>
            <a:xfrm>
              <a:off x="1602534" y="267089"/>
              <a:ext cx="194248" cy="200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636"/>
                  </a:moveTo>
                  <a:lnTo>
                    <a:pt x="21600" y="11127"/>
                  </a:lnTo>
                  <a:lnTo>
                    <a:pt x="20925" y="9164"/>
                  </a:lnTo>
                  <a:lnTo>
                    <a:pt x="19575" y="8509"/>
                  </a:lnTo>
                  <a:lnTo>
                    <a:pt x="4050" y="8509"/>
                  </a:lnTo>
                  <a:lnTo>
                    <a:pt x="4050" y="4582"/>
                  </a:lnTo>
                  <a:lnTo>
                    <a:pt x="17550" y="4582"/>
                  </a:lnTo>
                  <a:lnTo>
                    <a:pt x="17550" y="6545"/>
                  </a:lnTo>
                  <a:lnTo>
                    <a:pt x="21600" y="7200"/>
                  </a:lnTo>
                  <a:lnTo>
                    <a:pt x="21600" y="2618"/>
                  </a:lnTo>
                  <a:lnTo>
                    <a:pt x="20925" y="655"/>
                  </a:lnTo>
                  <a:lnTo>
                    <a:pt x="19575" y="0"/>
                  </a:lnTo>
                  <a:lnTo>
                    <a:pt x="2025" y="0"/>
                  </a:lnTo>
                  <a:lnTo>
                    <a:pt x="675" y="655"/>
                  </a:lnTo>
                  <a:lnTo>
                    <a:pt x="0" y="2618"/>
                  </a:lnTo>
                  <a:lnTo>
                    <a:pt x="0" y="10473"/>
                  </a:lnTo>
                  <a:lnTo>
                    <a:pt x="675" y="12436"/>
                  </a:lnTo>
                  <a:lnTo>
                    <a:pt x="2025" y="13091"/>
                  </a:lnTo>
                  <a:lnTo>
                    <a:pt x="17550" y="13091"/>
                  </a:lnTo>
                  <a:lnTo>
                    <a:pt x="17550" y="17018"/>
                  </a:lnTo>
                  <a:lnTo>
                    <a:pt x="4050" y="17018"/>
                  </a:lnTo>
                  <a:lnTo>
                    <a:pt x="4050" y="15055"/>
                  </a:lnTo>
                  <a:lnTo>
                    <a:pt x="0" y="14400"/>
                  </a:lnTo>
                  <a:lnTo>
                    <a:pt x="0" y="19636"/>
                  </a:lnTo>
                  <a:lnTo>
                    <a:pt x="675" y="20945"/>
                  </a:lnTo>
                  <a:lnTo>
                    <a:pt x="2025" y="21600"/>
                  </a:lnTo>
                  <a:lnTo>
                    <a:pt x="19575" y="21600"/>
                  </a:lnTo>
                  <a:lnTo>
                    <a:pt x="20925" y="20945"/>
                  </a:lnTo>
                  <a:lnTo>
                    <a:pt x="21600" y="19636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000000"/>
                </a:solidFill>
              </a:endParaRPr>
            </a:p>
          </p:txBody>
        </p:sp>
        <p:sp>
          <p:nvSpPr>
            <p:cNvPr id="34" name="Freeform 17"/>
            <p:cNvSpPr/>
            <p:nvPr/>
          </p:nvSpPr>
          <p:spPr>
            <a:xfrm>
              <a:off x="1845342" y="0"/>
              <a:ext cx="84984" cy="849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6171" y="20057"/>
                  </a:lnTo>
                  <a:lnTo>
                    <a:pt x="3086" y="18514"/>
                  </a:lnTo>
                  <a:lnTo>
                    <a:pt x="0" y="13886"/>
                  </a:lnTo>
                  <a:lnTo>
                    <a:pt x="0" y="6171"/>
                  </a:lnTo>
                  <a:lnTo>
                    <a:pt x="6171" y="0"/>
                  </a:lnTo>
                  <a:lnTo>
                    <a:pt x="13886" y="0"/>
                  </a:lnTo>
                  <a:lnTo>
                    <a:pt x="18514" y="3086"/>
                  </a:lnTo>
                  <a:lnTo>
                    <a:pt x="20057" y="6171"/>
                  </a:lnTo>
                  <a:lnTo>
                    <a:pt x="21600" y="10800"/>
                  </a:lnTo>
                  <a:lnTo>
                    <a:pt x="20057" y="13886"/>
                  </a:lnTo>
                  <a:lnTo>
                    <a:pt x="18514" y="18514"/>
                  </a:lnTo>
                  <a:lnTo>
                    <a:pt x="13886" y="20057"/>
                  </a:lnTo>
                  <a:lnTo>
                    <a:pt x="10800" y="21600"/>
                  </a:lnTo>
                  <a:close/>
                  <a:moveTo>
                    <a:pt x="10800" y="0"/>
                  </a:moveTo>
                  <a:lnTo>
                    <a:pt x="6171" y="1543"/>
                  </a:lnTo>
                  <a:lnTo>
                    <a:pt x="3086" y="3086"/>
                  </a:lnTo>
                  <a:lnTo>
                    <a:pt x="1543" y="6171"/>
                  </a:lnTo>
                  <a:lnTo>
                    <a:pt x="0" y="10800"/>
                  </a:lnTo>
                  <a:lnTo>
                    <a:pt x="3086" y="16971"/>
                  </a:lnTo>
                  <a:lnTo>
                    <a:pt x="6171" y="18514"/>
                  </a:lnTo>
                  <a:lnTo>
                    <a:pt x="10800" y="20057"/>
                  </a:lnTo>
                  <a:lnTo>
                    <a:pt x="16971" y="16971"/>
                  </a:lnTo>
                  <a:lnTo>
                    <a:pt x="20057" y="10800"/>
                  </a:lnTo>
                  <a:lnTo>
                    <a:pt x="18514" y="6171"/>
                  </a:lnTo>
                  <a:lnTo>
                    <a:pt x="16971" y="3086"/>
                  </a:lnTo>
                  <a:lnTo>
                    <a:pt x="10800" y="0"/>
                  </a:lnTo>
                  <a:close/>
                  <a:moveTo>
                    <a:pt x="12343" y="16971"/>
                  </a:moveTo>
                  <a:lnTo>
                    <a:pt x="10800" y="10800"/>
                  </a:lnTo>
                  <a:lnTo>
                    <a:pt x="7714" y="10800"/>
                  </a:lnTo>
                  <a:lnTo>
                    <a:pt x="7714" y="16971"/>
                  </a:lnTo>
                  <a:lnTo>
                    <a:pt x="6171" y="16971"/>
                  </a:lnTo>
                  <a:lnTo>
                    <a:pt x="6171" y="3086"/>
                  </a:lnTo>
                  <a:lnTo>
                    <a:pt x="10800" y="3086"/>
                  </a:lnTo>
                  <a:lnTo>
                    <a:pt x="13886" y="4629"/>
                  </a:lnTo>
                  <a:lnTo>
                    <a:pt x="13886" y="9257"/>
                  </a:lnTo>
                  <a:lnTo>
                    <a:pt x="12343" y="10800"/>
                  </a:lnTo>
                  <a:lnTo>
                    <a:pt x="13886" y="16971"/>
                  </a:lnTo>
                  <a:lnTo>
                    <a:pt x="12343" y="16971"/>
                  </a:lnTo>
                  <a:close/>
                  <a:moveTo>
                    <a:pt x="7714" y="9257"/>
                  </a:moveTo>
                  <a:lnTo>
                    <a:pt x="12343" y="9257"/>
                  </a:lnTo>
                  <a:lnTo>
                    <a:pt x="12343" y="6171"/>
                  </a:lnTo>
                  <a:lnTo>
                    <a:pt x="9257" y="4629"/>
                  </a:lnTo>
                  <a:lnTo>
                    <a:pt x="7714" y="4629"/>
                  </a:lnTo>
                  <a:lnTo>
                    <a:pt x="7714" y="925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>
                  <a:solidFill>
                    <a:srgbClr val="808080"/>
                  </a:solidFill>
                </a:defRPr>
              </a:pPr>
              <a:endParaRPr dirty="0">
                <a:solidFill>
                  <a:srgbClr val="808080"/>
                </a:solidFill>
              </a:endParaRPr>
            </a:p>
          </p:txBody>
        </p:sp>
      </p:grp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30880" y="3033633"/>
            <a:ext cx="11019382" cy="1318846"/>
          </a:xfrm>
        </p:spPr>
        <p:txBody>
          <a:bodyPr/>
          <a:lstStyle/>
          <a:p>
            <a:r>
              <a:rPr lang="en-US" dirty="0"/>
              <a:t>DCA </a:t>
            </a:r>
            <a:r>
              <a:rPr lang="en-US" dirty="0" smtClean="0"/>
              <a:t>Suite 2018.08 Shared </a:t>
            </a:r>
            <a:r>
              <a:rPr lang="en-US" dirty="0"/>
              <a:t>Demo </a:t>
            </a:r>
            <a:r>
              <a:rPr lang="en-US" dirty="0" smtClean="0"/>
              <a:t>Lab </a:t>
            </a:r>
            <a:r>
              <a:rPr lang="en-US" dirty="0" smtClean="0"/>
              <a:t>Enablement – Level 340</a:t>
            </a:r>
            <a:endParaRPr lang="en-US" sz="36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930880" y="5338229"/>
            <a:ext cx="4270249" cy="431730"/>
          </a:xfrm>
        </p:spPr>
        <p:txBody>
          <a:bodyPr/>
          <a:lstStyle/>
          <a:p>
            <a:r>
              <a:rPr lang="en-US" dirty="0" smtClean="0"/>
              <a:t>August </a:t>
            </a:r>
            <a:r>
              <a:rPr lang="en-US" dirty="0" smtClean="0"/>
              <a:t>29, 2018</a:t>
            </a:r>
          </a:p>
          <a:p>
            <a:endParaRPr lang="en-US" dirty="0"/>
          </a:p>
          <a:p>
            <a:r>
              <a:rPr lang="en-US" dirty="0" smtClean="0"/>
              <a:t>Version: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30880" y="4460358"/>
            <a:ext cx="5074106" cy="769992"/>
          </a:xfrm>
        </p:spPr>
        <p:txBody>
          <a:bodyPr/>
          <a:lstStyle/>
          <a:p>
            <a:r>
              <a:rPr lang="en-US" dirty="0" smtClean="0"/>
              <a:t>Hayden Brown</a:t>
            </a:r>
          </a:p>
          <a:p>
            <a:r>
              <a:rPr lang="en-US" dirty="0" smtClean="0"/>
              <a:t>DCA Suite Demo and Enablement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54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950976" y="1246868"/>
            <a:ext cx="10307575" cy="4440239"/>
          </a:xfrm>
        </p:spPr>
        <p:txBody>
          <a:bodyPr/>
          <a:lstStyle/>
          <a:p>
            <a:r>
              <a:rPr lang="en-US" dirty="0" smtClean="0">
                <a:hlinkClick r:id="rId2" action="ppaction://hlinksldjump"/>
              </a:rPr>
              <a:t>Requesting a demo</a:t>
            </a:r>
          </a:p>
          <a:p>
            <a:r>
              <a:rPr lang="en-US" dirty="0" smtClean="0">
                <a:hlinkClick r:id="rId2" action="ppaction://hlinksldjump"/>
              </a:rPr>
              <a:t>What </a:t>
            </a:r>
            <a:r>
              <a:rPr lang="en-US" dirty="0" smtClean="0">
                <a:hlinkClick r:id="rId2" action="ppaction://hlinksldjump"/>
              </a:rPr>
              <a:t>is NEW in the DCA Suite 2018.08 Shared Demo lab</a:t>
            </a:r>
            <a:endParaRPr lang="en-US" dirty="0" smtClean="0"/>
          </a:p>
          <a:p>
            <a:r>
              <a:rPr lang="en-US" dirty="0" smtClean="0">
                <a:hlinkClick r:id="rId3" action="ppaction://hlinksldjump"/>
              </a:rPr>
              <a:t>DCA Lab </a:t>
            </a:r>
            <a:r>
              <a:rPr lang="en-US" dirty="0" smtClean="0">
                <a:hlinkClick r:id="rId3" action="ppaction://hlinksldjump"/>
              </a:rPr>
              <a:t>Infrastructure</a:t>
            </a:r>
            <a:endParaRPr lang="en-US" dirty="0" smtClean="0"/>
          </a:p>
          <a:p>
            <a:r>
              <a:rPr lang="en-US" dirty="0" smtClean="0">
                <a:hlinkClick r:id="rId4" action="ppaction://hlinksldjump"/>
              </a:rPr>
              <a:t>Access the Lab Environment using the dca-clientapps RDP server</a:t>
            </a:r>
            <a:endParaRPr lang="en-US" dirty="0" smtClean="0"/>
          </a:p>
          <a:p>
            <a:r>
              <a:rPr lang="en-US" dirty="0" smtClean="0">
                <a:hlinkClick r:id="rId5" action="ppaction://hlinksldjump"/>
              </a:rPr>
              <a:t>What is on your Desktop?</a:t>
            </a:r>
            <a:endParaRPr lang="en-US" dirty="0" smtClean="0"/>
          </a:p>
          <a:p>
            <a:r>
              <a:rPr lang="en-US" dirty="0" smtClean="0">
                <a:hlinkClick r:id="rId6" action="ppaction://hlinksldjump"/>
              </a:rPr>
              <a:t>Using </a:t>
            </a:r>
            <a:r>
              <a:rPr lang="en-US" dirty="0" smtClean="0">
                <a:hlinkClick r:id="rId6" action="ppaction://hlinksldjump"/>
              </a:rPr>
              <a:t>the Shared </a:t>
            </a:r>
            <a:r>
              <a:rPr lang="en-US" dirty="0" smtClean="0">
                <a:hlinkClick r:id="rId6" action="ppaction://hlinksldjump"/>
              </a:rPr>
              <a:t>Demo Lab </a:t>
            </a:r>
            <a:r>
              <a:rPr lang="en-US" dirty="0" smtClean="0">
                <a:hlinkClick r:id="rId6" action="ppaction://hlinksldjump"/>
              </a:rPr>
              <a:t>vCenter vSphere Client</a:t>
            </a:r>
            <a:endParaRPr lang="en-US" dirty="0" smtClean="0"/>
          </a:p>
          <a:p>
            <a:r>
              <a:rPr lang="en-US" dirty="0" smtClean="0">
                <a:hlinkClick r:id="rId7" action="ppaction://hlinksldjump"/>
              </a:rPr>
              <a:t>DCA Suite Demo Use Cases:</a:t>
            </a:r>
            <a:endParaRPr lang="en-US" dirty="0" smtClean="0"/>
          </a:p>
          <a:p>
            <a:pPr lvl="1"/>
            <a:r>
              <a:rPr lang="en-US" dirty="0" smtClean="0"/>
              <a:t>Provisioning, Patch, and running Compliance with DCA Suite 2018.08</a:t>
            </a:r>
          </a:p>
          <a:p>
            <a:pPr lvl="1"/>
            <a:r>
              <a:rPr lang="en-US" dirty="0" smtClean="0"/>
              <a:t>DMA 10.60 Ultimate Deployments and what is available to you</a:t>
            </a:r>
          </a:p>
          <a:p>
            <a:r>
              <a:rPr lang="en-US" dirty="0" smtClean="0">
                <a:hlinkClick r:id="rId8" action="ppaction://hlinksldjump"/>
              </a:rPr>
              <a:t>Troubleshooting Resources</a:t>
            </a:r>
            <a:endParaRPr lang="en-US" dirty="0" smtClean="0"/>
          </a:p>
          <a:p>
            <a:r>
              <a:rPr lang="en-US" dirty="0" smtClean="0">
                <a:hlinkClick r:id="rId9" action="ppaction://hlinksldjump"/>
              </a:rPr>
              <a:t>Questions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2263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Requesting a 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517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Access to DCA Shared Demo Lab Environment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9560" y="1236129"/>
            <a:ext cx="11608526" cy="3881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Currently we do not have a reservation system for the DCA Shared Demo Lab Environment.  It is based on need and customer demo requirements.  Shortly we will be </a:t>
            </a:r>
            <a:r>
              <a:rPr lang="en-US" dirty="0" smtClean="0"/>
              <a:t>using </a:t>
            </a:r>
            <a:r>
              <a:rPr lang="en-US" dirty="0" err="1" smtClean="0"/>
              <a:t>Blueshift</a:t>
            </a:r>
            <a:r>
              <a:rPr lang="en-US" dirty="0" smtClean="0"/>
              <a:t> for calendar scheduling and auto reservation.</a:t>
            </a: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For now, all requests for access should be made via email to:  </a:t>
            </a:r>
            <a:r>
              <a:rPr lang="en-US" dirty="0" smtClean="0">
                <a:hlinkClick r:id="rId3"/>
              </a:rPr>
              <a:t>hayden.brown@microfocus.com</a:t>
            </a:r>
            <a:r>
              <a:rPr lang="en-US" dirty="0" smtClean="0"/>
              <a:t> 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All Demo Users will be required to have an </a:t>
            </a:r>
            <a:r>
              <a:rPr lang="en-US" b="1" dirty="0" err="1" smtClean="0"/>
              <a:t>eswdc</a:t>
            </a:r>
            <a:r>
              <a:rPr lang="en-US" dirty="0" smtClean="0"/>
              <a:t> account.   Upon confirmation of reservation, credentials for the environment will be granted.  Steps to login are: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1)  Access RD Gateway server using </a:t>
            </a:r>
            <a:r>
              <a:rPr lang="en-US" b="1" dirty="0" err="1" smtClean="0"/>
              <a:t>eswdc</a:t>
            </a:r>
            <a:r>
              <a:rPr lang="en-US" dirty="0" smtClean="0"/>
              <a:t> account	           2) Provide </a:t>
            </a:r>
            <a:r>
              <a:rPr lang="en-US" b="1" dirty="0" smtClean="0"/>
              <a:t>demo\dcademouserX</a:t>
            </a:r>
            <a:r>
              <a:rPr lang="en-US" dirty="0" smtClean="0"/>
              <a:t> credentials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92653"/>
            <a:ext cx="2850052" cy="22444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057" y="3121459"/>
            <a:ext cx="3183391" cy="27275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8247" y="4126009"/>
            <a:ext cx="2464254" cy="86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91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NEW with DCA Suite Shared Demo Lab Environment?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73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3701143" y="1410153"/>
            <a:ext cx="8210550" cy="4440239"/>
          </a:xfrm>
        </p:spPr>
        <p:txBody>
          <a:bodyPr/>
          <a:lstStyle/>
          <a:p>
            <a:r>
              <a:rPr lang="en-US" dirty="0" smtClean="0"/>
              <a:t>Updated versions:  </a:t>
            </a:r>
            <a:r>
              <a:rPr lang="en-US" b="1" dirty="0" smtClean="0"/>
              <a:t>DCA Suite 2018.08  Premium and DMA 10.60 Ultimate</a:t>
            </a:r>
            <a:endParaRPr lang="en-US" dirty="0" smtClean="0"/>
          </a:p>
          <a:p>
            <a:r>
              <a:rPr lang="en-US" dirty="0" smtClean="0"/>
              <a:t>Simply to login and use</a:t>
            </a:r>
          </a:p>
          <a:p>
            <a:r>
              <a:rPr lang="en-US" dirty="0" smtClean="0"/>
              <a:t>Simulate a real data center</a:t>
            </a:r>
          </a:p>
          <a:p>
            <a:pPr lvl="1"/>
            <a:r>
              <a:rPr lang="en-US" dirty="0" smtClean="0"/>
              <a:t>More resources and types of resources</a:t>
            </a:r>
          </a:p>
          <a:p>
            <a:r>
              <a:rPr lang="en-US" dirty="0" smtClean="0"/>
              <a:t>Integrated SA, DMA Ultimate, Puppet, VM vCenter</a:t>
            </a:r>
          </a:p>
          <a:p>
            <a:r>
              <a:rPr lang="en-US" dirty="0" smtClean="0"/>
              <a:t>Full vCenter access for target server reverts and booting </a:t>
            </a:r>
            <a:r>
              <a:rPr lang="en-US" dirty="0" smtClean="0"/>
              <a:t>control.</a:t>
            </a:r>
            <a:endParaRPr lang="en-US" dirty="0" smtClean="0"/>
          </a:p>
          <a:p>
            <a:r>
              <a:rPr lang="en-US" dirty="0" smtClean="0"/>
              <a:t>Faster!</a:t>
            </a:r>
          </a:p>
          <a:p>
            <a:pPr lvl="1"/>
            <a:r>
              <a:rPr lang="en-US" sz="2000" dirty="0" smtClean="0"/>
              <a:t>Faster to demo</a:t>
            </a:r>
          </a:p>
          <a:p>
            <a:pPr lvl="3"/>
            <a:r>
              <a:rPr lang="en-US" sz="2000" dirty="0" smtClean="0"/>
              <a:t>Faster to revert and re-demo</a:t>
            </a:r>
          </a:p>
          <a:p>
            <a:pPr lvl="4"/>
            <a:r>
              <a:rPr lang="en-US" sz="2000" dirty="0" smtClean="0"/>
              <a:t>Just plain FASTER!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46786" y="441973"/>
            <a:ext cx="10864214" cy="1080000"/>
          </a:xfrm>
        </p:spPr>
        <p:txBody>
          <a:bodyPr/>
          <a:lstStyle/>
          <a:p>
            <a:r>
              <a:rPr lang="en-US" dirty="0" smtClean="0"/>
              <a:t>What is new in the DCA Suite 2018.08 Shared Demo Lab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7697"/>
            <a:ext cx="2895600" cy="1476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899150"/>
            <a:ext cx="4985658" cy="914400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 sz="2400" dirty="0" smtClean="0"/>
              <a:t>Installed in the lab on August 23, 2018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5802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 Center Automation Suite 2018.08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1869184"/>
            <a:ext cx="10122946" cy="3881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DCA performs compliance, patching, and provisioning on OS, DB, and MW. DCA can manage agentless, or agent based resources including Puppet managed nodes.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In this Lab environment we will be using the UI to perform compliance audit and remediation of RHEL OS and ORACLE DB on SA agent resources.</a:t>
            </a:r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Perform both static and dynamic patching of RHEL servers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You can also run compliance audit and remediation on Windows servers as well.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We have integrated Puppet Server and two Puppet nodes for compliance scanning only!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5880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DCA Lab Infrastructure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18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</a:t>
            </a:r>
            <a:r>
              <a:rPr lang="en-US" dirty="0" smtClean="0"/>
              <a:t>Automation – Foundation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>
                <a:solidFill>
                  <a:prstClr val="white">
                    <a:lumMod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white">
                  <a:lumMod val="75000"/>
                </a:prstClr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1129188" y="1580712"/>
            <a:ext cx="8568951" cy="4656599"/>
            <a:chOff x="609441" y="1692186"/>
            <a:chExt cx="4766479" cy="3176974"/>
          </a:xfrm>
        </p:grpSpPr>
        <p:sp>
          <p:nvSpPr>
            <p:cNvPr id="49" name="Rectangle 48"/>
            <p:cNvSpPr/>
            <p:nvPr/>
          </p:nvSpPr>
          <p:spPr bwMode="ltGray">
            <a:xfrm>
              <a:off x="609441" y="1772816"/>
              <a:ext cx="4766479" cy="309634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dirty="0" err="1" smtClean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465" y="1692186"/>
              <a:ext cx="1846069" cy="1511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/>
                <a:t> Core - Container Deployment Foundation</a:t>
              </a:r>
              <a:endParaRPr lang="en-US" sz="1600" dirty="0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1273202" y="2572449"/>
            <a:ext cx="8208913" cy="2944783"/>
            <a:chOff x="335360" y="2572449"/>
            <a:chExt cx="5328592" cy="2368719"/>
          </a:xfrm>
        </p:grpSpPr>
        <p:sp>
          <p:nvSpPr>
            <p:cNvPr id="52" name="Rectangle 51"/>
            <p:cNvSpPr/>
            <p:nvPr/>
          </p:nvSpPr>
          <p:spPr bwMode="ltGray">
            <a:xfrm>
              <a:off x="335360" y="2644365"/>
              <a:ext cx="5328592" cy="229680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dirty="0" err="1" smtClean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3629" y="2572449"/>
              <a:ext cx="1077570" cy="1507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/>
                <a:t>Suite </a:t>
              </a:r>
              <a:r>
                <a:rPr lang="mr-IN" altLang="zh-CN" sz="1600" dirty="0" smtClean="0"/>
                <a:t>–</a:t>
              </a:r>
              <a:r>
                <a:rPr lang="zh-CN" altLang="en-US" sz="1600" dirty="0" smtClean="0"/>
                <a:t> </a:t>
              </a:r>
              <a:r>
                <a:rPr lang="en-US" altLang="zh-CN" sz="1600" dirty="0" smtClean="0"/>
                <a:t>Deployment</a:t>
              </a:r>
              <a:endParaRPr lang="en-US" sz="1600" dirty="0"/>
            </a:p>
          </p:txBody>
        </p:sp>
      </p:grpSp>
      <p:sp>
        <p:nvSpPr>
          <p:cNvPr id="54" name="Rectangle 53"/>
          <p:cNvSpPr/>
          <p:nvPr/>
        </p:nvSpPr>
        <p:spPr bwMode="ltGray">
          <a:xfrm>
            <a:off x="8688008" y="2015067"/>
            <a:ext cx="690921" cy="123081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IDM</a:t>
            </a:r>
            <a:endParaRPr lang="en-US" dirty="0" smtClean="0"/>
          </a:p>
        </p:txBody>
      </p:sp>
      <p:sp>
        <p:nvSpPr>
          <p:cNvPr id="55" name="Rectangle 54"/>
          <p:cNvSpPr/>
          <p:nvPr/>
        </p:nvSpPr>
        <p:spPr bwMode="ltGray">
          <a:xfrm>
            <a:off x="5454155" y="4744585"/>
            <a:ext cx="1862905" cy="557931"/>
          </a:xfrm>
          <a:prstGeom prst="rect">
            <a:avLst/>
          </a:prstGeom>
          <a:solidFill>
            <a:srgbClr val="00A6DE"/>
          </a:solidFill>
          <a:ln w="19050">
            <a:solidFill>
              <a:srgbClr val="00A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1600" dirty="0" err="1" smtClean="0"/>
              <a:t>uCMDB</a:t>
            </a:r>
            <a:endParaRPr lang="en-US" sz="1600" dirty="0" smtClean="0"/>
          </a:p>
        </p:txBody>
      </p:sp>
      <p:sp>
        <p:nvSpPr>
          <p:cNvPr id="56" name="Rectangle 55"/>
          <p:cNvSpPr/>
          <p:nvPr/>
        </p:nvSpPr>
        <p:spPr bwMode="ltGray">
          <a:xfrm>
            <a:off x="5454155" y="2010792"/>
            <a:ext cx="2304256" cy="57106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dirty="0" smtClean="0"/>
              <a:t>NGINX</a:t>
            </a:r>
          </a:p>
        </p:txBody>
      </p:sp>
      <p:sp>
        <p:nvSpPr>
          <p:cNvPr id="57" name="Rectangle 56"/>
          <p:cNvSpPr/>
          <p:nvPr/>
        </p:nvSpPr>
        <p:spPr bwMode="ltGray">
          <a:xfrm>
            <a:off x="1367109" y="1930790"/>
            <a:ext cx="2431519" cy="154995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dirty="0" err="1" smtClean="0"/>
          </a:p>
        </p:txBody>
      </p:sp>
      <p:sp>
        <p:nvSpPr>
          <p:cNvPr id="58" name="Rectangle 57"/>
          <p:cNvSpPr/>
          <p:nvPr/>
        </p:nvSpPr>
        <p:spPr bwMode="ltGray">
          <a:xfrm>
            <a:off x="1504145" y="2060848"/>
            <a:ext cx="2188747" cy="41034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Cluster admin</a:t>
            </a:r>
            <a:endParaRPr lang="en-US" dirty="0" smtClean="0"/>
          </a:p>
        </p:txBody>
      </p:sp>
      <p:sp>
        <p:nvSpPr>
          <p:cNvPr id="59" name="Rectangle 58"/>
          <p:cNvSpPr/>
          <p:nvPr/>
        </p:nvSpPr>
        <p:spPr bwMode="ltGray">
          <a:xfrm>
            <a:off x="1497402" y="2874640"/>
            <a:ext cx="2188747" cy="41034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Deployment admin</a:t>
            </a:r>
            <a:endParaRPr lang="en-US" dirty="0" smtClean="0"/>
          </a:p>
        </p:txBody>
      </p:sp>
      <p:sp>
        <p:nvSpPr>
          <p:cNvPr id="60" name="TextBox 59"/>
          <p:cNvSpPr txBox="1"/>
          <p:nvPr/>
        </p:nvSpPr>
        <p:spPr>
          <a:xfrm>
            <a:off x="1502758" y="1810869"/>
            <a:ext cx="1174916" cy="2215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600" dirty="0" smtClean="0"/>
              <a:t>Mgmt-Portal</a:t>
            </a:r>
            <a:endParaRPr lang="en-US" sz="1600" dirty="0"/>
          </a:p>
        </p:txBody>
      </p:sp>
      <p:sp>
        <p:nvSpPr>
          <p:cNvPr id="67" name="Rectangle 66"/>
          <p:cNvSpPr/>
          <p:nvPr/>
        </p:nvSpPr>
        <p:spPr bwMode="ltGray">
          <a:xfrm>
            <a:off x="1398440" y="5614288"/>
            <a:ext cx="7980489" cy="366371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Kubernetes</a:t>
            </a:r>
            <a:r>
              <a:rPr lang="en-US" altLang="zh-CN" dirty="0"/>
              <a:t>,</a:t>
            </a:r>
            <a:r>
              <a:rPr lang="en-US" altLang="zh-CN" dirty="0" smtClean="0"/>
              <a:t> Docker, ETCD</a:t>
            </a:r>
            <a:endParaRPr lang="en-US" dirty="0" smtClean="0"/>
          </a:p>
        </p:txBody>
      </p:sp>
      <p:sp>
        <p:nvSpPr>
          <p:cNvPr id="68" name="Rectangle 67"/>
          <p:cNvSpPr/>
          <p:nvPr/>
        </p:nvSpPr>
        <p:spPr bwMode="ltGray">
          <a:xfrm>
            <a:off x="4904688" y="3727555"/>
            <a:ext cx="1404895" cy="76647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License Server (AutoPass)</a:t>
            </a:r>
            <a:endParaRPr lang="en-US" dirty="0" smtClean="0"/>
          </a:p>
        </p:txBody>
      </p:sp>
      <p:sp>
        <p:nvSpPr>
          <p:cNvPr id="69" name="Rectangle 68"/>
          <p:cNvSpPr/>
          <p:nvPr/>
        </p:nvSpPr>
        <p:spPr bwMode="ltGray">
          <a:xfrm>
            <a:off x="3401097" y="4748837"/>
            <a:ext cx="1862905" cy="54684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/>
              <a:t>Analytic DB (Vertica)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1574868" y="4012598"/>
            <a:ext cx="1008000" cy="720008"/>
            <a:chOff x="1847528" y="2132856"/>
            <a:chExt cx="1008000" cy="720008"/>
          </a:xfrm>
        </p:grpSpPr>
        <p:sp>
          <p:nvSpPr>
            <p:cNvPr id="72" name="Incident"/>
            <p:cNvSpPr/>
            <p:nvPr/>
          </p:nvSpPr>
          <p:spPr>
            <a:xfrm>
              <a:off x="1847528" y="2204864"/>
              <a:ext cx="1008000" cy="648000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Capability 1</a:t>
              </a:r>
            </a:p>
          </p:txBody>
        </p:sp>
        <p:sp>
          <p:nvSpPr>
            <p:cNvPr id="73" name="Incident"/>
            <p:cNvSpPr/>
            <p:nvPr/>
          </p:nvSpPr>
          <p:spPr>
            <a:xfrm flipH="1">
              <a:off x="2711623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Incident"/>
            <p:cNvSpPr/>
            <p:nvPr/>
          </p:nvSpPr>
          <p:spPr>
            <a:xfrm flipH="1">
              <a:off x="2590578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1727268" y="4164998"/>
            <a:ext cx="1008000" cy="720008"/>
            <a:chOff x="1847528" y="2132856"/>
            <a:chExt cx="1008000" cy="720008"/>
          </a:xfrm>
        </p:grpSpPr>
        <p:sp>
          <p:nvSpPr>
            <p:cNvPr id="76" name="Incident"/>
            <p:cNvSpPr/>
            <p:nvPr/>
          </p:nvSpPr>
          <p:spPr>
            <a:xfrm>
              <a:off x="1847528" y="2204864"/>
              <a:ext cx="1008000" cy="648000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Capability 2</a:t>
              </a:r>
            </a:p>
          </p:txBody>
        </p:sp>
        <p:sp>
          <p:nvSpPr>
            <p:cNvPr id="77" name="Incident"/>
            <p:cNvSpPr/>
            <p:nvPr/>
          </p:nvSpPr>
          <p:spPr>
            <a:xfrm flipH="1">
              <a:off x="2711623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Incident"/>
            <p:cNvSpPr/>
            <p:nvPr/>
          </p:nvSpPr>
          <p:spPr>
            <a:xfrm flipH="1">
              <a:off x="2590578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1879668" y="4317398"/>
            <a:ext cx="1008000" cy="720008"/>
            <a:chOff x="1847528" y="2132856"/>
            <a:chExt cx="1008000" cy="720008"/>
          </a:xfrm>
        </p:grpSpPr>
        <p:sp>
          <p:nvSpPr>
            <p:cNvPr id="80" name="Incident"/>
            <p:cNvSpPr/>
            <p:nvPr/>
          </p:nvSpPr>
          <p:spPr>
            <a:xfrm>
              <a:off x="1847528" y="2204864"/>
              <a:ext cx="1008000" cy="648000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Capability 3</a:t>
              </a:r>
            </a:p>
          </p:txBody>
        </p:sp>
        <p:sp>
          <p:nvSpPr>
            <p:cNvPr id="81" name="Incident"/>
            <p:cNvSpPr/>
            <p:nvPr/>
          </p:nvSpPr>
          <p:spPr>
            <a:xfrm flipH="1">
              <a:off x="2711623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Incident"/>
            <p:cNvSpPr/>
            <p:nvPr/>
          </p:nvSpPr>
          <p:spPr>
            <a:xfrm flipH="1">
              <a:off x="2590578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2032068" y="4469798"/>
            <a:ext cx="1008000" cy="720008"/>
            <a:chOff x="1847528" y="2132856"/>
            <a:chExt cx="1008000" cy="720008"/>
          </a:xfrm>
        </p:grpSpPr>
        <p:sp>
          <p:nvSpPr>
            <p:cNvPr id="84" name="Incident"/>
            <p:cNvSpPr/>
            <p:nvPr/>
          </p:nvSpPr>
          <p:spPr>
            <a:xfrm>
              <a:off x="1847528" y="2204864"/>
              <a:ext cx="1008000" cy="648000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Capability 4</a:t>
              </a:r>
            </a:p>
          </p:txBody>
        </p:sp>
        <p:sp>
          <p:nvSpPr>
            <p:cNvPr id="85" name="Incident"/>
            <p:cNvSpPr/>
            <p:nvPr/>
          </p:nvSpPr>
          <p:spPr>
            <a:xfrm flipH="1">
              <a:off x="2711623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Incident"/>
            <p:cNvSpPr/>
            <p:nvPr/>
          </p:nvSpPr>
          <p:spPr>
            <a:xfrm flipH="1">
              <a:off x="2590578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2184468" y="4622198"/>
            <a:ext cx="1008000" cy="720008"/>
            <a:chOff x="1847528" y="2132856"/>
            <a:chExt cx="1008000" cy="720008"/>
          </a:xfrm>
        </p:grpSpPr>
        <p:sp>
          <p:nvSpPr>
            <p:cNvPr id="88" name="Incident"/>
            <p:cNvSpPr/>
            <p:nvPr/>
          </p:nvSpPr>
          <p:spPr>
            <a:xfrm>
              <a:off x="1847528" y="2204864"/>
              <a:ext cx="1008000" cy="648000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100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Capability 5</a:t>
              </a:r>
            </a:p>
          </p:txBody>
        </p:sp>
        <p:sp>
          <p:nvSpPr>
            <p:cNvPr id="89" name="Incident"/>
            <p:cNvSpPr/>
            <p:nvPr/>
          </p:nvSpPr>
          <p:spPr>
            <a:xfrm flipH="1">
              <a:off x="2711623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Incident"/>
            <p:cNvSpPr/>
            <p:nvPr/>
          </p:nvSpPr>
          <p:spPr>
            <a:xfrm flipH="1">
              <a:off x="2590578" y="2132856"/>
              <a:ext cx="72008" cy="161946"/>
            </a:xfrm>
            <a:prstGeom prst="rect">
              <a:avLst/>
            </a:prstGeom>
            <a:solidFill>
              <a:srgbClr val="00A6DE"/>
            </a:solidFill>
            <a:ln w="1270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90000"/>
                </a:lnSpc>
              </a:pPr>
              <a:endParaRPr lang="en-US" sz="11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Footer Placeholder 5"/>
          <p:cNvSpPr txBox="1">
            <a:spLocks/>
          </p:cNvSpPr>
          <p:nvPr/>
        </p:nvSpPr>
        <p:spPr>
          <a:xfrm>
            <a:off x="5238572" y="6549083"/>
            <a:ext cx="1728192" cy="25580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</a:rPr>
              <a:t>Micro Focus Confidential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Rectangle 42"/>
          <p:cNvSpPr/>
          <p:nvPr/>
        </p:nvSpPr>
        <p:spPr bwMode="ltGray">
          <a:xfrm>
            <a:off x="6361100" y="2098693"/>
            <a:ext cx="1312215" cy="41034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 smtClean="0"/>
              <a:t>Core Ingress</a:t>
            </a:r>
            <a:endParaRPr lang="en-US" sz="1400" dirty="0" smtClean="0"/>
          </a:p>
        </p:txBody>
      </p:sp>
      <p:sp>
        <p:nvSpPr>
          <p:cNvPr id="45" name="Rectangle 44"/>
          <p:cNvSpPr/>
          <p:nvPr/>
        </p:nvSpPr>
        <p:spPr bwMode="ltGray">
          <a:xfrm>
            <a:off x="10054706" y="4492240"/>
            <a:ext cx="1585910" cy="800399"/>
          </a:xfrm>
          <a:prstGeom prst="rect">
            <a:avLst/>
          </a:prstGeom>
          <a:solidFill>
            <a:schemeClr val="accent6"/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Analytic DB (Vertica)</a:t>
            </a:r>
            <a:endParaRPr 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9958951" y="4069317"/>
            <a:ext cx="879664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sz="1467" b="1" dirty="0" smtClean="0">
                <a:latin typeface="+mn-lt"/>
                <a:ea typeface="Roboto Light" charset="0"/>
                <a:cs typeface="Roboto Light" charset="0"/>
              </a:rPr>
              <a:t>External:</a:t>
            </a:r>
          </a:p>
        </p:txBody>
      </p:sp>
      <p:sp>
        <p:nvSpPr>
          <p:cNvPr id="63" name="Rectangle 62"/>
          <p:cNvSpPr/>
          <p:nvPr/>
        </p:nvSpPr>
        <p:spPr bwMode="ltGray">
          <a:xfrm>
            <a:off x="7974034" y="3732625"/>
            <a:ext cx="1404895" cy="769403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Message Bus</a:t>
            </a:r>
            <a:br>
              <a:rPr lang="en-US" altLang="zh-CN" dirty="0" smtClean="0"/>
            </a:br>
            <a:r>
              <a:rPr lang="en-US" altLang="zh-CN" sz="1600" dirty="0" smtClean="0"/>
              <a:t>(Kafka HA)</a:t>
            </a:r>
            <a:endParaRPr lang="en-US" sz="1600" dirty="0" smtClean="0"/>
          </a:p>
        </p:txBody>
      </p:sp>
      <p:sp>
        <p:nvSpPr>
          <p:cNvPr id="66" name="Rectangle 65"/>
          <p:cNvSpPr/>
          <p:nvPr/>
        </p:nvSpPr>
        <p:spPr bwMode="ltGray">
          <a:xfrm>
            <a:off x="7850209" y="2021275"/>
            <a:ext cx="737271" cy="123081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Vault</a:t>
            </a:r>
            <a:endParaRPr lang="en-US" dirty="0" smtClean="0"/>
          </a:p>
        </p:txBody>
      </p:sp>
      <p:sp>
        <p:nvSpPr>
          <p:cNvPr id="70" name="Rectangle 69"/>
          <p:cNvSpPr/>
          <p:nvPr/>
        </p:nvSpPr>
        <p:spPr bwMode="ltGray">
          <a:xfrm>
            <a:off x="3395675" y="3727555"/>
            <a:ext cx="1379235" cy="77447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Distr. Cfg Store</a:t>
            </a:r>
            <a:br>
              <a:rPr lang="en-US" altLang="zh-CN" dirty="0" smtClean="0"/>
            </a:br>
            <a:r>
              <a:rPr lang="en-US" altLang="zh-CN" sz="1600" dirty="0" smtClean="0"/>
              <a:t>(Zookeeper)</a:t>
            </a:r>
            <a:endParaRPr lang="en-US" dirty="0" smtClean="0"/>
          </a:p>
        </p:txBody>
      </p:sp>
      <p:sp>
        <p:nvSpPr>
          <p:cNvPr id="92" name="Rectangle 91"/>
          <p:cNvSpPr/>
          <p:nvPr/>
        </p:nvSpPr>
        <p:spPr bwMode="ltGray">
          <a:xfrm>
            <a:off x="5437641" y="2743567"/>
            <a:ext cx="2310796" cy="48373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dirty="0" smtClean="0"/>
              <a:t>NGINX</a:t>
            </a:r>
          </a:p>
        </p:txBody>
      </p:sp>
      <p:sp>
        <p:nvSpPr>
          <p:cNvPr id="44" name="Rectangle 43"/>
          <p:cNvSpPr/>
          <p:nvPr/>
        </p:nvSpPr>
        <p:spPr bwMode="ltGray">
          <a:xfrm>
            <a:off x="6351126" y="2767672"/>
            <a:ext cx="1312215" cy="410344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1400" dirty="0" smtClean="0"/>
              <a:t>DCA Ingress</a:t>
            </a:r>
            <a:endParaRPr lang="en-US" sz="1400" dirty="0" smtClean="0"/>
          </a:p>
        </p:txBody>
      </p:sp>
      <p:sp>
        <p:nvSpPr>
          <p:cNvPr id="62" name="Rectangle 61"/>
          <p:cNvSpPr/>
          <p:nvPr/>
        </p:nvSpPr>
        <p:spPr bwMode="ltGray">
          <a:xfrm>
            <a:off x="10041878" y="5434494"/>
            <a:ext cx="1585910" cy="800399"/>
          </a:xfrm>
          <a:prstGeom prst="rect">
            <a:avLst/>
          </a:prstGeom>
          <a:solidFill>
            <a:schemeClr val="accent6"/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Reporting</a:t>
            </a:r>
            <a:br>
              <a:rPr lang="en-US" altLang="zh-CN" dirty="0" smtClean="0"/>
            </a:br>
            <a:r>
              <a:rPr lang="en-US" altLang="zh-CN" sz="1600" dirty="0" smtClean="0"/>
              <a:t>(OBR)</a:t>
            </a:r>
            <a:endParaRPr lang="en-US" sz="1600" dirty="0" smtClean="0"/>
          </a:p>
        </p:txBody>
      </p:sp>
      <p:sp>
        <p:nvSpPr>
          <p:cNvPr id="93" name="Rectangle 92"/>
          <p:cNvSpPr/>
          <p:nvPr/>
        </p:nvSpPr>
        <p:spPr bwMode="ltGray">
          <a:xfrm>
            <a:off x="7507213" y="4750555"/>
            <a:ext cx="1872979" cy="550653"/>
          </a:xfrm>
          <a:prstGeom prst="rect">
            <a:avLst/>
          </a:prstGeom>
          <a:solidFill>
            <a:srgbClr val="00A6DE"/>
          </a:solidFill>
          <a:ln w="19050">
            <a:solidFill>
              <a:srgbClr val="00A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Operations Orchestration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 bwMode="ltGray">
          <a:xfrm>
            <a:off x="6439361" y="3727555"/>
            <a:ext cx="1404895" cy="76647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Postgres Admin</a:t>
            </a:r>
            <a:endParaRPr lang="en-US" dirty="0" smtClean="0"/>
          </a:p>
        </p:txBody>
      </p:sp>
      <p:sp>
        <p:nvSpPr>
          <p:cNvPr id="91" name="Rectangle 90"/>
          <p:cNvSpPr/>
          <p:nvPr/>
        </p:nvSpPr>
        <p:spPr bwMode="ltGray">
          <a:xfrm>
            <a:off x="3928921" y="2015067"/>
            <a:ext cx="737271" cy="121223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PG DB</a:t>
            </a:r>
          </a:p>
          <a:p>
            <a:pPr algn="ctr">
              <a:lnSpc>
                <a:spcPct val="90000"/>
              </a:lnSpc>
            </a:pPr>
            <a:r>
              <a:rPr lang="en-US" dirty="0" smtClean="0"/>
              <a:t>(HA)</a:t>
            </a:r>
          </a:p>
        </p:txBody>
      </p:sp>
      <p:sp>
        <p:nvSpPr>
          <p:cNvPr id="94" name="Rectangle 93"/>
          <p:cNvSpPr/>
          <p:nvPr/>
        </p:nvSpPr>
        <p:spPr bwMode="ltGray">
          <a:xfrm>
            <a:off x="4748325" y="2015067"/>
            <a:ext cx="633823" cy="1212235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PG Pool</a:t>
            </a:r>
          </a:p>
          <a:p>
            <a:pPr algn="ctr">
              <a:lnSpc>
                <a:spcPct val="90000"/>
              </a:lnSpc>
            </a:pPr>
            <a:r>
              <a:rPr lang="en-US" dirty="0" smtClean="0"/>
              <a:t>(HA)</a:t>
            </a:r>
          </a:p>
        </p:txBody>
      </p:sp>
      <p:sp>
        <p:nvSpPr>
          <p:cNvPr id="65" name="Rectangle 64"/>
          <p:cNvSpPr/>
          <p:nvPr/>
        </p:nvSpPr>
        <p:spPr bwMode="ltGray">
          <a:xfrm>
            <a:off x="9993325" y="1220876"/>
            <a:ext cx="1585910" cy="8003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Server Automaton (SA)</a:t>
            </a:r>
            <a:endParaRPr lang="en-US" dirty="0" smtClean="0"/>
          </a:p>
        </p:txBody>
      </p:sp>
      <p:sp>
        <p:nvSpPr>
          <p:cNvPr id="95" name="TextBox 94"/>
          <p:cNvSpPr txBox="1"/>
          <p:nvPr/>
        </p:nvSpPr>
        <p:spPr>
          <a:xfrm>
            <a:off x="9870473" y="760921"/>
            <a:ext cx="1125373" cy="318100"/>
          </a:xfrm>
          <a:prstGeom prst="rect">
            <a:avLst/>
          </a:prstGeom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/>
            <a:r>
              <a:rPr lang="en-US" sz="1467" b="1" dirty="0" smtClean="0">
                <a:latin typeface="+mn-lt"/>
                <a:ea typeface="Roboto Light" charset="0"/>
                <a:cs typeface="Roboto Light" charset="0"/>
              </a:rPr>
              <a:t>Integrations</a:t>
            </a:r>
          </a:p>
        </p:txBody>
      </p:sp>
      <p:sp>
        <p:nvSpPr>
          <p:cNvPr id="96" name="Rectangle 95"/>
          <p:cNvSpPr/>
          <p:nvPr/>
        </p:nvSpPr>
        <p:spPr bwMode="ltGray">
          <a:xfrm>
            <a:off x="9993325" y="2106433"/>
            <a:ext cx="1585910" cy="8003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altLang="zh-CN" dirty="0" smtClean="0"/>
              <a:t>Puppet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970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 “Demo/POC” DCA Suite 2018.08 installation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68" y="1254759"/>
            <a:ext cx="790575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37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Lab infrastructure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0939" y="1475046"/>
            <a:ext cx="9842413" cy="3881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Full SA 10.60 with patch SRVA_0245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OS provisioning:  RHEL, SUSE, Ubuntu, CentOS, W2K8R2, W2K12R2, W2K16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Patching RHEL 7, Windows 2008R2, 2012R2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OS Compliance – Full set from Marketplace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Software policies for Linux and Windows applications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DMA 10.60 Ultimate (Note: Still only 10.50 content)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Oracle provision, DB create, patching, rollback for 11G and 12C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MS SQL provision, DB create, patching, rollback for 2008R2 and 2012 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MySQL provision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JBOSS provision software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DCA Suite 2018.08 Premium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Provisioning, Patching (RHEL), and Compliance (OS and Oracle)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vCenter 6.0 under SA 10.60 management for provisioning vms using OSBP and full SA feature set.</a:t>
            </a:r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10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DCA Shared Demo Lab Configuration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Tasks which can be done in the Shared Demo DCA Suite 2018.08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57644" y="1869184"/>
            <a:ext cx="10737669" cy="3881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Provision through SA Linux and Windows servers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Complete through SA  full OSBP or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Bring into OSBP Maintenance mode and complete provisioning from DCA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Use DMA 10.60 Ultimate to provision/Patch Oracle 12C and Database, MS SQL,  or provision JBOSS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Created a RHEL resource group and added the RHEL Servers to the Group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Add PCI/CIS Policy and Maintenance Schedule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Ran Discovery on the RHEL Servers to discover the ORACLE DBs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Run compliance on Windows, RHEL, CentOS, and Oracle Servers.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Create Policy for RHEL Patching</a:t>
            </a:r>
          </a:p>
          <a:p>
            <a:pPr marL="800089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Add Meltdown and Spectre </a:t>
            </a:r>
            <a:r>
              <a:rPr lang="en-US" dirty="0" smtClean="0"/>
              <a:t>Benchmarks </a:t>
            </a:r>
            <a:r>
              <a:rPr lang="en-US" dirty="0"/>
              <a:t>(Patching</a:t>
            </a:r>
            <a:r>
              <a:rPr lang="en-US" dirty="0" smtClean="0"/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Attach Patch Policy to RHEL Resource group and scan/remediate patches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455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04"/>
          <p:cNvSpPr>
            <a:spLocks noChangeArrowheads="1"/>
          </p:cNvSpPr>
          <p:nvPr/>
        </p:nvSpPr>
        <p:spPr bwMode="auto">
          <a:xfrm>
            <a:off x="3544363" y="2703584"/>
            <a:ext cx="4457622" cy="3450700"/>
          </a:xfrm>
          <a:prstGeom prst="rect">
            <a:avLst/>
          </a:prstGeom>
          <a:solidFill>
            <a:srgbClr val="FFFF99">
              <a:alpha val="78822"/>
            </a:srgb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37" name="Rectangle 104"/>
          <p:cNvSpPr>
            <a:spLocks noChangeArrowheads="1"/>
          </p:cNvSpPr>
          <p:nvPr/>
        </p:nvSpPr>
        <p:spPr bwMode="auto">
          <a:xfrm>
            <a:off x="10253484" y="2711287"/>
            <a:ext cx="1848444" cy="3450700"/>
          </a:xfrm>
          <a:prstGeom prst="rect">
            <a:avLst/>
          </a:prstGeom>
          <a:solidFill>
            <a:schemeClr val="tx2">
              <a:lumMod val="75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69" name="Rectangle 104"/>
          <p:cNvSpPr>
            <a:spLocks noChangeArrowheads="1"/>
          </p:cNvSpPr>
          <p:nvPr/>
        </p:nvSpPr>
        <p:spPr bwMode="auto">
          <a:xfrm>
            <a:off x="8131092" y="2711237"/>
            <a:ext cx="1996510" cy="3450700"/>
          </a:xfrm>
          <a:prstGeom prst="rect">
            <a:avLst/>
          </a:prstGeom>
          <a:solidFill>
            <a:schemeClr val="accent3">
              <a:lumMod val="20000"/>
              <a:lumOff val="80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54" name="Group 112"/>
          <p:cNvGrpSpPr>
            <a:grpSpLocks/>
          </p:cNvGrpSpPr>
          <p:nvPr/>
        </p:nvGrpSpPr>
        <p:grpSpPr bwMode="auto">
          <a:xfrm>
            <a:off x="10397243" y="1764755"/>
            <a:ext cx="692092" cy="695985"/>
            <a:chOff x="1051" y="1470"/>
            <a:chExt cx="166" cy="331"/>
          </a:xfrm>
        </p:grpSpPr>
        <p:sp>
          <p:nvSpPr>
            <p:cNvPr id="455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012" y="-2084"/>
            <a:ext cx="1334756" cy="77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88" name="Straight Connector 487"/>
          <p:cNvCxnSpPr>
            <a:stCxn id="457" idx="5"/>
          </p:cNvCxnSpPr>
          <p:nvPr/>
        </p:nvCxnSpPr>
        <p:spPr>
          <a:xfrm flipV="1">
            <a:off x="10618212" y="810638"/>
            <a:ext cx="530603" cy="1082380"/>
          </a:xfrm>
          <a:prstGeom prst="line">
            <a:avLst/>
          </a:prstGeom>
          <a:ln w="63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6" name="Rectangle 104"/>
          <p:cNvSpPr>
            <a:spLocks noChangeArrowheads="1"/>
          </p:cNvSpPr>
          <p:nvPr/>
        </p:nvSpPr>
        <p:spPr bwMode="auto">
          <a:xfrm>
            <a:off x="1783168" y="2724703"/>
            <a:ext cx="1620302" cy="3450700"/>
          </a:xfrm>
          <a:prstGeom prst="rect">
            <a:avLst/>
          </a:prstGeom>
          <a:solidFill>
            <a:schemeClr val="tx2">
              <a:lumMod val="20000"/>
              <a:lumOff val="80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57" name="Rectangle 104"/>
          <p:cNvSpPr>
            <a:spLocks noChangeArrowheads="1"/>
          </p:cNvSpPr>
          <p:nvPr/>
        </p:nvSpPr>
        <p:spPr bwMode="auto">
          <a:xfrm>
            <a:off x="54923" y="2703341"/>
            <a:ext cx="1636375" cy="3450700"/>
          </a:xfrm>
          <a:prstGeom prst="rect">
            <a:avLst/>
          </a:prstGeom>
          <a:solidFill>
            <a:schemeClr val="accent2">
              <a:lumMod val="20000"/>
              <a:lumOff val="80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414" y="372077"/>
            <a:ext cx="11489729" cy="1080000"/>
          </a:xfrm>
        </p:spPr>
        <p:txBody>
          <a:bodyPr/>
          <a:lstStyle/>
          <a:p>
            <a:r>
              <a:rPr lang="en-US" dirty="0" smtClean="0"/>
              <a:t>New DCA Suite 2018.08 Shared Lab Environment</a:t>
            </a:r>
          </a:p>
        </p:txBody>
      </p:sp>
      <p:sp>
        <p:nvSpPr>
          <p:cNvPr id="26631" name="Text Box 5"/>
          <p:cNvSpPr txBox="1">
            <a:spLocks noChangeArrowheads="1"/>
          </p:cNvSpPr>
          <p:nvPr/>
        </p:nvSpPr>
        <p:spPr bwMode="auto">
          <a:xfrm>
            <a:off x="3943771" y="2802821"/>
            <a:ext cx="369498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 dirty="0">
                <a:latin typeface="Arial" charset="0"/>
              </a:rPr>
              <a:t>Servers </a:t>
            </a:r>
            <a:r>
              <a:rPr lang="en-US" sz="1400" b="1" i="1" dirty="0" smtClean="0">
                <a:latin typeface="Arial" charset="0"/>
              </a:rPr>
              <a:t>under SA/DCA CDF </a:t>
            </a:r>
            <a:r>
              <a:rPr lang="en-US" sz="1400" b="1" i="1" dirty="0">
                <a:latin typeface="Arial" charset="0"/>
              </a:rPr>
              <a:t>management</a:t>
            </a:r>
            <a:endParaRPr lang="en-US" sz="1400" i="1" dirty="0">
              <a:latin typeface="Arial" charset="0"/>
            </a:endParaRPr>
          </a:p>
        </p:txBody>
      </p:sp>
      <p:sp>
        <p:nvSpPr>
          <p:cNvPr id="26650" name="Line 107"/>
          <p:cNvSpPr>
            <a:spLocks noChangeShapeType="1"/>
          </p:cNvSpPr>
          <p:nvPr/>
        </p:nvSpPr>
        <p:spPr bwMode="auto">
          <a:xfrm flipV="1">
            <a:off x="182880" y="3154939"/>
            <a:ext cx="11858813" cy="23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83" name="Text Box 4"/>
          <p:cNvSpPr txBox="1">
            <a:spLocks noChangeArrowheads="1"/>
          </p:cNvSpPr>
          <p:nvPr/>
        </p:nvSpPr>
        <p:spPr bwMode="auto">
          <a:xfrm>
            <a:off x="10413920" y="1070896"/>
            <a:ext cx="1757212" cy="55399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000" dirty="0" smtClean="0">
                <a:latin typeface="Arial" charset="0"/>
              </a:rPr>
              <a:t>AccessVM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>
                <a:latin typeface="Arial" charset="0"/>
              </a:rPr>
              <a:t>d</a:t>
            </a:r>
            <a:r>
              <a:rPr lang="en-US" sz="1000" dirty="0" smtClean="0">
                <a:latin typeface="Arial" charset="0"/>
              </a:rPr>
              <a:t>ca-clientapps01.eswdc.net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172.16.239.1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484" name="Straight Connector 483"/>
          <p:cNvCxnSpPr/>
          <p:nvPr/>
        </p:nvCxnSpPr>
        <p:spPr>
          <a:xfrm flipV="1">
            <a:off x="9991375" y="2599525"/>
            <a:ext cx="17342" cy="54126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9" name="Line 142"/>
          <p:cNvSpPr>
            <a:spLocks noChangeShapeType="1"/>
          </p:cNvSpPr>
          <p:nvPr/>
        </p:nvSpPr>
        <p:spPr bwMode="auto">
          <a:xfrm>
            <a:off x="988788" y="3165081"/>
            <a:ext cx="20086" cy="1404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58" name="Text Box 5"/>
          <p:cNvSpPr txBox="1">
            <a:spLocks noChangeArrowheads="1"/>
          </p:cNvSpPr>
          <p:nvPr/>
        </p:nvSpPr>
        <p:spPr bwMode="auto">
          <a:xfrm>
            <a:off x="91012" y="2735512"/>
            <a:ext cx="15367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i="1" dirty="0" smtClean="0">
                <a:latin typeface="Arial" charset="0"/>
              </a:rPr>
              <a:t>SA 10.60 managed</a:t>
            </a:r>
          </a:p>
          <a:p>
            <a:pPr algn="ctr"/>
            <a:r>
              <a:rPr lang="en-US" sz="1200" b="1" i="1" dirty="0" smtClean="0">
                <a:latin typeface="Arial" charset="0"/>
              </a:rPr>
              <a:t>vCenter 6.0</a:t>
            </a:r>
            <a:endParaRPr lang="en-US" sz="1200" i="1" dirty="0">
              <a:latin typeface="Arial" charset="0"/>
            </a:endParaRPr>
          </a:p>
        </p:txBody>
      </p:sp>
      <p:grpSp>
        <p:nvGrpSpPr>
          <p:cNvPr id="785" name="Group 784"/>
          <p:cNvGrpSpPr/>
          <p:nvPr/>
        </p:nvGrpSpPr>
        <p:grpSpPr>
          <a:xfrm>
            <a:off x="2117231" y="3161104"/>
            <a:ext cx="1264864" cy="2912276"/>
            <a:chOff x="6340597" y="1368728"/>
            <a:chExt cx="1264864" cy="2912276"/>
          </a:xfrm>
        </p:grpSpPr>
        <p:sp>
          <p:nvSpPr>
            <p:cNvPr id="786" name="Text Box 140"/>
            <p:cNvSpPr txBox="1">
              <a:spLocks noChangeArrowheads="1"/>
            </p:cNvSpPr>
            <p:nvPr/>
          </p:nvSpPr>
          <p:spPr bwMode="auto">
            <a:xfrm>
              <a:off x="6545817" y="3368598"/>
              <a:ext cx="1059644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dca-nfs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172.16.239.25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787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789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0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1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2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3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4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5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6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7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8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9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0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1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2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3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4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5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6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7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8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9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0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1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2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3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4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5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88" name="Line 142"/>
            <p:cNvSpPr>
              <a:spLocks noChangeShapeType="1"/>
            </p:cNvSpPr>
            <p:nvPr/>
          </p:nvSpPr>
          <p:spPr bwMode="auto">
            <a:xfrm>
              <a:off x="7481751" y="1368728"/>
              <a:ext cx="20808" cy="19994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17" name="Text Box 5"/>
          <p:cNvSpPr txBox="1">
            <a:spLocks noChangeArrowheads="1"/>
          </p:cNvSpPr>
          <p:nvPr/>
        </p:nvSpPr>
        <p:spPr bwMode="auto">
          <a:xfrm>
            <a:off x="1891232" y="2743075"/>
            <a:ext cx="13395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i="1" dirty="0" smtClean="0">
                <a:latin typeface="Arial" charset="0"/>
              </a:rPr>
              <a:t>DCA Suite</a:t>
            </a:r>
          </a:p>
          <a:p>
            <a:pPr algn="ctr"/>
            <a:r>
              <a:rPr lang="en-US" sz="1200" b="1" i="1" dirty="0" smtClean="0">
                <a:latin typeface="Arial" charset="0"/>
              </a:rPr>
              <a:t>Version 2018.08</a:t>
            </a:r>
            <a:endParaRPr lang="en-US" sz="1200" i="1" dirty="0">
              <a:latin typeface="Arial" charset="0"/>
            </a:endParaRPr>
          </a:p>
        </p:txBody>
      </p:sp>
      <p:sp>
        <p:nvSpPr>
          <p:cNvPr id="818" name="Text Box 140"/>
          <p:cNvSpPr txBox="1">
            <a:spLocks noChangeArrowheads="1"/>
          </p:cNvSpPr>
          <p:nvPr/>
        </p:nvSpPr>
        <p:spPr bwMode="auto">
          <a:xfrm>
            <a:off x="583935" y="3284983"/>
            <a:ext cx="1059644" cy="646331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latin typeface="Arial" charset="0"/>
              </a:rPr>
              <a:t>Windows </a:t>
            </a:r>
          </a:p>
          <a:p>
            <a:pPr algn="ctr"/>
            <a:r>
              <a:rPr lang="en-US" sz="900" dirty="0" smtClean="0">
                <a:latin typeface="Arial" charset="0"/>
              </a:rPr>
              <a:t>2012 R2 64 Bit</a:t>
            </a:r>
            <a:endParaRPr lang="en-US" sz="900" dirty="0">
              <a:latin typeface="Arial" charset="0"/>
            </a:endParaRPr>
          </a:p>
          <a:p>
            <a:pPr algn="ctr"/>
            <a:r>
              <a:rPr lang="en-US" sz="900" dirty="0">
                <a:latin typeface="Arial" charset="0"/>
              </a:rPr>
              <a:t>v</a:t>
            </a:r>
            <a:r>
              <a:rPr lang="en-US" sz="900" dirty="0" smtClean="0">
                <a:latin typeface="Arial" charset="0"/>
              </a:rPr>
              <a:t>center-5-5</a:t>
            </a:r>
            <a:endParaRPr lang="en-US" sz="900" dirty="0">
              <a:latin typeface="Arial" charset="0"/>
            </a:endParaRPr>
          </a:p>
          <a:p>
            <a:pPr algn="ctr"/>
            <a:r>
              <a:rPr lang="en-US" sz="900" dirty="0" smtClean="0">
                <a:latin typeface="Arial" charset="0"/>
              </a:rPr>
              <a:t>172.16.239.13</a:t>
            </a:r>
            <a:endParaRPr lang="en-US" sz="900" dirty="0">
              <a:latin typeface="Arial" charset="0"/>
            </a:endParaRPr>
          </a:p>
        </p:txBody>
      </p:sp>
      <p:grpSp>
        <p:nvGrpSpPr>
          <p:cNvPr id="819" name="Group 112"/>
          <p:cNvGrpSpPr>
            <a:grpSpLocks/>
          </p:cNvGrpSpPr>
          <p:nvPr/>
        </p:nvGrpSpPr>
        <p:grpSpPr bwMode="auto">
          <a:xfrm>
            <a:off x="378715" y="3648114"/>
            <a:ext cx="277812" cy="549275"/>
            <a:chOff x="1051" y="1470"/>
            <a:chExt cx="166" cy="331"/>
          </a:xfrm>
        </p:grpSpPr>
        <p:sp>
          <p:nvSpPr>
            <p:cNvPr id="820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47" name="Oval 40"/>
          <p:cNvSpPr>
            <a:spLocks noChangeArrowheads="1"/>
          </p:cNvSpPr>
          <p:nvPr/>
        </p:nvSpPr>
        <p:spPr bwMode="auto">
          <a:xfrm>
            <a:off x="360187" y="4122213"/>
            <a:ext cx="203976" cy="214110"/>
          </a:xfrm>
          <a:prstGeom prst="ellipse">
            <a:avLst/>
          </a:prstGeom>
          <a:solidFill>
            <a:srgbClr val="98B6D8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latin typeface="Arial Narrow" pitchFamily="34" charset="0"/>
              </a:rPr>
              <a:t>A</a:t>
            </a:r>
          </a:p>
        </p:txBody>
      </p:sp>
      <p:sp>
        <p:nvSpPr>
          <p:cNvPr id="912" name="Line 142"/>
          <p:cNvSpPr>
            <a:spLocks noChangeShapeType="1"/>
          </p:cNvSpPr>
          <p:nvPr/>
        </p:nvSpPr>
        <p:spPr bwMode="auto">
          <a:xfrm flipH="1">
            <a:off x="973828" y="3931314"/>
            <a:ext cx="40472" cy="15410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03615" y="3927409"/>
            <a:ext cx="960285" cy="1367190"/>
            <a:chOff x="5859592" y="4022090"/>
            <a:chExt cx="1219428" cy="1845767"/>
          </a:xfrm>
        </p:grpSpPr>
        <p:sp>
          <p:nvSpPr>
            <p:cNvPr id="879" name="Line 142"/>
            <p:cNvSpPr>
              <a:spLocks noChangeShapeType="1"/>
            </p:cNvSpPr>
            <p:nvPr/>
          </p:nvSpPr>
          <p:spPr bwMode="auto">
            <a:xfrm flipH="1">
              <a:off x="6973584" y="4022090"/>
              <a:ext cx="65779" cy="959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" name="Text Box 140"/>
            <p:cNvSpPr txBox="1">
              <a:spLocks noChangeArrowheads="1"/>
            </p:cNvSpPr>
            <p:nvPr/>
          </p:nvSpPr>
          <p:spPr bwMode="auto">
            <a:xfrm>
              <a:off x="5859592" y="4604887"/>
              <a:ext cx="1059644" cy="70637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700" dirty="0" smtClean="0">
                  <a:latin typeface="Arial" charset="0"/>
                </a:rPr>
                <a:t>VMWARE ESXi</a:t>
              </a:r>
              <a:endParaRPr lang="en-US" sz="700" dirty="0">
                <a:latin typeface="Arial" charset="0"/>
              </a:endParaRPr>
            </a:p>
            <a:p>
              <a:pPr algn="ctr"/>
              <a:r>
                <a:rPr lang="en-US" sz="700" dirty="0" smtClean="0">
                  <a:latin typeface="Arial" charset="0"/>
                </a:rPr>
                <a:t>Virtual</a:t>
              </a:r>
            </a:p>
            <a:p>
              <a:pPr algn="ctr"/>
              <a:r>
                <a:rPr lang="en-US" sz="700" dirty="0" smtClean="0">
                  <a:latin typeface="Arial" charset="0"/>
                </a:rPr>
                <a:t>16 GB RAM</a:t>
              </a:r>
              <a:endParaRPr lang="en-US" sz="700" dirty="0">
                <a:latin typeface="Arial" charset="0"/>
              </a:endParaRPr>
            </a:p>
            <a:p>
              <a:pPr algn="ctr"/>
              <a:r>
                <a:rPr lang="en-US" sz="700" dirty="0" smtClean="0">
                  <a:latin typeface="Arial" charset="0"/>
                </a:rPr>
                <a:t>172.16.239.3</a:t>
              </a:r>
              <a:endParaRPr lang="en-US" sz="700" dirty="0">
                <a:latin typeface="Arial" charset="0"/>
              </a:endParaRPr>
            </a:p>
          </p:txBody>
        </p:sp>
        <p:grpSp>
          <p:nvGrpSpPr>
            <p:cNvPr id="881" name="Group 112"/>
            <p:cNvGrpSpPr>
              <a:grpSpLocks/>
            </p:cNvGrpSpPr>
            <p:nvPr/>
          </p:nvGrpSpPr>
          <p:grpSpPr bwMode="auto">
            <a:xfrm>
              <a:off x="6801208" y="4968685"/>
              <a:ext cx="277812" cy="549275"/>
              <a:chOff x="1051" y="1470"/>
              <a:chExt cx="166" cy="331"/>
            </a:xfrm>
          </p:grpSpPr>
          <p:sp>
            <p:nvSpPr>
              <p:cNvPr id="882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3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4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5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6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7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8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9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0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1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3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4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5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6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7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8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9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0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1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3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4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5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6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7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8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09" name="Flowchart: Magnetic Disk 908"/>
            <p:cNvSpPr/>
            <p:nvPr/>
          </p:nvSpPr>
          <p:spPr>
            <a:xfrm>
              <a:off x="6581088" y="5391842"/>
              <a:ext cx="415284" cy="435271"/>
            </a:xfrm>
            <a:prstGeom prst="flowChartMagneticDisk">
              <a:avLst/>
            </a:prstGeom>
            <a:gradFill flip="none" rotWithShape="1">
              <a:gsLst>
                <a:gs pos="79000">
                  <a:srgbClr val="00104D"/>
                </a:gs>
                <a:gs pos="38000">
                  <a:srgbClr val="1E89C5"/>
                </a:gs>
              </a:gsLst>
              <a:path path="circle">
                <a:fillToRect l="100000" b="100000"/>
              </a:path>
              <a:tileRect t="-100000" r="-100000"/>
            </a:gradFill>
            <a:ln w="15875">
              <a:gradFill>
                <a:gsLst>
                  <a:gs pos="2900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tlCol="0" anchor="ctr"/>
            <a:lstStyle/>
            <a:p>
              <a:pPr algn="ctr">
                <a:lnSpc>
                  <a:spcPct val="85000"/>
                </a:lnSpc>
              </a:pPr>
              <a:endParaRPr lang="en-US" sz="200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910" name="Text Box 110"/>
            <p:cNvSpPr txBox="1">
              <a:spLocks noChangeArrowheads="1"/>
            </p:cNvSpPr>
            <p:nvPr/>
          </p:nvSpPr>
          <p:spPr bwMode="auto">
            <a:xfrm>
              <a:off x="6590096" y="5493896"/>
              <a:ext cx="425845" cy="37396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Arial" charset="0"/>
                </a:rPr>
                <a:t>253 </a:t>
              </a:r>
            </a:p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Arial" charset="0"/>
                </a:rPr>
                <a:t>GB</a:t>
              </a:r>
              <a:endParaRPr lang="en-US" sz="600" dirty="0">
                <a:solidFill>
                  <a:schemeClr val="bg1"/>
                </a:solidFill>
                <a:latin typeface="Arial" charset="0"/>
              </a:endParaRPr>
            </a:p>
          </p:txBody>
        </p:sp>
      </p:grpSp>
      <p:sp>
        <p:nvSpPr>
          <p:cNvPr id="913" name="Text Box 140"/>
          <p:cNvSpPr txBox="1">
            <a:spLocks noChangeArrowheads="1"/>
          </p:cNvSpPr>
          <p:nvPr/>
        </p:nvSpPr>
        <p:spPr bwMode="auto">
          <a:xfrm>
            <a:off x="96574" y="5193029"/>
            <a:ext cx="834457" cy="52322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700" dirty="0" smtClean="0">
                <a:latin typeface="Arial" charset="0"/>
              </a:rPr>
              <a:t>VMWARE ESXi</a:t>
            </a:r>
            <a:endParaRPr lang="en-US" sz="700" dirty="0">
              <a:latin typeface="Arial" charset="0"/>
            </a:endParaRPr>
          </a:p>
          <a:p>
            <a:pPr algn="ctr"/>
            <a:r>
              <a:rPr lang="en-US" sz="700" dirty="0" smtClean="0">
                <a:latin typeface="Arial" charset="0"/>
              </a:rPr>
              <a:t>Virtual</a:t>
            </a:r>
          </a:p>
          <a:p>
            <a:pPr algn="ctr"/>
            <a:r>
              <a:rPr lang="en-US" sz="700" dirty="0" smtClean="0">
                <a:latin typeface="Arial" charset="0"/>
              </a:rPr>
              <a:t>16 GB RAM</a:t>
            </a:r>
            <a:endParaRPr lang="en-US" sz="700" dirty="0">
              <a:latin typeface="Arial" charset="0"/>
            </a:endParaRPr>
          </a:p>
          <a:p>
            <a:pPr algn="ctr"/>
            <a:r>
              <a:rPr lang="en-US" sz="700" dirty="0" smtClean="0">
                <a:latin typeface="Arial" charset="0"/>
              </a:rPr>
              <a:t>172.16.239.4</a:t>
            </a:r>
            <a:endParaRPr lang="en-US" sz="700" dirty="0">
              <a:latin typeface="Arial" charset="0"/>
            </a:endParaRPr>
          </a:p>
        </p:txBody>
      </p:sp>
      <p:grpSp>
        <p:nvGrpSpPr>
          <p:cNvPr id="914" name="Group 112"/>
          <p:cNvGrpSpPr>
            <a:grpSpLocks/>
          </p:cNvGrpSpPr>
          <p:nvPr/>
        </p:nvGrpSpPr>
        <p:grpSpPr bwMode="auto">
          <a:xfrm>
            <a:off x="838084" y="5462500"/>
            <a:ext cx="218774" cy="406857"/>
            <a:chOff x="1051" y="1470"/>
            <a:chExt cx="166" cy="331"/>
          </a:xfrm>
        </p:grpSpPr>
        <p:sp>
          <p:nvSpPr>
            <p:cNvPr id="917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8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9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0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4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5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6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7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8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9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0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1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5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6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7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8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9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0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1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3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15" name="Flowchart: Magnetic Disk 914"/>
          <p:cNvSpPr/>
          <p:nvPr/>
        </p:nvSpPr>
        <p:spPr>
          <a:xfrm>
            <a:off x="664743" y="5775940"/>
            <a:ext cx="327031" cy="322412"/>
          </a:xfrm>
          <a:prstGeom prst="flowChartMagneticDisk">
            <a:avLst/>
          </a:prstGeom>
          <a:gradFill flip="none" rotWithShape="1">
            <a:gsLst>
              <a:gs pos="79000">
                <a:srgbClr val="00104D"/>
              </a:gs>
              <a:gs pos="38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 w="15875">
            <a:gradFill>
              <a:gsLst>
                <a:gs pos="2900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916" name="Text Box 110"/>
          <p:cNvSpPr txBox="1">
            <a:spLocks noChangeArrowheads="1"/>
          </p:cNvSpPr>
          <p:nvPr/>
        </p:nvSpPr>
        <p:spPr bwMode="auto">
          <a:xfrm>
            <a:off x="671836" y="5851533"/>
            <a:ext cx="33534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600" dirty="0" smtClean="0">
                <a:solidFill>
                  <a:schemeClr val="bg1"/>
                </a:solidFill>
                <a:latin typeface="Arial" charset="0"/>
              </a:rPr>
              <a:t>253 </a:t>
            </a:r>
          </a:p>
          <a:p>
            <a:pPr algn="ctr"/>
            <a:r>
              <a:rPr lang="en-US" sz="600" dirty="0" smtClean="0">
                <a:solidFill>
                  <a:schemeClr val="bg1"/>
                </a:solidFill>
                <a:latin typeface="Arial" charset="0"/>
              </a:rPr>
              <a:t>GB</a:t>
            </a:r>
            <a:endParaRPr lang="en-US" sz="600" dirty="0">
              <a:solidFill>
                <a:schemeClr val="bg1"/>
              </a:solidFill>
              <a:latin typeface="Arial" charset="0"/>
            </a:endParaRPr>
          </a:p>
        </p:txBody>
      </p:sp>
      <p:grpSp>
        <p:nvGrpSpPr>
          <p:cNvPr id="569" name="Group 568"/>
          <p:cNvGrpSpPr/>
          <p:nvPr/>
        </p:nvGrpSpPr>
        <p:grpSpPr>
          <a:xfrm>
            <a:off x="1977472" y="3157258"/>
            <a:ext cx="1264864" cy="2050880"/>
            <a:chOff x="6340597" y="2230124"/>
            <a:chExt cx="1264864" cy="2050880"/>
          </a:xfrm>
        </p:grpSpPr>
        <p:sp>
          <p:nvSpPr>
            <p:cNvPr id="570" name="Text Box 140"/>
            <p:cNvSpPr txBox="1">
              <a:spLocks noChangeArrowheads="1"/>
            </p:cNvSpPr>
            <p:nvPr/>
          </p:nvSpPr>
          <p:spPr bwMode="auto">
            <a:xfrm>
              <a:off x="6545817" y="3368598"/>
              <a:ext cx="1059644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dca-wkr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172.16.239.24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572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574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5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6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7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8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9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0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1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2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3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4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5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6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7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8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9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0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1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2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3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4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5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6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7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8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9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01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573" name="Line 142"/>
            <p:cNvSpPr>
              <a:spLocks noChangeShapeType="1"/>
            </p:cNvSpPr>
            <p:nvPr/>
          </p:nvSpPr>
          <p:spPr bwMode="auto">
            <a:xfrm>
              <a:off x="7490185" y="2230124"/>
              <a:ext cx="12373" cy="11380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02" name="Group 601"/>
          <p:cNvGrpSpPr/>
          <p:nvPr/>
        </p:nvGrpSpPr>
        <p:grpSpPr>
          <a:xfrm>
            <a:off x="1856190" y="3162882"/>
            <a:ext cx="1344828" cy="1196118"/>
            <a:chOff x="6340597" y="3084886"/>
            <a:chExt cx="1344828" cy="1196118"/>
          </a:xfrm>
        </p:grpSpPr>
        <p:sp>
          <p:nvSpPr>
            <p:cNvPr id="663" name="Text Box 140"/>
            <p:cNvSpPr txBox="1">
              <a:spLocks noChangeArrowheads="1"/>
            </p:cNvSpPr>
            <p:nvPr/>
          </p:nvSpPr>
          <p:spPr bwMode="auto">
            <a:xfrm>
              <a:off x="6545817" y="3368598"/>
              <a:ext cx="1139608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dca-mast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172.16.239.23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666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668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9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0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1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2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3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4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5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6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7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8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9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0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1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2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3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4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5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6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7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8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9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0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1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2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3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4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67" name="Line 142"/>
            <p:cNvSpPr>
              <a:spLocks noChangeShapeType="1"/>
            </p:cNvSpPr>
            <p:nvPr/>
          </p:nvSpPr>
          <p:spPr bwMode="auto">
            <a:xfrm>
              <a:off x="7068878" y="3084886"/>
              <a:ext cx="6761" cy="2837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38" name="Group 637"/>
          <p:cNvGrpSpPr/>
          <p:nvPr/>
        </p:nvGrpSpPr>
        <p:grpSpPr>
          <a:xfrm>
            <a:off x="10795181" y="3151148"/>
            <a:ext cx="1264864" cy="2912276"/>
            <a:chOff x="6340597" y="1368728"/>
            <a:chExt cx="1264864" cy="2912276"/>
          </a:xfrm>
        </p:grpSpPr>
        <p:sp>
          <p:nvSpPr>
            <p:cNvPr id="639" name="Text Box 140"/>
            <p:cNvSpPr txBox="1">
              <a:spLocks noChangeArrowheads="1"/>
            </p:cNvSpPr>
            <p:nvPr/>
          </p:nvSpPr>
          <p:spPr bwMode="auto">
            <a:xfrm>
              <a:off x="6400777" y="3368598"/>
              <a:ext cx="1204684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demo-nfs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172.16.239.42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640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642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3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4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5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6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7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8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9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0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1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2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3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4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5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6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8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0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1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5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5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9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0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1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2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3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41" name="Line 142"/>
            <p:cNvSpPr>
              <a:spLocks noChangeShapeType="1"/>
            </p:cNvSpPr>
            <p:nvPr/>
          </p:nvSpPr>
          <p:spPr bwMode="auto">
            <a:xfrm>
              <a:off x="7481751" y="1368728"/>
              <a:ext cx="20808" cy="19994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34" name="Text Box 5"/>
          <p:cNvSpPr txBox="1">
            <a:spLocks noChangeArrowheads="1"/>
          </p:cNvSpPr>
          <p:nvPr/>
        </p:nvSpPr>
        <p:spPr bwMode="auto">
          <a:xfrm>
            <a:off x="10181290" y="2721179"/>
            <a:ext cx="1860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i="1" dirty="0" smtClean="0">
                <a:latin typeface="Arial" charset="0"/>
              </a:rPr>
              <a:t>DCA Suite 2018.05 Demo Appliance</a:t>
            </a:r>
            <a:endParaRPr lang="en-US" sz="1200" i="1" dirty="0">
              <a:latin typeface="Arial" charset="0"/>
            </a:endParaRPr>
          </a:p>
        </p:txBody>
      </p:sp>
      <p:grpSp>
        <p:nvGrpSpPr>
          <p:cNvPr id="735" name="Group 734"/>
          <p:cNvGrpSpPr/>
          <p:nvPr/>
        </p:nvGrpSpPr>
        <p:grpSpPr>
          <a:xfrm>
            <a:off x="10617783" y="3135362"/>
            <a:ext cx="1264864" cy="2050880"/>
            <a:chOff x="6340597" y="2230124"/>
            <a:chExt cx="1264864" cy="2050880"/>
          </a:xfrm>
        </p:grpSpPr>
        <p:sp>
          <p:nvSpPr>
            <p:cNvPr id="736" name="Text Box 140"/>
            <p:cNvSpPr txBox="1">
              <a:spLocks noChangeArrowheads="1"/>
            </p:cNvSpPr>
            <p:nvPr/>
          </p:nvSpPr>
          <p:spPr bwMode="auto">
            <a:xfrm>
              <a:off x="6477044" y="3368598"/>
              <a:ext cx="1128417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demo-wkr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172.16.239.41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737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739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0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1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2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3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4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5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6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7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8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9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0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1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2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3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4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5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6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8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9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0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1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2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3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4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5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6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38" name="Line 142"/>
            <p:cNvSpPr>
              <a:spLocks noChangeShapeType="1"/>
            </p:cNvSpPr>
            <p:nvPr/>
          </p:nvSpPr>
          <p:spPr bwMode="auto">
            <a:xfrm>
              <a:off x="7490185" y="2230124"/>
              <a:ext cx="12373" cy="11380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57" name="Group 856"/>
          <p:cNvGrpSpPr/>
          <p:nvPr/>
        </p:nvGrpSpPr>
        <p:grpSpPr>
          <a:xfrm>
            <a:off x="10496501" y="3140986"/>
            <a:ext cx="1247894" cy="1196118"/>
            <a:chOff x="6340597" y="3084886"/>
            <a:chExt cx="1247894" cy="1196118"/>
          </a:xfrm>
        </p:grpSpPr>
        <p:sp>
          <p:nvSpPr>
            <p:cNvPr id="858" name="Text Box 140"/>
            <p:cNvSpPr txBox="1">
              <a:spLocks noChangeArrowheads="1"/>
            </p:cNvSpPr>
            <p:nvPr/>
          </p:nvSpPr>
          <p:spPr bwMode="auto">
            <a:xfrm>
              <a:off x="6401558" y="3224931"/>
              <a:ext cx="1186933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demo-mast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172.16.239.40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859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861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2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3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4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5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6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7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8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9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0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1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2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3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4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5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6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7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8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1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4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5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6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7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8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9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50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51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60" name="Line 142"/>
            <p:cNvSpPr>
              <a:spLocks noChangeShapeType="1"/>
            </p:cNvSpPr>
            <p:nvPr/>
          </p:nvSpPr>
          <p:spPr bwMode="auto">
            <a:xfrm>
              <a:off x="7068878" y="3084886"/>
              <a:ext cx="10386" cy="140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24" name="Rectangle 6"/>
          <p:cNvSpPr>
            <a:spLocks noChangeArrowheads="1"/>
          </p:cNvSpPr>
          <p:nvPr/>
        </p:nvSpPr>
        <p:spPr bwMode="auto">
          <a:xfrm>
            <a:off x="130510" y="1072316"/>
            <a:ext cx="1752273" cy="62746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SA 10.60 Ultimate</a:t>
            </a:r>
          </a:p>
          <a:p>
            <a:pPr algn="ctr"/>
            <a:r>
              <a:rPr lang="en-US" sz="1000" dirty="0">
                <a:latin typeface="Arial" charset="0"/>
              </a:rPr>
              <a:t>s</a:t>
            </a:r>
            <a:r>
              <a:rPr lang="en-US" sz="1000" dirty="0" smtClean="0">
                <a:latin typeface="Arial" charset="0"/>
              </a:rPr>
              <a:t>a1060.dca.demo.local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172.16.239.20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955" name="Straight Connector 954"/>
          <p:cNvCxnSpPr/>
          <p:nvPr/>
        </p:nvCxnSpPr>
        <p:spPr>
          <a:xfrm flipV="1">
            <a:off x="1693927" y="2387988"/>
            <a:ext cx="0" cy="2056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Straight Connector 955"/>
          <p:cNvCxnSpPr/>
          <p:nvPr/>
        </p:nvCxnSpPr>
        <p:spPr>
          <a:xfrm>
            <a:off x="407504" y="2596095"/>
            <a:ext cx="11164010" cy="37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7" name="Group 112"/>
          <p:cNvGrpSpPr>
            <a:grpSpLocks/>
          </p:cNvGrpSpPr>
          <p:nvPr/>
        </p:nvGrpSpPr>
        <p:grpSpPr bwMode="auto">
          <a:xfrm>
            <a:off x="1448419" y="1776216"/>
            <a:ext cx="495410" cy="667193"/>
            <a:chOff x="1051" y="1470"/>
            <a:chExt cx="166" cy="331"/>
          </a:xfrm>
          <a:effectLst>
            <a:glow rad="228600">
              <a:srgbClr val="FF0000">
                <a:alpha val="40000"/>
              </a:srgbClr>
            </a:glow>
          </a:effectLst>
        </p:grpSpPr>
        <p:sp>
          <p:nvSpPr>
            <p:cNvPr id="958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9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0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1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2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3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4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5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6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85" name="Rectangle 6"/>
          <p:cNvSpPr>
            <a:spLocks noChangeArrowheads="1"/>
          </p:cNvSpPr>
          <p:nvPr/>
        </p:nvSpPr>
        <p:spPr bwMode="auto">
          <a:xfrm>
            <a:off x="1934845" y="1072559"/>
            <a:ext cx="1691588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Puppet Master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>
                <a:latin typeface="Arial" charset="0"/>
              </a:rPr>
              <a:t>p</a:t>
            </a:r>
            <a:r>
              <a:rPr lang="en-US" sz="1000" dirty="0" smtClean="0">
                <a:latin typeface="Arial" charset="0"/>
              </a:rPr>
              <a:t>uppet-server.dca.demo.local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172.16.239.70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986" name="Straight Connector 985"/>
          <p:cNvCxnSpPr/>
          <p:nvPr/>
        </p:nvCxnSpPr>
        <p:spPr>
          <a:xfrm flipH="1" flipV="1">
            <a:off x="3244892" y="2475823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7" name="Group 112"/>
          <p:cNvGrpSpPr>
            <a:grpSpLocks/>
          </p:cNvGrpSpPr>
          <p:nvPr/>
        </p:nvGrpSpPr>
        <p:grpSpPr bwMode="auto">
          <a:xfrm>
            <a:off x="2994508" y="1799139"/>
            <a:ext cx="405765" cy="650364"/>
            <a:chOff x="1051" y="1470"/>
            <a:chExt cx="166" cy="331"/>
          </a:xfrm>
          <a:effectLst>
            <a:glow rad="228600">
              <a:srgbClr val="FFC000">
                <a:alpha val="40000"/>
              </a:srgbClr>
            </a:glow>
          </a:effectLst>
        </p:grpSpPr>
        <p:sp>
          <p:nvSpPr>
            <p:cNvPr id="988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9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0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1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2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3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4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5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6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cxnSp>
        <p:nvCxnSpPr>
          <p:cNvPr id="1015" name="Straight Connector 1014"/>
          <p:cNvCxnSpPr/>
          <p:nvPr/>
        </p:nvCxnSpPr>
        <p:spPr>
          <a:xfrm flipV="1">
            <a:off x="9729794" y="2411626"/>
            <a:ext cx="7292" cy="16269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6" name="Group 112"/>
          <p:cNvGrpSpPr>
            <a:grpSpLocks/>
          </p:cNvGrpSpPr>
          <p:nvPr/>
        </p:nvGrpSpPr>
        <p:grpSpPr bwMode="auto">
          <a:xfrm>
            <a:off x="9475580" y="1790702"/>
            <a:ext cx="405765" cy="650364"/>
            <a:chOff x="1051" y="1470"/>
            <a:chExt cx="166" cy="331"/>
          </a:xfrm>
          <a:effectLst>
            <a:glow rad="139700">
              <a:schemeClr val="accent3">
                <a:lumMod val="40000"/>
                <a:lumOff val="60000"/>
                <a:alpha val="40000"/>
              </a:schemeClr>
            </a:glow>
          </a:effectLst>
        </p:grpSpPr>
        <p:sp>
          <p:nvSpPr>
            <p:cNvPr id="1017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8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9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0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1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2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3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4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45" name="Rectangle 6"/>
          <p:cNvSpPr>
            <a:spLocks noChangeArrowheads="1"/>
          </p:cNvSpPr>
          <p:nvPr/>
        </p:nvSpPr>
        <p:spPr bwMode="auto">
          <a:xfrm>
            <a:off x="3720508" y="1086900"/>
            <a:ext cx="1442085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RHEL 7 Patch Repo</a:t>
            </a:r>
          </a:p>
          <a:p>
            <a:pPr algn="ctr"/>
            <a:r>
              <a:rPr lang="en-US" sz="1000" dirty="0">
                <a:latin typeface="Arial" charset="0"/>
              </a:rPr>
              <a:t>r</a:t>
            </a:r>
            <a:r>
              <a:rPr lang="en-US" sz="1000" dirty="0" smtClean="0">
                <a:latin typeface="Arial" charset="0"/>
              </a:rPr>
              <a:t>h-repo.dca.demo.local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172.16.239.30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1046" name="Straight Connector 1045"/>
          <p:cNvCxnSpPr/>
          <p:nvPr/>
        </p:nvCxnSpPr>
        <p:spPr>
          <a:xfrm flipH="1" flipV="1">
            <a:off x="4624568" y="2470737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Group 112"/>
          <p:cNvGrpSpPr>
            <a:grpSpLocks/>
          </p:cNvGrpSpPr>
          <p:nvPr/>
        </p:nvGrpSpPr>
        <p:grpSpPr bwMode="auto">
          <a:xfrm>
            <a:off x="4374184" y="1794053"/>
            <a:ext cx="405765" cy="650364"/>
            <a:chOff x="1051" y="1470"/>
            <a:chExt cx="166" cy="331"/>
          </a:xfrm>
          <a:effectLst>
            <a:glow rad="228600">
              <a:schemeClr val="accent6">
                <a:lumMod val="75000"/>
                <a:alpha val="40000"/>
              </a:schemeClr>
            </a:glow>
          </a:effectLst>
        </p:grpSpPr>
        <p:sp>
          <p:nvSpPr>
            <p:cNvPr id="1048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9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0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1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2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3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4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5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6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75" name="Down Arrow 1074"/>
          <p:cNvSpPr/>
          <p:nvPr/>
        </p:nvSpPr>
        <p:spPr>
          <a:xfrm rot="18995433">
            <a:off x="2041529" y="2108823"/>
            <a:ext cx="225068" cy="470044"/>
          </a:xfrm>
          <a:prstGeom prst="downArrow">
            <a:avLst/>
          </a:prstGeom>
          <a:solidFill>
            <a:srgbClr val="FF7C8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6" name="Down Arrow 1075"/>
          <p:cNvSpPr/>
          <p:nvPr/>
        </p:nvSpPr>
        <p:spPr>
          <a:xfrm rot="2402273">
            <a:off x="2689812" y="2143250"/>
            <a:ext cx="225068" cy="470044"/>
          </a:xfrm>
          <a:prstGeom prst="downArrow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7" name="Down Arrow 1076"/>
          <p:cNvSpPr/>
          <p:nvPr/>
        </p:nvSpPr>
        <p:spPr>
          <a:xfrm rot="2348445">
            <a:off x="1120550" y="2104513"/>
            <a:ext cx="225068" cy="470044"/>
          </a:xfrm>
          <a:prstGeom prst="downArrow">
            <a:avLst/>
          </a:prstGeom>
          <a:solidFill>
            <a:srgbClr val="FF7C8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8" name="Rectangle 6"/>
          <p:cNvSpPr>
            <a:spLocks noChangeArrowheads="1"/>
          </p:cNvSpPr>
          <p:nvPr/>
        </p:nvSpPr>
        <p:spPr bwMode="auto">
          <a:xfrm>
            <a:off x="5245684" y="1078502"/>
            <a:ext cx="1328164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WSUS Server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wsus.dca.demo.local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172.16.239.31</a:t>
            </a:r>
          </a:p>
        </p:txBody>
      </p:sp>
      <p:cxnSp>
        <p:nvCxnSpPr>
          <p:cNvPr id="1079" name="Straight Connector 1078"/>
          <p:cNvCxnSpPr/>
          <p:nvPr/>
        </p:nvCxnSpPr>
        <p:spPr>
          <a:xfrm flipH="1" flipV="1">
            <a:off x="5952990" y="2477253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0" name="Group 112"/>
          <p:cNvGrpSpPr>
            <a:grpSpLocks/>
          </p:cNvGrpSpPr>
          <p:nvPr/>
        </p:nvGrpSpPr>
        <p:grpSpPr bwMode="auto">
          <a:xfrm>
            <a:off x="5702606" y="1800569"/>
            <a:ext cx="405765" cy="650364"/>
            <a:chOff x="1051" y="1470"/>
            <a:chExt cx="166" cy="331"/>
          </a:xfrm>
          <a:effectLst>
            <a:glow rad="228600">
              <a:schemeClr val="accent6">
                <a:lumMod val="60000"/>
                <a:lumOff val="40000"/>
                <a:alpha val="40000"/>
              </a:schemeClr>
            </a:glow>
          </a:effectLst>
        </p:grpSpPr>
        <p:sp>
          <p:nvSpPr>
            <p:cNvPr id="1081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2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3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4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5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6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7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8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9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0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1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2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3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4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5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6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7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8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9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0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1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2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3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4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5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6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7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08" name="Rectangle 6"/>
          <p:cNvSpPr>
            <a:spLocks noChangeArrowheads="1"/>
          </p:cNvSpPr>
          <p:nvPr/>
        </p:nvSpPr>
        <p:spPr bwMode="auto">
          <a:xfrm>
            <a:off x="6553196" y="1078392"/>
            <a:ext cx="1328164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OBR 10.31</a:t>
            </a:r>
          </a:p>
          <a:p>
            <a:pPr algn="ctr"/>
            <a:r>
              <a:rPr lang="en-US" sz="1000" dirty="0" smtClean="0">
                <a:latin typeface="Arial" charset="0"/>
              </a:rPr>
              <a:t>obr.dca.demo.local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172.16.239.21</a:t>
            </a:r>
          </a:p>
        </p:txBody>
      </p:sp>
      <p:cxnSp>
        <p:nvCxnSpPr>
          <p:cNvPr id="1109" name="Straight Connector 1108"/>
          <p:cNvCxnSpPr/>
          <p:nvPr/>
        </p:nvCxnSpPr>
        <p:spPr>
          <a:xfrm flipH="1" flipV="1">
            <a:off x="7404478" y="2468223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0" name="Group 112"/>
          <p:cNvGrpSpPr>
            <a:grpSpLocks/>
          </p:cNvGrpSpPr>
          <p:nvPr/>
        </p:nvGrpSpPr>
        <p:grpSpPr bwMode="auto">
          <a:xfrm>
            <a:off x="7154094" y="1791539"/>
            <a:ext cx="405765" cy="650364"/>
            <a:chOff x="1051" y="1470"/>
            <a:chExt cx="166" cy="331"/>
          </a:xfrm>
          <a:effectLst>
            <a:glow rad="228600">
              <a:schemeClr val="tx2">
                <a:lumMod val="50000"/>
                <a:alpha val="40000"/>
              </a:schemeClr>
            </a:glow>
          </a:effectLst>
        </p:grpSpPr>
        <p:sp>
          <p:nvSpPr>
            <p:cNvPr id="1111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2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3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4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5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6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7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8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9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0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1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2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3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4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5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6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7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8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9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0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1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2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3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4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5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6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7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38" name="Rectangle 6"/>
          <p:cNvSpPr>
            <a:spLocks noChangeArrowheads="1"/>
          </p:cNvSpPr>
          <p:nvPr/>
        </p:nvSpPr>
        <p:spPr bwMode="auto">
          <a:xfrm>
            <a:off x="7871214" y="1076545"/>
            <a:ext cx="1328164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DMA Ultimate </a:t>
            </a:r>
            <a:r>
              <a:rPr lang="en-US" sz="1000" dirty="0" smtClean="0">
                <a:latin typeface="Arial" charset="0"/>
              </a:rPr>
              <a:t>10.60</a:t>
            </a:r>
            <a:endParaRPr lang="en-US" sz="1000" dirty="0" smtClean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dma.dca.demo.local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172.16.239.22</a:t>
            </a:r>
          </a:p>
        </p:txBody>
      </p:sp>
      <p:cxnSp>
        <p:nvCxnSpPr>
          <p:cNvPr id="1139" name="Straight Connector 1138"/>
          <p:cNvCxnSpPr/>
          <p:nvPr/>
        </p:nvCxnSpPr>
        <p:spPr>
          <a:xfrm flipH="1" flipV="1">
            <a:off x="8722496" y="2466376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0" name="Group 112"/>
          <p:cNvGrpSpPr>
            <a:grpSpLocks/>
          </p:cNvGrpSpPr>
          <p:nvPr/>
        </p:nvGrpSpPr>
        <p:grpSpPr bwMode="auto">
          <a:xfrm>
            <a:off x="8472112" y="1789692"/>
            <a:ext cx="405765" cy="650364"/>
            <a:chOff x="1051" y="1470"/>
            <a:chExt cx="166" cy="331"/>
          </a:xfrm>
          <a:effectLst>
            <a:glow rad="228600">
              <a:srgbClr val="FF7C80">
                <a:alpha val="40000"/>
              </a:srgbClr>
            </a:glow>
          </a:effectLst>
        </p:grpSpPr>
        <p:sp>
          <p:nvSpPr>
            <p:cNvPr id="1141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2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3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4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5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6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8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9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0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1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2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3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4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5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6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7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8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9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0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1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2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3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4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5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6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68" name="Text Box 4"/>
          <p:cNvSpPr txBox="1">
            <a:spLocks noChangeArrowheads="1"/>
          </p:cNvSpPr>
          <p:nvPr/>
        </p:nvSpPr>
        <p:spPr bwMode="auto">
          <a:xfrm>
            <a:off x="9199378" y="1086883"/>
            <a:ext cx="1252266" cy="5539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000" dirty="0" smtClean="0">
                <a:latin typeface="Arial" charset="0"/>
              </a:rPr>
              <a:t>DNS – DHCP - AD</a:t>
            </a:r>
          </a:p>
          <a:p>
            <a:pPr algn="ctr"/>
            <a:r>
              <a:rPr lang="en-US" sz="1000" dirty="0" smtClean="0">
                <a:latin typeface="Arial" charset="0"/>
              </a:rPr>
              <a:t>dns.demo.local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172.16.239.9</a:t>
            </a:r>
            <a:endParaRPr lang="en-US" sz="1000" dirty="0">
              <a:latin typeface="Arial" charset="0"/>
            </a:endParaRPr>
          </a:p>
        </p:txBody>
      </p:sp>
      <p:sp>
        <p:nvSpPr>
          <p:cNvPr id="1230" name="Text Box 5"/>
          <p:cNvSpPr txBox="1">
            <a:spLocks noChangeArrowheads="1"/>
          </p:cNvSpPr>
          <p:nvPr/>
        </p:nvSpPr>
        <p:spPr bwMode="auto">
          <a:xfrm>
            <a:off x="8212013" y="2801258"/>
            <a:ext cx="16257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 dirty="0" smtClean="0">
                <a:latin typeface="Arial" charset="0"/>
              </a:rPr>
              <a:t>Puppet managed</a:t>
            </a:r>
            <a:endParaRPr lang="en-US" sz="1400" i="1" dirty="0">
              <a:latin typeface="Arial" charset="0"/>
            </a:endParaRPr>
          </a:p>
        </p:txBody>
      </p:sp>
      <p:sp>
        <p:nvSpPr>
          <p:cNvPr id="1233" name="Text Box 5"/>
          <p:cNvSpPr txBox="1">
            <a:spLocks noChangeArrowheads="1"/>
          </p:cNvSpPr>
          <p:nvPr/>
        </p:nvSpPr>
        <p:spPr bwMode="auto">
          <a:xfrm rot="19639868">
            <a:off x="6962316" y="1996721"/>
            <a:ext cx="74090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 dirty="0" smtClean="0">
                <a:latin typeface="Arial" charset="0"/>
              </a:rPr>
              <a:t>Future</a:t>
            </a:r>
            <a:endParaRPr lang="en-US" sz="1400" i="1" dirty="0">
              <a:latin typeface="Arial" charset="0"/>
            </a:endParaRPr>
          </a:p>
        </p:txBody>
      </p:sp>
      <p:cxnSp>
        <p:nvCxnSpPr>
          <p:cNvPr id="1234" name="Straight Connector 1233"/>
          <p:cNvCxnSpPr/>
          <p:nvPr/>
        </p:nvCxnSpPr>
        <p:spPr>
          <a:xfrm flipV="1">
            <a:off x="10718248" y="2424358"/>
            <a:ext cx="29924" cy="17516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5" name="TextBox 1234"/>
          <p:cNvSpPr txBox="1"/>
          <p:nvPr/>
        </p:nvSpPr>
        <p:spPr bwMode="gray">
          <a:xfrm>
            <a:off x="2048112" y="6196433"/>
            <a:ext cx="7851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1200" dirty="0">
                <a:cs typeface="HP Simplified" pitchFamily="34" charset="0"/>
              </a:rPr>
              <a:t>Domain:  </a:t>
            </a:r>
            <a:r>
              <a:rPr lang="en-US" sz="1200" b="1" dirty="0" smtClean="0">
                <a:cs typeface="HP Simplified" pitchFamily="34" charset="0"/>
              </a:rPr>
              <a:t>dca.demo.local  </a:t>
            </a:r>
            <a:r>
              <a:rPr lang="en-US" sz="1200" dirty="0" smtClean="0">
                <a:cs typeface="HP Simplified" pitchFamily="34" charset="0"/>
              </a:rPr>
              <a:t>     	Gateway</a:t>
            </a:r>
            <a:r>
              <a:rPr lang="en-US" sz="1200" dirty="0">
                <a:cs typeface="HP Simplified" pitchFamily="34" charset="0"/>
              </a:rPr>
              <a:t>:  </a:t>
            </a:r>
            <a:r>
              <a:rPr lang="en-US" sz="1200" b="1" dirty="0" smtClean="0">
                <a:cs typeface="HP Simplified" pitchFamily="34" charset="0"/>
              </a:rPr>
              <a:t>172.16.239.1	</a:t>
            </a:r>
            <a:r>
              <a:rPr lang="en-US" sz="1200" dirty="0" smtClean="0">
                <a:cs typeface="HP Simplified" pitchFamily="34" charset="0"/>
              </a:rPr>
              <a:t>	</a:t>
            </a:r>
            <a:r>
              <a:rPr lang="en-US" sz="1200" dirty="0">
                <a:cs typeface="HP Simplified" pitchFamily="34" charset="0"/>
              </a:rPr>
              <a:t>Proxy: </a:t>
            </a:r>
            <a:r>
              <a:rPr lang="en-US" sz="1200" dirty="0" smtClean="0">
                <a:cs typeface="HP Simplified" pitchFamily="34" charset="0"/>
              </a:rPr>
              <a:t>   </a:t>
            </a:r>
            <a:r>
              <a:rPr lang="en-US" sz="1200" b="1" dirty="0" smtClean="0">
                <a:cs typeface="HP Simplified" pitchFamily="34" charset="0"/>
              </a:rPr>
              <a:t>proxy.eswdc.net:8088 (156.152.46.12)</a:t>
            </a:r>
            <a:endParaRPr lang="en-US" sz="1200" b="1" dirty="0">
              <a:cs typeface="HP Simplified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4727"/>
              </p:ext>
            </p:extLst>
          </p:nvPr>
        </p:nvGraphicFramePr>
        <p:xfrm>
          <a:off x="3672332" y="3219610"/>
          <a:ext cx="1879600" cy="1905000"/>
        </p:xfrm>
        <a:graphic>
          <a:graphicData uri="http://schemas.openxmlformats.org/drawingml/2006/table">
            <a:tbl>
              <a:tblPr/>
              <a:tblGrid>
                <a:gridCol w="830077"/>
                <a:gridCol w="1049523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 - Red Hat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Agentless - Red Hat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2890"/>
              </p:ext>
            </p:extLst>
          </p:nvPr>
        </p:nvGraphicFramePr>
        <p:xfrm>
          <a:off x="5855910" y="3227898"/>
          <a:ext cx="1879600" cy="1905000"/>
        </p:xfrm>
        <a:graphic>
          <a:graphicData uri="http://schemas.openxmlformats.org/drawingml/2006/table">
            <a:tbl>
              <a:tblPr/>
              <a:tblGrid>
                <a:gridCol w="830077"/>
                <a:gridCol w="1049523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 -Windows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Agentless - Windows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14959"/>
              </p:ext>
            </p:extLst>
          </p:nvPr>
        </p:nvGraphicFramePr>
        <p:xfrm>
          <a:off x="8276989" y="3306851"/>
          <a:ext cx="1727200" cy="2082165"/>
        </p:xfrm>
        <a:graphic>
          <a:graphicData uri="http://schemas.openxmlformats.org/drawingml/2006/table">
            <a:tbl>
              <a:tblPr/>
              <a:tblGrid>
                <a:gridCol w="830201"/>
                <a:gridCol w="896999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Puppet CentOS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Puppet RHEL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699538"/>
              </p:ext>
            </p:extLst>
          </p:nvPr>
        </p:nvGraphicFramePr>
        <p:xfrm>
          <a:off x="4478803" y="5187248"/>
          <a:ext cx="2679700" cy="952500"/>
        </p:xfrm>
        <a:graphic>
          <a:graphicData uri="http://schemas.openxmlformats.org/drawingml/2006/table">
            <a:tbl>
              <a:tblPr/>
              <a:tblGrid>
                <a:gridCol w="1134820"/>
                <a:gridCol w="1544880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Provisioning 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MBC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 Linux Servers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290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04"/>
          <p:cNvSpPr>
            <a:spLocks noChangeArrowheads="1"/>
          </p:cNvSpPr>
          <p:nvPr/>
        </p:nvSpPr>
        <p:spPr bwMode="auto">
          <a:xfrm>
            <a:off x="3544363" y="2703584"/>
            <a:ext cx="4457622" cy="3450700"/>
          </a:xfrm>
          <a:prstGeom prst="rect">
            <a:avLst/>
          </a:prstGeom>
          <a:solidFill>
            <a:srgbClr val="FFFF99">
              <a:alpha val="78822"/>
            </a:srgb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37" name="Rectangle 104"/>
          <p:cNvSpPr>
            <a:spLocks noChangeArrowheads="1"/>
          </p:cNvSpPr>
          <p:nvPr/>
        </p:nvSpPr>
        <p:spPr bwMode="auto">
          <a:xfrm>
            <a:off x="10253484" y="2711287"/>
            <a:ext cx="1848444" cy="3450700"/>
          </a:xfrm>
          <a:prstGeom prst="rect">
            <a:avLst/>
          </a:prstGeom>
          <a:solidFill>
            <a:schemeClr val="tx2">
              <a:lumMod val="75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69" name="Rectangle 104"/>
          <p:cNvSpPr>
            <a:spLocks noChangeArrowheads="1"/>
          </p:cNvSpPr>
          <p:nvPr/>
        </p:nvSpPr>
        <p:spPr bwMode="auto">
          <a:xfrm>
            <a:off x="8131092" y="2711237"/>
            <a:ext cx="1996510" cy="3450700"/>
          </a:xfrm>
          <a:prstGeom prst="rect">
            <a:avLst/>
          </a:prstGeom>
          <a:solidFill>
            <a:schemeClr val="accent3">
              <a:lumMod val="20000"/>
              <a:lumOff val="80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54" name="Group 112"/>
          <p:cNvGrpSpPr>
            <a:grpSpLocks/>
          </p:cNvGrpSpPr>
          <p:nvPr/>
        </p:nvGrpSpPr>
        <p:grpSpPr bwMode="auto">
          <a:xfrm>
            <a:off x="10397243" y="1764755"/>
            <a:ext cx="692092" cy="695985"/>
            <a:chOff x="1051" y="1470"/>
            <a:chExt cx="166" cy="331"/>
          </a:xfrm>
        </p:grpSpPr>
        <p:sp>
          <p:nvSpPr>
            <p:cNvPr id="455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012" y="-2084"/>
            <a:ext cx="1334756" cy="77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88" name="Straight Connector 487"/>
          <p:cNvCxnSpPr>
            <a:stCxn id="457" idx="5"/>
          </p:cNvCxnSpPr>
          <p:nvPr/>
        </p:nvCxnSpPr>
        <p:spPr>
          <a:xfrm flipV="1">
            <a:off x="10618212" y="810638"/>
            <a:ext cx="530603" cy="1082380"/>
          </a:xfrm>
          <a:prstGeom prst="line">
            <a:avLst/>
          </a:prstGeom>
          <a:ln w="63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6" name="Rectangle 104"/>
          <p:cNvSpPr>
            <a:spLocks noChangeArrowheads="1"/>
          </p:cNvSpPr>
          <p:nvPr/>
        </p:nvSpPr>
        <p:spPr bwMode="auto">
          <a:xfrm>
            <a:off x="1783168" y="2724703"/>
            <a:ext cx="1620302" cy="3450700"/>
          </a:xfrm>
          <a:prstGeom prst="rect">
            <a:avLst/>
          </a:prstGeom>
          <a:solidFill>
            <a:schemeClr val="tx2">
              <a:lumMod val="20000"/>
              <a:lumOff val="80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57" name="Rectangle 104"/>
          <p:cNvSpPr>
            <a:spLocks noChangeArrowheads="1"/>
          </p:cNvSpPr>
          <p:nvPr/>
        </p:nvSpPr>
        <p:spPr bwMode="auto">
          <a:xfrm>
            <a:off x="54923" y="2703341"/>
            <a:ext cx="1636375" cy="3450700"/>
          </a:xfrm>
          <a:prstGeom prst="rect">
            <a:avLst/>
          </a:prstGeom>
          <a:solidFill>
            <a:schemeClr val="accent2">
              <a:lumMod val="20000"/>
              <a:lumOff val="80000"/>
              <a:alpha val="78822"/>
            </a:schemeClr>
          </a:solidFill>
          <a:ln w="9525" algn="ctr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414" y="372077"/>
            <a:ext cx="11489729" cy="1080000"/>
          </a:xfrm>
        </p:spPr>
        <p:txBody>
          <a:bodyPr/>
          <a:lstStyle/>
          <a:p>
            <a:r>
              <a:rPr lang="en-US" dirty="0" smtClean="0"/>
              <a:t>Example: Resources for </a:t>
            </a:r>
            <a:r>
              <a:rPr lang="en-US" dirty="0" smtClean="0">
                <a:solidFill>
                  <a:srgbClr val="FF0000"/>
                </a:solidFill>
              </a:rPr>
              <a:t>demo2user</a:t>
            </a:r>
            <a:r>
              <a:rPr lang="en-US" dirty="0" smtClean="0"/>
              <a:t> – What you can use</a:t>
            </a:r>
            <a:endParaRPr lang="en-US" dirty="0" smtClean="0"/>
          </a:p>
        </p:txBody>
      </p:sp>
      <p:sp>
        <p:nvSpPr>
          <p:cNvPr id="26631" name="Text Box 5"/>
          <p:cNvSpPr txBox="1">
            <a:spLocks noChangeArrowheads="1"/>
          </p:cNvSpPr>
          <p:nvPr/>
        </p:nvSpPr>
        <p:spPr bwMode="auto">
          <a:xfrm>
            <a:off x="3943771" y="2802821"/>
            <a:ext cx="369498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 dirty="0">
                <a:latin typeface="Arial" charset="0"/>
              </a:rPr>
              <a:t>Servers </a:t>
            </a:r>
            <a:r>
              <a:rPr lang="en-US" sz="1400" b="1" i="1" dirty="0" smtClean="0">
                <a:latin typeface="Arial" charset="0"/>
              </a:rPr>
              <a:t>under SA/DCA CDF </a:t>
            </a:r>
            <a:r>
              <a:rPr lang="en-US" sz="1400" b="1" i="1" dirty="0">
                <a:latin typeface="Arial" charset="0"/>
              </a:rPr>
              <a:t>management</a:t>
            </a:r>
            <a:endParaRPr lang="en-US" sz="1400" i="1" dirty="0">
              <a:latin typeface="Arial" charset="0"/>
            </a:endParaRPr>
          </a:p>
        </p:txBody>
      </p:sp>
      <p:sp>
        <p:nvSpPr>
          <p:cNvPr id="26650" name="Line 107"/>
          <p:cNvSpPr>
            <a:spLocks noChangeShapeType="1"/>
          </p:cNvSpPr>
          <p:nvPr/>
        </p:nvSpPr>
        <p:spPr bwMode="auto">
          <a:xfrm flipV="1">
            <a:off x="182880" y="3154939"/>
            <a:ext cx="11858813" cy="23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83" name="Text Box 4"/>
          <p:cNvSpPr txBox="1">
            <a:spLocks noChangeArrowheads="1"/>
          </p:cNvSpPr>
          <p:nvPr/>
        </p:nvSpPr>
        <p:spPr bwMode="auto">
          <a:xfrm>
            <a:off x="10413920" y="1070896"/>
            <a:ext cx="1757212" cy="553998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000" dirty="0" smtClean="0">
                <a:latin typeface="Arial" charset="0"/>
              </a:rPr>
              <a:t>AccessVM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>
                <a:latin typeface="Arial" charset="0"/>
              </a:rPr>
              <a:t>d</a:t>
            </a:r>
            <a:r>
              <a:rPr lang="en-US" sz="1000" dirty="0" smtClean="0">
                <a:latin typeface="Arial" charset="0"/>
              </a:rPr>
              <a:t>ca-clientapps01.eswdc.net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172.16.239.1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484" name="Straight Connector 483"/>
          <p:cNvCxnSpPr/>
          <p:nvPr/>
        </p:nvCxnSpPr>
        <p:spPr>
          <a:xfrm flipV="1">
            <a:off x="9991375" y="2599525"/>
            <a:ext cx="17342" cy="54126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9" name="Line 142"/>
          <p:cNvSpPr>
            <a:spLocks noChangeShapeType="1"/>
          </p:cNvSpPr>
          <p:nvPr/>
        </p:nvSpPr>
        <p:spPr bwMode="auto">
          <a:xfrm>
            <a:off x="988788" y="3165081"/>
            <a:ext cx="20086" cy="1404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58" name="Text Box 5"/>
          <p:cNvSpPr txBox="1">
            <a:spLocks noChangeArrowheads="1"/>
          </p:cNvSpPr>
          <p:nvPr/>
        </p:nvSpPr>
        <p:spPr bwMode="auto">
          <a:xfrm>
            <a:off x="91012" y="2735512"/>
            <a:ext cx="15367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i="1" dirty="0" smtClean="0">
                <a:latin typeface="Arial" charset="0"/>
              </a:rPr>
              <a:t>SA 10.60 managed</a:t>
            </a:r>
          </a:p>
          <a:p>
            <a:pPr algn="ctr"/>
            <a:r>
              <a:rPr lang="en-US" sz="1200" b="1" i="1" dirty="0" smtClean="0">
                <a:latin typeface="Arial" charset="0"/>
              </a:rPr>
              <a:t>vCenter 6.0</a:t>
            </a:r>
            <a:endParaRPr lang="en-US" sz="1200" i="1" dirty="0">
              <a:latin typeface="Arial" charset="0"/>
            </a:endParaRPr>
          </a:p>
        </p:txBody>
      </p:sp>
      <p:grpSp>
        <p:nvGrpSpPr>
          <p:cNvPr id="785" name="Group 784"/>
          <p:cNvGrpSpPr/>
          <p:nvPr/>
        </p:nvGrpSpPr>
        <p:grpSpPr>
          <a:xfrm>
            <a:off x="2117231" y="3161104"/>
            <a:ext cx="1264864" cy="2912276"/>
            <a:chOff x="6340597" y="1368728"/>
            <a:chExt cx="1264864" cy="2912276"/>
          </a:xfrm>
        </p:grpSpPr>
        <p:sp>
          <p:nvSpPr>
            <p:cNvPr id="786" name="Text Box 140"/>
            <p:cNvSpPr txBox="1">
              <a:spLocks noChangeArrowheads="1"/>
            </p:cNvSpPr>
            <p:nvPr/>
          </p:nvSpPr>
          <p:spPr bwMode="auto">
            <a:xfrm>
              <a:off x="6545817" y="3368598"/>
              <a:ext cx="1059644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dca-nfs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172.16.239.25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787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789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0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1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2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3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4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5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6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7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8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9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0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1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2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3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4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5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6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7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8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9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0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1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2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3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4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5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88" name="Line 142"/>
            <p:cNvSpPr>
              <a:spLocks noChangeShapeType="1"/>
            </p:cNvSpPr>
            <p:nvPr/>
          </p:nvSpPr>
          <p:spPr bwMode="auto">
            <a:xfrm>
              <a:off x="7481751" y="1368728"/>
              <a:ext cx="20808" cy="19994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17" name="Text Box 5"/>
          <p:cNvSpPr txBox="1">
            <a:spLocks noChangeArrowheads="1"/>
          </p:cNvSpPr>
          <p:nvPr/>
        </p:nvSpPr>
        <p:spPr bwMode="auto">
          <a:xfrm>
            <a:off x="1891232" y="2743075"/>
            <a:ext cx="13395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200" b="1" i="1" dirty="0" smtClean="0">
                <a:latin typeface="Arial" charset="0"/>
              </a:rPr>
              <a:t>DCA Suite</a:t>
            </a:r>
          </a:p>
          <a:p>
            <a:pPr algn="ctr"/>
            <a:r>
              <a:rPr lang="en-US" sz="1200" b="1" i="1" dirty="0" smtClean="0">
                <a:latin typeface="Arial" charset="0"/>
              </a:rPr>
              <a:t>Version 2018.08</a:t>
            </a:r>
            <a:endParaRPr lang="en-US" sz="1200" i="1" dirty="0">
              <a:latin typeface="Arial" charset="0"/>
            </a:endParaRPr>
          </a:p>
        </p:txBody>
      </p:sp>
      <p:sp>
        <p:nvSpPr>
          <p:cNvPr id="818" name="Text Box 140"/>
          <p:cNvSpPr txBox="1">
            <a:spLocks noChangeArrowheads="1"/>
          </p:cNvSpPr>
          <p:nvPr/>
        </p:nvSpPr>
        <p:spPr bwMode="auto">
          <a:xfrm>
            <a:off x="583935" y="3284983"/>
            <a:ext cx="1059644" cy="646331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 smtClean="0">
                <a:latin typeface="Arial" charset="0"/>
              </a:rPr>
              <a:t>Windows </a:t>
            </a:r>
          </a:p>
          <a:p>
            <a:pPr algn="ctr"/>
            <a:r>
              <a:rPr lang="en-US" sz="900" dirty="0" smtClean="0">
                <a:latin typeface="Arial" charset="0"/>
              </a:rPr>
              <a:t>2012 R2 64 Bit</a:t>
            </a:r>
            <a:endParaRPr lang="en-US" sz="900" dirty="0">
              <a:latin typeface="Arial" charset="0"/>
            </a:endParaRPr>
          </a:p>
          <a:p>
            <a:pPr algn="ctr"/>
            <a:r>
              <a:rPr lang="en-US" sz="900" dirty="0">
                <a:latin typeface="Arial" charset="0"/>
              </a:rPr>
              <a:t>v</a:t>
            </a:r>
            <a:r>
              <a:rPr lang="en-US" sz="900" dirty="0" smtClean="0">
                <a:latin typeface="Arial" charset="0"/>
              </a:rPr>
              <a:t>center-5-5</a:t>
            </a:r>
            <a:endParaRPr lang="en-US" sz="900" dirty="0">
              <a:latin typeface="Arial" charset="0"/>
            </a:endParaRPr>
          </a:p>
          <a:p>
            <a:pPr algn="ctr"/>
            <a:r>
              <a:rPr lang="en-US" sz="900" dirty="0" smtClean="0">
                <a:latin typeface="Arial" charset="0"/>
              </a:rPr>
              <a:t>172.16.239.13</a:t>
            </a:r>
            <a:endParaRPr lang="en-US" sz="900" dirty="0">
              <a:latin typeface="Arial" charset="0"/>
            </a:endParaRPr>
          </a:p>
        </p:txBody>
      </p:sp>
      <p:grpSp>
        <p:nvGrpSpPr>
          <p:cNvPr id="819" name="Group 112"/>
          <p:cNvGrpSpPr>
            <a:grpSpLocks/>
          </p:cNvGrpSpPr>
          <p:nvPr/>
        </p:nvGrpSpPr>
        <p:grpSpPr bwMode="auto">
          <a:xfrm>
            <a:off x="378715" y="3648114"/>
            <a:ext cx="277812" cy="549275"/>
            <a:chOff x="1051" y="1470"/>
            <a:chExt cx="166" cy="331"/>
          </a:xfrm>
        </p:grpSpPr>
        <p:sp>
          <p:nvSpPr>
            <p:cNvPr id="820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47" name="Oval 40"/>
          <p:cNvSpPr>
            <a:spLocks noChangeArrowheads="1"/>
          </p:cNvSpPr>
          <p:nvPr/>
        </p:nvSpPr>
        <p:spPr bwMode="auto">
          <a:xfrm>
            <a:off x="360187" y="4122213"/>
            <a:ext cx="203976" cy="214110"/>
          </a:xfrm>
          <a:prstGeom prst="ellipse">
            <a:avLst/>
          </a:prstGeom>
          <a:solidFill>
            <a:srgbClr val="98B6D8"/>
          </a:solidFill>
          <a:ln w="9525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 dirty="0">
                <a:latin typeface="Arial Narrow" pitchFamily="34" charset="0"/>
              </a:rPr>
              <a:t>A</a:t>
            </a:r>
          </a:p>
        </p:txBody>
      </p:sp>
      <p:sp>
        <p:nvSpPr>
          <p:cNvPr id="912" name="Line 142"/>
          <p:cNvSpPr>
            <a:spLocks noChangeShapeType="1"/>
          </p:cNvSpPr>
          <p:nvPr/>
        </p:nvSpPr>
        <p:spPr bwMode="auto">
          <a:xfrm flipH="1">
            <a:off x="973828" y="3931314"/>
            <a:ext cx="40472" cy="15410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03615" y="3927409"/>
            <a:ext cx="960285" cy="1367190"/>
            <a:chOff x="5859592" y="4022090"/>
            <a:chExt cx="1219428" cy="1845767"/>
          </a:xfrm>
        </p:grpSpPr>
        <p:sp>
          <p:nvSpPr>
            <p:cNvPr id="879" name="Line 142"/>
            <p:cNvSpPr>
              <a:spLocks noChangeShapeType="1"/>
            </p:cNvSpPr>
            <p:nvPr/>
          </p:nvSpPr>
          <p:spPr bwMode="auto">
            <a:xfrm flipH="1">
              <a:off x="6973584" y="4022090"/>
              <a:ext cx="65779" cy="9598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" name="Text Box 140"/>
            <p:cNvSpPr txBox="1">
              <a:spLocks noChangeArrowheads="1"/>
            </p:cNvSpPr>
            <p:nvPr/>
          </p:nvSpPr>
          <p:spPr bwMode="auto">
            <a:xfrm>
              <a:off x="5859592" y="4604887"/>
              <a:ext cx="1059644" cy="706370"/>
            </a:xfrm>
            <a:prstGeom prst="rect">
              <a:avLst/>
            </a:prstGeom>
            <a:solidFill>
              <a:srgbClr val="FFC0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700" dirty="0" smtClean="0">
                  <a:latin typeface="Arial" charset="0"/>
                </a:rPr>
                <a:t>VMWARE ESXi</a:t>
              </a:r>
              <a:endParaRPr lang="en-US" sz="700" dirty="0">
                <a:latin typeface="Arial" charset="0"/>
              </a:endParaRPr>
            </a:p>
            <a:p>
              <a:pPr algn="ctr"/>
              <a:r>
                <a:rPr lang="en-US" sz="700" dirty="0" smtClean="0">
                  <a:latin typeface="Arial" charset="0"/>
                </a:rPr>
                <a:t>Virtual</a:t>
              </a:r>
            </a:p>
            <a:p>
              <a:pPr algn="ctr"/>
              <a:r>
                <a:rPr lang="en-US" sz="700" dirty="0" smtClean="0">
                  <a:latin typeface="Arial" charset="0"/>
                </a:rPr>
                <a:t>16 GB RAM</a:t>
              </a:r>
              <a:endParaRPr lang="en-US" sz="700" dirty="0">
                <a:latin typeface="Arial" charset="0"/>
              </a:endParaRPr>
            </a:p>
            <a:p>
              <a:pPr algn="ctr"/>
              <a:r>
                <a:rPr lang="en-US" sz="700" dirty="0" smtClean="0">
                  <a:latin typeface="Arial" charset="0"/>
                </a:rPr>
                <a:t>172.16.239.3</a:t>
              </a:r>
              <a:endParaRPr lang="en-US" sz="700" dirty="0">
                <a:latin typeface="Arial" charset="0"/>
              </a:endParaRPr>
            </a:p>
          </p:txBody>
        </p:sp>
        <p:grpSp>
          <p:nvGrpSpPr>
            <p:cNvPr id="881" name="Group 112"/>
            <p:cNvGrpSpPr>
              <a:grpSpLocks/>
            </p:cNvGrpSpPr>
            <p:nvPr/>
          </p:nvGrpSpPr>
          <p:grpSpPr bwMode="auto">
            <a:xfrm>
              <a:off x="6801208" y="4968685"/>
              <a:ext cx="277812" cy="549275"/>
              <a:chOff x="1051" y="1470"/>
              <a:chExt cx="166" cy="331"/>
            </a:xfrm>
          </p:grpSpPr>
          <p:sp>
            <p:nvSpPr>
              <p:cNvPr id="882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3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4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5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6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7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8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9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0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1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2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3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4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5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6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7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8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9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0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1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2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3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4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5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6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7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8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909" name="Flowchart: Magnetic Disk 908"/>
            <p:cNvSpPr/>
            <p:nvPr/>
          </p:nvSpPr>
          <p:spPr>
            <a:xfrm>
              <a:off x="6581088" y="5391842"/>
              <a:ext cx="415284" cy="435271"/>
            </a:xfrm>
            <a:prstGeom prst="flowChartMagneticDisk">
              <a:avLst/>
            </a:prstGeom>
            <a:gradFill flip="none" rotWithShape="1">
              <a:gsLst>
                <a:gs pos="79000">
                  <a:srgbClr val="00104D"/>
                </a:gs>
                <a:gs pos="38000">
                  <a:srgbClr val="1E89C5"/>
                </a:gs>
              </a:gsLst>
              <a:path path="circle">
                <a:fillToRect l="100000" b="100000"/>
              </a:path>
              <a:tileRect t="-100000" r="-100000"/>
            </a:gradFill>
            <a:ln w="15875">
              <a:gradFill>
                <a:gsLst>
                  <a:gs pos="2900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tlCol="0" anchor="ctr"/>
            <a:lstStyle/>
            <a:p>
              <a:pPr algn="ctr">
                <a:lnSpc>
                  <a:spcPct val="85000"/>
                </a:lnSpc>
              </a:pPr>
              <a:endParaRPr lang="en-US" sz="200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910" name="Text Box 110"/>
            <p:cNvSpPr txBox="1">
              <a:spLocks noChangeArrowheads="1"/>
            </p:cNvSpPr>
            <p:nvPr/>
          </p:nvSpPr>
          <p:spPr bwMode="auto">
            <a:xfrm>
              <a:off x="6590096" y="5493896"/>
              <a:ext cx="425845" cy="37396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Arial" charset="0"/>
                </a:rPr>
                <a:t>253 </a:t>
              </a:r>
            </a:p>
            <a:p>
              <a:pPr algn="ctr"/>
              <a:r>
                <a:rPr lang="en-US" sz="600" dirty="0" smtClean="0">
                  <a:solidFill>
                    <a:schemeClr val="bg1"/>
                  </a:solidFill>
                  <a:latin typeface="Arial" charset="0"/>
                </a:rPr>
                <a:t>GB</a:t>
              </a:r>
              <a:endParaRPr lang="en-US" sz="600" dirty="0">
                <a:solidFill>
                  <a:schemeClr val="bg1"/>
                </a:solidFill>
                <a:latin typeface="Arial" charset="0"/>
              </a:endParaRPr>
            </a:p>
          </p:txBody>
        </p:sp>
      </p:grpSp>
      <p:sp>
        <p:nvSpPr>
          <p:cNvPr id="913" name="Text Box 140"/>
          <p:cNvSpPr txBox="1">
            <a:spLocks noChangeArrowheads="1"/>
          </p:cNvSpPr>
          <p:nvPr/>
        </p:nvSpPr>
        <p:spPr bwMode="auto">
          <a:xfrm>
            <a:off x="96574" y="5193029"/>
            <a:ext cx="834457" cy="523220"/>
          </a:xfrm>
          <a:prstGeom prst="rect">
            <a:avLst/>
          </a:prstGeom>
          <a:solidFill>
            <a:srgbClr val="FFC000"/>
          </a:solidFill>
          <a:ln w="9525" algn="ctr">
            <a:solidFill>
              <a:schemeClr val="accent6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700" dirty="0" smtClean="0">
                <a:latin typeface="Arial" charset="0"/>
              </a:rPr>
              <a:t>VMWARE ESXi</a:t>
            </a:r>
            <a:endParaRPr lang="en-US" sz="700" dirty="0">
              <a:latin typeface="Arial" charset="0"/>
            </a:endParaRPr>
          </a:p>
          <a:p>
            <a:pPr algn="ctr"/>
            <a:r>
              <a:rPr lang="en-US" sz="700" dirty="0" smtClean="0">
                <a:latin typeface="Arial" charset="0"/>
              </a:rPr>
              <a:t>Virtual</a:t>
            </a:r>
          </a:p>
          <a:p>
            <a:pPr algn="ctr"/>
            <a:r>
              <a:rPr lang="en-US" sz="700" dirty="0" smtClean="0">
                <a:latin typeface="Arial" charset="0"/>
              </a:rPr>
              <a:t>16 GB RAM</a:t>
            </a:r>
            <a:endParaRPr lang="en-US" sz="700" dirty="0">
              <a:latin typeface="Arial" charset="0"/>
            </a:endParaRPr>
          </a:p>
          <a:p>
            <a:pPr algn="ctr"/>
            <a:r>
              <a:rPr lang="en-US" sz="700" dirty="0" smtClean="0">
                <a:latin typeface="Arial" charset="0"/>
              </a:rPr>
              <a:t>172.16.239.4</a:t>
            </a:r>
            <a:endParaRPr lang="en-US" sz="700" dirty="0">
              <a:latin typeface="Arial" charset="0"/>
            </a:endParaRPr>
          </a:p>
        </p:txBody>
      </p:sp>
      <p:grpSp>
        <p:nvGrpSpPr>
          <p:cNvPr id="914" name="Group 112"/>
          <p:cNvGrpSpPr>
            <a:grpSpLocks/>
          </p:cNvGrpSpPr>
          <p:nvPr/>
        </p:nvGrpSpPr>
        <p:grpSpPr bwMode="auto">
          <a:xfrm>
            <a:off x="838084" y="5462500"/>
            <a:ext cx="218774" cy="406857"/>
            <a:chOff x="1051" y="1470"/>
            <a:chExt cx="166" cy="331"/>
          </a:xfrm>
        </p:grpSpPr>
        <p:sp>
          <p:nvSpPr>
            <p:cNvPr id="917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8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9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0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4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5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6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7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8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9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0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1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5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6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7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8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9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0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1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3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15" name="Flowchart: Magnetic Disk 914"/>
          <p:cNvSpPr/>
          <p:nvPr/>
        </p:nvSpPr>
        <p:spPr>
          <a:xfrm>
            <a:off x="664743" y="5775940"/>
            <a:ext cx="327031" cy="322412"/>
          </a:xfrm>
          <a:prstGeom prst="flowChartMagneticDisk">
            <a:avLst/>
          </a:prstGeom>
          <a:gradFill flip="none" rotWithShape="1">
            <a:gsLst>
              <a:gs pos="79000">
                <a:srgbClr val="00104D"/>
              </a:gs>
              <a:gs pos="38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 w="15875">
            <a:gradFill>
              <a:gsLst>
                <a:gs pos="2900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916" name="Text Box 110"/>
          <p:cNvSpPr txBox="1">
            <a:spLocks noChangeArrowheads="1"/>
          </p:cNvSpPr>
          <p:nvPr/>
        </p:nvSpPr>
        <p:spPr bwMode="auto">
          <a:xfrm>
            <a:off x="671836" y="5851533"/>
            <a:ext cx="33534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600" dirty="0" smtClean="0">
                <a:solidFill>
                  <a:schemeClr val="bg1"/>
                </a:solidFill>
                <a:latin typeface="Arial" charset="0"/>
              </a:rPr>
              <a:t>253 </a:t>
            </a:r>
          </a:p>
          <a:p>
            <a:pPr algn="ctr"/>
            <a:r>
              <a:rPr lang="en-US" sz="600" dirty="0" smtClean="0">
                <a:solidFill>
                  <a:schemeClr val="bg1"/>
                </a:solidFill>
                <a:latin typeface="Arial" charset="0"/>
              </a:rPr>
              <a:t>GB</a:t>
            </a:r>
            <a:endParaRPr lang="en-US" sz="600" dirty="0">
              <a:solidFill>
                <a:schemeClr val="bg1"/>
              </a:solidFill>
              <a:latin typeface="Arial" charset="0"/>
            </a:endParaRPr>
          </a:p>
        </p:txBody>
      </p:sp>
      <p:grpSp>
        <p:nvGrpSpPr>
          <p:cNvPr id="569" name="Group 568"/>
          <p:cNvGrpSpPr/>
          <p:nvPr/>
        </p:nvGrpSpPr>
        <p:grpSpPr>
          <a:xfrm>
            <a:off x="1977472" y="3157258"/>
            <a:ext cx="1264864" cy="2050880"/>
            <a:chOff x="6340597" y="2230124"/>
            <a:chExt cx="1264864" cy="2050880"/>
          </a:xfrm>
        </p:grpSpPr>
        <p:sp>
          <p:nvSpPr>
            <p:cNvPr id="570" name="Text Box 140"/>
            <p:cNvSpPr txBox="1">
              <a:spLocks noChangeArrowheads="1"/>
            </p:cNvSpPr>
            <p:nvPr/>
          </p:nvSpPr>
          <p:spPr bwMode="auto">
            <a:xfrm>
              <a:off x="6545817" y="3368598"/>
              <a:ext cx="1059644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dca-wkr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172.16.239.24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572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574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5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6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7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8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9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0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1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2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3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4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5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6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7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8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89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0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1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2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3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4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5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6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7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8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9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01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573" name="Line 142"/>
            <p:cNvSpPr>
              <a:spLocks noChangeShapeType="1"/>
            </p:cNvSpPr>
            <p:nvPr/>
          </p:nvSpPr>
          <p:spPr bwMode="auto">
            <a:xfrm>
              <a:off x="7490185" y="2230124"/>
              <a:ext cx="12373" cy="11380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02" name="Group 601"/>
          <p:cNvGrpSpPr/>
          <p:nvPr/>
        </p:nvGrpSpPr>
        <p:grpSpPr>
          <a:xfrm>
            <a:off x="1856190" y="3162882"/>
            <a:ext cx="1344828" cy="1196118"/>
            <a:chOff x="6340597" y="3084886"/>
            <a:chExt cx="1344828" cy="1196118"/>
          </a:xfrm>
        </p:grpSpPr>
        <p:sp>
          <p:nvSpPr>
            <p:cNvPr id="663" name="Text Box 140"/>
            <p:cNvSpPr txBox="1">
              <a:spLocks noChangeArrowheads="1"/>
            </p:cNvSpPr>
            <p:nvPr/>
          </p:nvSpPr>
          <p:spPr bwMode="auto">
            <a:xfrm>
              <a:off x="6545817" y="3368598"/>
              <a:ext cx="1139608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dca-mast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172.16.239.23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666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668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9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0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1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2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3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4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5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6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7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8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69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0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1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2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3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4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5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6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7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8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79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0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1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2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3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4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67" name="Line 142"/>
            <p:cNvSpPr>
              <a:spLocks noChangeShapeType="1"/>
            </p:cNvSpPr>
            <p:nvPr/>
          </p:nvSpPr>
          <p:spPr bwMode="auto">
            <a:xfrm>
              <a:off x="7068878" y="3084886"/>
              <a:ext cx="6761" cy="2837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638" name="Group 637"/>
          <p:cNvGrpSpPr/>
          <p:nvPr/>
        </p:nvGrpSpPr>
        <p:grpSpPr>
          <a:xfrm>
            <a:off x="10795181" y="3151148"/>
            <a:ext cx="1264864" cy="2912276"/>
            <a:chOff x="6340597" y="1368728"/>
            <a:chExt cx="1264864" cy="2912276"/>
          </a:xfrm>
        </p:grpSpPr>
        <p:sp>
          <p:nvSpPr>
            <p:cNvPr id="639" name="Text Box 140"/>
            <p:cNvSpPr txBox="1">
              <a:spLocks noChangeArrowheads="1"/>
            </p:cNvSpPr>
            <p:nvPr/>
          </p:nvSpPr>
          <p:spPr bwMode="auto">
            <a:xfrm>
              <a:off x="6400777" y="3368598"/>
              <a:ext cx="1204684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demo-nfs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172.16.239.42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640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642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3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4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5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6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7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8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49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0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1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2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3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4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5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6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7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58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0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1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65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5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8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29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0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1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2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33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41" name="Line 142"/>
            <p:cNvSpPr>
              <a:spLocks noChangeShapeType="1"/>
            </p:cNvSpPr>
            <p:nvPr/>
          </p:nvSpPr>
          <p:spPr bwMode="auto">
            <a:xfrm>
              <a:off x="7481751" y="1368728"/>
              <a:ext cx="20808" cy="19994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34" name="Text Box 5"/>
          <p:cNvSpPr txBox="1">
            <a:spLocks noChangeArrowheads="1"/>
          </p:cNvSpPr>
          <p:nvPr/>
        </p:nvSpPr>
        <p:spPr bwMode="auto">
          <a:xfrm>
            <a:off x="10181290" y="2721179"/>
            <a:ext cx="18604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i="1" dirty="0" smtClean="0">
                <a:latin typeface="Arial" charset="0"/>
              </a:rPr>
              <a:t>DCA Suite 2018.05 Demo Appliance</a:t>
            </a:r>
            <a:endParaRPr lang="en-US" sz="1200" i="1" dirty="0">
              <a:latin typeface="Arial" charset="0"/>
            </a:endParaRPr>
          </a:p>
        </p:txBody>
      </p:sp>
      <p:grpSp>
        <p:nvGrpSpPr>
          <p:cNvPr id="735" name="Group 734"/>
          <p:cNvGrpSpPr/>
          <p:nvPr/>
        </p:nvGrpSpPr>
        <p:grpSpPr>
          <a:xfrm>
            <a:off x="10617783" y="3135362"/>
            <a:ext cx="1264864" cy="2050880"/>
            <a:chOff x="6340597" y="2230124"/>
            <a:chExt cx="1264864" cy="2050880"/>
          </a:xfrm>
        </p:grpSpPr>
        <p:sp>
          <p:nvSpPr>
            <p:cNvPr id="736" name="Text Box 140"/>
            <p:cNvSpPr txBox="1">
              <a:spLocks noChangeArrowheads="1"/>
            </p:cNvSpPr>
            <p:nvPr/>
          </p:nvSpPr>
          <p:spPr bwMode="auto">
            <a:xfrm>
              <a:off x="6477044" y="3368598"/>
              <a:ext cx="1128417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demo-wkr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172.16.239.41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737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739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0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1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2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3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4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5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6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7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8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49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0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1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2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3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4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5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56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8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49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0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1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2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3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4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5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6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738" name="Line 142"/>
            <p:cNvSpPr>
              <a:spLocks noChangeShapeType="1"/>
            </p:cNvSpPr>
            <p:nvPr/>
          </p:nvSpPr>
          <p:spPr bwMode="auto">
            <a:xfrm>
              <a:off x="7490185" y="2230124"/>
              <a:ext cx="12373" cy="11380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57" name="Group 856"/>
          <p:cNvGrpSpPr/>
          <p:nvPr/>
        </p:nvGrpSpPr>
        <p:grpSpPr>
          <a:xfrm>
            <a:off x="10496501" y="3140986"/>
            <a:ext cx="1247894" cy="1196118"/>
            <a:chOff x="6340597" y="3084886"/>
            <a:chExt cx="1247894" cy="1196118"/>
          </a:xfrm>
        </p:grpSpPr>
        <p:sp>
          <p:nvSpPr>
            <p:cNvPr id="858" name="Text Box 140"/>
            <p:cNvSpPr txBox="1">
              <a:spLocks noChangeArrowheads="1"/>
            </p:cNvSpPr>
            <p:nvPr/>
          </p:nvSpPr>
          <p:spPr bwMode="auto">
            <a:xfrm>
              <a:off x="6401558" y="3224931"/>
              <a:ext cx="1186933" cy="646331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chemeClr val="accent6">
                  <a:lumMod val="60000"/>
                  <a:lumOff val="40000"/>
                </a:schemeClr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900" dirty="0" smtClean="0">
                  <a:latin typeface="Arial" charset="0"/>
                </a:rPr>
                <a:t>CentOS </a:t>
              </a:r>
            </a:p>
            <a:p>
              <a:pPr algn="ctr"/>
              <a:r>
                <a:rPr lang="en-US" sz="900" dirty="0" smtClean="0">
                  <a:latin typeface="Arial" charset="0"/>
                </a:rPr>
                <a:t>7.3 64 Bit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demo-mast</a:t>
              </a:r>
              <a:endParaRPr lang="en-US" sz="900" dirty="0">
                <a:latin typeface="Arial" charset="0"/>
              </a:endParaRPr>
            </a:p>
            <a:p>
              <a:pPr algn="ctr"/>
              <a:r>
                <a:rPr lang="en-US" sz="900" dirty="0" smtClean="0">
                  <a:latin typeface="Arial" charset="0"/>
                </a:rPr>
                <a:t>172.16.239.40</a:t>
              </a:r>
              <a:endParaRPr lang="en-US" sz="900" dirty="0">
                <a:latin typeface="Arial" charset="0"/>
              </a:endParaRPr>
            </a:p>
          </p:txBody>
        </p:sp>
        <p:grpSp>
          <p:nvGrpSpPr>
            <p:cNvPr id="859" name="Group 112"/>
            <p:cNvGrpSpPr>
              <a:grpSpLocks/>
            </p:cNvGrpSpPr>
            <p:nvPr/>
          </p:nvGrpSpPr>
          <p:grpSpPr bwMode="auto">
            <a:xfrm>
              <a:off x="6340597" y="3731729"/>
              <a:ext cx="277812" cy="549275"/>
              <a:chOff x="1051" y="1470"/>
              <a:chExt cx="166" cy="331"/>
            </a:xfrm>
          </p:grpSpPr>
          <p:sp>
            <p:nvSpPr>
              <p:cNvPr id="861" name="Freeform 113"/>
              <p:cNvSpPr>
                <a:spLocks/>
              </p:cNvSpPr>
              <p:nvPr/>
            </p:nvSpPr>
            <p:spPr bwMode="auto">
              <a:xfrm>
                <a:off x="1055" y="1474"/>
                <a:ext cx="156" cy="321"/>
              </a:xfrm>
              <a:custGeom>
                <a:avLst/>
                <a:gdLst>
                  <a:gd name="T0" fmla="*/ 2147483647 w 80"/>
                  <a:gd name="T1" fmla="*/ 2147483647 h 164"/>
                  <a:gd name="T2" fmla="*/ 2147483647 w 80"/>
                  <a:gd name="T3" fmla="*/ 2147483647 h 164"/>
                  <a:gd name="T4" fmla="*/ 2147483647 w 80"/>
                  <a:gd name="T5" fmla="*/ 2147483647 h 164"/>
                  <a:gd name="T6" fmla="*/ 2147483647 w 80"/>
                  <a:gd name="T7" fmla="*/ 2147483647 h 164"/>
                  <a:gd name="T8" fmla="*/ 2147483647 w 80"/>
                  <a:gd name="T9" fmla="*/ 2147483647 h 164"/>
                  <a:gd name="T10" fmla="*/ 2147483647 w 80"/>
                  <a:gd name="T11" fmla="*/ 2147483647 h 164"/>
                  <a:gd name="T12" fmla="*/ 2147483647 w 80"/>
                  <a:gd name="T13" fmla="*/ 2147483647 h 164"/>
                  <a:gd name="T14" fmla="*/ 2147483647 w 80"/>
                  <a:gd name="T15" fmla="*/ 2147483647 h 164"/>
                  <a:gd name="T16" fmla="*/ 2147483647 w 80"/>
                  <a:gd name="T17" fmla="*/ 0 h 164"/>
                  <a:gd name="T18" fmla="*/ 2147483647 w 80"/>
                  <a:gd name="T19" fmla="*/ 0 h 164"/>
                  <a:gd name="T20" fmla="*/ 2147483647 w 80"/>
                  <a:gd name="T21" fmla="*/ 0 h 164"/>
                  <a:gd name="T22" fmla="*/ 2147483647 w 80"/>
                  <a:gd name="T23" fmla="*/ 0 h 164"/>
                  <a:gd name="T24" fmla="*/ 2147483647 w 80"/>
                  <a:gd name="T25" fmla="*/ 2147483647 h 164"/>
                  <a:gd name="T26" fmla="*/ 2147483647 w 80"/>
                  <a:gd name="T27" fmla="*/ 2147483647 h 164"/>
                  <a:gd name="T28" fmla="*/ 2147483647 w 80"/>
                  <a:gd name="T29" fmla="*/ 2147483647 h 164"/>
                  <a:gd name="T30" fmla="*/ 2147483647 w 80"/>
                  <a:gd name="T31" fmla="*/ 2147483647 h 164"/>
                  <a:gd name="T32" fmla="*/ 2147483647 w 80"/>
                  <a:gd name="T33" fmla="*/ 2147483647 h 164"/>
                  <a:gd name="T34" fmla="*/ 2147483647 w 80"/>
                  <a:gd name="T35" fmla="*/ 2147483647 h 164"/>
                  <a:gd name="T36" fmla="*/ 2147483647 w 80"/>
                  <a:gd name="T37" fmla="*/ 2147483647 h 164"/>
                  <a:gd name="T38" fmla="*/ 2147483647 w 80"/>
                  <a:gd name="T39" fmla="*/ 2147483647 h 164"/>
                  <a:gd name="T40" fmla="*/ 2147483647 w 80"/>
                  <a:gd name="T41" fmla="*/ 2147483647 h 164"/>
                  <a:gd name="T42" fmla="*/ 2147483647 w 80"/>
                  <a:gd name="T43" fmla="*/ 2147483647 h 164"/>
                  <a:gd name="T44" fmla="*/ 2147483647 w 80"/>
                  <a:gd name="T45" fmla="*/ 2147483647 h 164"/>
                  <a:gd name="T46" fmla="*/ 2147483647 w 80"/>
                  <a:gd name="T47" fmla="*/ 2147483647 h 164"/>
                  <a:gd name="T48" fmla="*/ 2147483647 w 80"/>
                  <a:gd name="T49" fmla="*/ 2147483647 h 164"/>
                  <a:gd name="T50" fmla="*/ 2147483647 w 80"/>
                  <a:gd name="T51" fmla="*/ 2147483647 h 164"/>
                  <a:gd name="T52" fmla="*/ 2147483647 w 80"/>
                  <a:gd name="T53" fmla="*/ 2147483647 h 164"/>
                  <a:gd name="T54" fmla="*/ 2147483647 w 80"/>
                  <a:gd name="T55" fmla="*/ 2147483647 h 164"/>
                  <a:gd name="T56" fmla="*/ 2147483647 w 80"/>
                  <a:gd name="T57" fmla="*/ 2147483647 h 164"/>
                  <a:gd name="T58" fmla="*/ 2147483647 w 80"/>
                  <a:gd name="T59" fmla="*/ 2147483647 h 164"/>
                  <a:gd name="T60" fmla="*/ 2147483647 w 80"/>
                  <a:gd name="T61" fmla="*/ 2147483647 h 164"/>
                  <a:gd name="T62" fmla="*/ 2147483647 w 80"/>
                  <a:gd name="T63" fmla="*/ 2147483647 h 164"/>
                  <a:gd name="T64" fmla="*/ 2147483647 w 80"/>
                  <a:gd name="T65" fmla="*/ 2147483647 h 164"/>
                  <a:gd name="T66" fmla="*/ 2147483647 w 80"/>
                  <a:gd name="T67" fmla="*/ 2147483647 h 164"/>
                  <a:gd name="T68" fmla="*/ 2147483647 w 80"/>
                  <a:gd name="T69" fmla="*/ 2147483647 h 164"/>
                  <a:gd name="T70" fmla="*/ 2147483647 w 80"/>
                  <a:gd name="T71" fmla="*/ 2147483647 h 164"/>
                  <a:gd name="T72" fmla="*/ 0 w 80"/>
                  <a:gd name="T73" fmla="*/ 2147483647 h 164"/>
                  <a:gd name="T74" fmla="*/ 0 w 80"/>
                  <a:gd name="T75" fmla="*/ 2147483647 h 164"/>
                  <a:gd name="T76" fmla="*/ 2147483647 w 80"/>
                  <a:gd name="T77" fmla="*/ 2147483647 h 164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80"/>
                  <a:gd name="T118" fmla="*/ 0 h 164"/>
                  <a:gd name="T119" fmla="*/ 80 w 80"/>
                  <a:gd name="T120" fmla="*/ 164 h 164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80" h="164">
                    <a:moveTo>
                      <a:pt x="1" y="1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1"/>
                      <a:pt x="2" y="10"/>
                      <a:pt x="2" y="10"/>
                    </a:cubicBezTo>
                    <a:cubicBezTo>
                      <a:pt x="2" y="10"/>
                      <a:pt x="2" y="9"/>
                      <a:pt x="3" y="9"/>
                    </a:cubicBezTo>
                    <a:cubicBezTo>
                      <a:pt x="3" y="9"/>
                      <a:pt x="3" y="9"/>
                      <a:pt x="4" y="9"/>
                    </a:cubicBezTo>
                    <a:cubicBezTo>
                      <a:pt x="4" y="8"/>
                      <a:pt x="4" y="8"/>
                      <a:pt x="5" y="8"/>
                    </a:cubicBezTo>
                    <a:cubicBezTo>
                      <a:pt x="5" y="8"/>
                      <a:pt x="5" y="8"/>
                      <a:pt x="6" y="8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9" y="1"/>
                      <a:pt x="59" y="1"/>
                    </a:cubicBezTo>
                    <a:cubicBezTo>
                      <a:pt x="80" y="16"/>
                      <a:pt x="80" y="16"/>
                      <a:pt x="80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5"/>
                      <a:pt x="78" y="15"/>
                      <a:pt x="78" y="15"/>
                    </a:cubicBezTo>
                    <a:cubicBezTo>
                      <a:pt x="78" y="15"/>
                      <a:pt x="77" y="15"/>
                      <a:pt x="77" y="15"/>
                    </a:cubicBezTo>
                    <a:cubicBezTo>
                      <a:pt x="77" y="15"/>
                      <a:pt x="76" y="15"/>
                      <a:pt x="76" y="15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6" y="23"/>
                      <a:pt x="26" y="23"/>
                      <a:pt x="25" y="23"/>
                    </a:cubicBezTo>
                    <a:cubicBezTo>
                      <a:pt x="25" y="23"/>
                      <a:pt x="25" y="24"/>
                      <a:pt x="24" y="24"/>
                    </a:cubicBezTo>
                    <a:cubicBezTo>
                      <a:pt x="24" y="24"/>
                      <a:pt x="24" y="24"/>
                      <a:pt x="23" y="24"/>
                    </a:cubicBezTo>
                    <a:cubicBezTo>
                      <a:pt x="23" y="25"/>
                      <a:pt x="23" y="25"/>
                      <a:pt x="23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2" y="26"/>
                      <a:pt x="22" y="27"/>
                      <a:pt x="22" y="27"/>
                    </a:cubicBezTo>
                    <a:cubicBezTo>
                      <a:pt x="21" y="27"/>
                      <a:pt x="21" y="28"/>
                      <a:pt x="21" y="28"/>
                    </a:cubicBezTo>
                    <a:cubicBezTo>
                      <a:pt x="21" y="28"/>
                      <a:pt x="21" y="29"/>
                      <a:pt x="21" y="2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1"/>
                      <a:pt x="21" y="161"/>
                      <a:pt x="21" y="161"/>
                    </a:cubicBezTo>
                    <a:cubicBezTo>
                      <a:pt x="21" y="162"/>
                      <a:pt x="21" y="162"/>
                      <a:pt x="22" y="162"/>
                    </a:cubicBezTo>
                    <a:cubicBezTo>
                      <a:pt x="22" y="163"/>
                      <a:pt x="22" y="163"/>
                      <a:pt x="22" y="163"/>
                    </a:cubicBezTo>
                    <a:cubicBezTo>
                      <a:pt x="22" y="163"/>
                      <a:pt x="22" y="164"/>
                      <a:pt x="23" y="164"/>
                    </a:cubicBezTo>
                    <a:cubicBezTo>
                      <a:pt x="2" y="149"/>
                      <a:pt x="2" y="149"/>
                      <a:pt x="2" y="149"/>
                    </a:cubicBezTo>
                    <a:cubicBezTo>
                      <a:pt x="2" y="148"/>
                      <a:pt x="1" y="148"/>
                      <a:pt x="1" y="148"/>
                    </a:cubicBezTo>
                    <a:cubicBezTo>
                      <a:pt x="1" y="148"/>
                      <a:pt x="1" y="147"/>
                      <a:pt x="1" y="147"/>
                    </a:cubicBezTo>
                    <a:cubicBezTo>
                      <a:pt x="1" y="147"/>
                      <a:pt x="1" y="147"/>
                      <a:pt x="1" y="146"/>
                    </a:cubicBezTo>
                    <a:cubicBezTo>
                      <a:pt x="0" y="146"/>
                      <a:pt x="0" y="146"/>
                      <a:pt x="0" y="14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2" name="Freeform 114"/>
              <p:cNvSpPr>
                <a:spLocks/>
              </p:cNvSpPr>
              <p:nvPr/>
            </p:nvSpPr>
            <p:spPr bwMode="auto">
              <a:xfrm>
                <a:off x="1096" y="1503"/>
                <a:ext cx="117" cy="294"/>
              </a:xfrm>
              <a:custGeom>
                <a:avLst/>
                <a:gdLst>
                  <a:gd name="T0" fmla="*/ 0 w 60"/>
                  <a:gd name="T1" fmla="*/ 2147483647 h 150"/>
                  <a:gd name="T2" fmla="*/ 2147483647 w 60"/>
                  <a:gd name="T3" fmla="*/ 2147483647 h 150"/>
                  <a:gd name="T4" fmla="*/ 2147483647 w 60"/>
                  <a:gd name="T5" fmla="*/ 2147483647 h 150"/>
                  <a:gd name="T6" fmla="*/ 2147483647 w 60"/>
                  <a:gd name="T7" fmla="*/ 2147483647 h 150"/>
                  <a:gd name="T8" fmla="*/ 2147483647 w 60"/>
                  <a:gd name="T9" fmla="*/ 2147483647 h 150"/>
                  <a:gd name="T10" fmla="*/ 2147483647 w 60"/>
                  <a:gd name="T11" fmla="*/ 2147483647 h 150"/>
                  <a:gd name="T12" fmla="*/ 2147483647 w 60"/>
                  <a:gd name="T13" fmla="*/ 2147483647 h 150"/>
                  <a:gd name="T14" fmla="*/ 2147483647 w 60"/>
                  <a:gd name="T15" fmla="*/ 2147483647 h 150"/>
                  <a:gd name="T16" fmla="*/ 2147483647 w 60"/>
                  <a:gd name="T17" fmla="*/ 2147483647 h 150"/>
                  <a:gd name="T18" fmla="*/ 2147483647 w 60"/>
                  <a:gd name="T19" fmla="*/ 0 h 150"/>
                  <a:gd name="T20" fmla="*/ 2147483647 w 60"/>
                  <a:gd name="T21" fmla="*/ 0 h 150"/>
                  <a:gd name="T22" fmla="*/ 2147483647 w 60"/>
                  <a:gd name="T23" fmla="*/ 2147483647 h 150"/>
                  <a:gd name="T24" fmla="*/ 2147483647 w 60"/>
                  <a:gd name="T25" fmla="*/ 2147483647 h 150"/>
                  <a:gd name="T26" fmla="*/ 0 w 60"/>
                  <a:gd name="T27" fmla="*/ 2147483647 h 150"/>
                  <a:gd name="T28" fmla="*/ 0 w 60"/>
                  <a:gd name="T29" fmla="*/ 2147483647 h 150"/>
                  <a:gd name="T30" fmla="*/ 0 w 60"/>
                  <a:gd name="T31" fmla="*/ 2147483647 h 15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0"/>
                  <a:gd name="T49" fmla="*/ 0 h 150"/>
                  <a:gd name="T50" fmla="*/ 60 w 60"/>
                  <a:gd name="T51" fmla="*/ 150 h 15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0" h="150">
                    <a:moveTo>
                      <a:pt x="0" y="145"/>
                    </a:moveTo>
                    <a:cubicBezTo>
                      <a:pt x="0" y="148"/>
                      <a:pt x="2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5" y="142"/>
                      <a:pt x="55" y="142"/>
                      <a:pt x="55" y="142"/>
                    </a:cubicBezTo>
                    <a:cubicBezTo>
                      <a:pt x="58" y="142"/>
                      <a:pt x="60" y="139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5"/>
                      <a:pt x="60" y="5"/>
                      <a:pt x="60" y="5"/>
                    </a:cubicBezTo>
                    <a:cubicBezTo>
                      <a:pt x="60" y="2"/>
                      <a:pt x="58" y="0"/>
                      <a:pt x="55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2" y="9"/>
                      <a:pt x="0" y="11"/>
                      <a:pt x="0" y="14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0" y="145"/>
                    </a:lnTo>
                    <a:close/>
                  </a:path>
                </a:pathLst>
              </a:custGeom>
              <a:solidFill>
                <a:srgbClr val="DBDCD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3" name="Freeform 115"/>
              <p:cNvSpPr>
                <a:spLocks/>
              </p:cNvSpPr>
              <p:nvPr/>
            </p:nvSpPr>
            <p:spPr bwMode="auto">
              <a:xfrm>
                <a:off x="1104" y="1513"/>
                <a:ext cx="101" cy="96"/>
              </a:xfrm>
              <a:custGeom>
                <a:avLst/>
                <a:gdLst>
                  <a:gd name="T0" fmla="*/ 0 w 101"/>
                  <a:gd name="T1" fmla="*/ 96 h 96"/>
                  <a:gd name="T2" fmla="*/ 101 w 101"/>
                  <a:gd name="T3" fmla="*/ 79 h 96"/>
                  <a:gd name="T4" fmla="*/ 101 w 101"/>
                  <a:gd name="T5" fmla="*/ 32 h 96"/>
                  <a:gd name="T6" fmla="*/ 101 w 101"/>
                  <a:gd name="T7" fmla="*/ 0 h 96"/>
                  <a:gd name="T8" fmla="*/ 101 w 101"/>
                  <a:gd name="T9" fmla="*/ 0 h 96"/>
                  <a:gd name="T10" fmla="*/ 0 w 101"/>
                  <a:gd name="T11" fmla="*/ 18 h 96"/>
                  <a:gd name="T12" fmla="*/ 0 w 101"/>
                  <a:gd name="T13" fmla="*/ 18 h 96"/>
                  <a:gd name="T14" fmla="*/ 0 w 101"/>
                  <a:gd name="T15" fmla="*/ 96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1"/>
                  <a:gd name="T25" fmla="*/ 0 h 96"/>
                  <a:gd name="T26" fmla="*/ 101 w 101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1" h="96">
                    <a:moveTo>
                      <a:pt x="0" y="96"/>
                    </a:moveTo>
                    <a:lnTo>
                      <a:pt x="101" y="79"/>
                    </a:lnTo>
                    <a:lnTo>
                      <a:pt x="101" y="32"/>
                    </a:lnTo>
                    <a:lnTo>
                      <a:pt x="101" y="0"/>
                    </a:lnTo>
                    <a:lnTo>
                      <a:pt x="0" y="18"/>
                    </a:lnTo>
                    <a:lnTo>
                      <a:pt x="0" y="96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4" name="Freeform 116"/>
              <p:cNvSpPr>
                <a:spLocks/>
              </p:cNvSpPr>
              <p:nvPr/>
            </p:nvSpPr>
            <p:spPr bwMode="auto">
              <a:xfrm>
                <a:off x="1104" y="1595"/>
                <a:ext cx="101" cy="18"/>
              </a:xfrm>
              <a:custGeom>
                <a:avLst/>
                <a:gdLst>
                  <a:gd name="T0" fmla="*/ 101 w 101"/>
                  <a:gd name="T1" fmla="*/ 0 h 18"/>
                  <a:gd name="T2" fmla="*/ 0 w 101"/>
                  <a:gd name="T3" fmla="*/ 18 h 18"/>
                  <a:gd name="T4" fmla="*/ 0 w 101"/>
                  <a:gd name="T5" fmla="*/ 18 h 18"/>
                  <a:gd name="T6" fmla="*/ 101 w 101"/>
                  <a:gd name="T7" fmla="*/ 2 h 18"/>
                  <a:gd name="T8" fmla="*/ 101 w 101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"/>
                  <a:gd name="T16" fmla="*/ 0 h 18"/>
                  <a:gd name="T17" fmla="*/ 101 w 101"/>
                  <a:gd name="T18" fmla="*/ 18 h 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" h="18">
                    <a:moveTo>
                      <a:pt x="101" y="0"/>
                    </a:moveTo>
                    <a:lnTo>
                      <a:pt x="0" y="18"/>
                    </a:lnTo>
                    <a:lnTo>
                      <a:pt x="101" y="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5" name="Freeform 117"/>
              <p:cNvSpPr>
                <a:spLocks noEditPoints="1"/>
              </p:cNvSpPr>
              <p:nvPr/>
            </p:nvSpPr>
            <p:spPr bwMode="auto">
              <a:xfrm>
                <a:off x="1051" y="1470"/>
                <a:ext cx="166" cy="331"/>
              </a:xfrm>
              <a:custGeom>
                <a:avLst/>
                <a:gdLst>
                  <a:gd name="T0" fmla="*/ 2147483647 w 85"/>
                  <a:gd name="T1" fmla="*/ 2147483647 h 169"/>
                  <a:gd name="T2" fmla="*/ 2147483647 w 85"/>
                  <a:gd name="T3" fmla="*/ 2147483647 h 169"/>
                  <a:gd name="T4" fmla="*/ 2147483647 w 85"/>
                  <a:gd name="T5" fmla="*/ 2147483647 h 169"/>
                  <a:gd name="T6" fmla="*/ 2147483647 w 85"/>
                  <a:gd name="T7" fmla="*/ 2147483647 h 169"/>
                  <a:gd name="T8" fmla="*/ 2147483647 w 85"/>
                  <a:gd name="T9" fmla="*/ 2147483647 h 169"/>
                  <a:gd name="T10" fmla="*/ 2147483647 w 85"/>
                  <a:gd name="T11" fmla="*/ 2147483647 h 169"/>
                  <a:gd name="T12" fmla="*/ 2147483647 w 85"/>
                  <a:gd name="T13" fmla="*/ 2147483647 h 169"/>
                  <a:gd name="T14" fmla="*/ 2147483647 w 85"/>
                  <a:gd name="T15" fmla="*/ 2147483647 h 169"/>
                  <a:gd name="T16" fmla="*/ 2147483647 w 85"/>
                  <a:gd name="T17" fmla="*/ 2147483647 h 169"/>
                  <a:gd name="T18" fmla="*/ 2147483647 w 85"/>
                  <a:gd name="T19" fmla="*/ 2147483647 h 169"/>
                  <a:gd name="T20" fmla="*/ 2147483647 w 85"/>
                  <a:gd name="T21" fmla="*/ 2147483647 h 169"/>
                  <a:gd name="T22" fmla="*/ 2147483647 w 85"/>
                  <a:gd name="T23" fmla="*/ 2147483647 h 169"/>
                  <a:gd name="T24" fmla="*/ 2147483647 w 85"/>
                  <a:gd name="T25" fmla="*/ 2147483647 h 169"/>
                  <a:gd name="T26" fmla="*/ 2147483647 w 85"/>
                  <a:gd name="T27" fmla="*/ 2147483647 h 169"/>
                  <a:gd name="T28" fmla="*/ 2147483647 w 85"/>
                  <a:gd name="T29" fmla="*/ 2147483647 h 169"/>
                  <a:gd name="T30" fmla="*/ 2147483647 w 85"/>
                  <a:gd name="T31" fmla="*/ 2147483647 h 169"/>
                  <a:gd name="T32" fmla="*/ 2147483647 w 85"/>
                  <a:gd name="T33" fmla="*/ 2147483647 h 169"/>
                  <a:gd name="T34" fmla="*/ 2147483647 w 85"/>
                  <a:gd name="T35" fmla="*/ 2147483647 h 169"/>
                  <a:gd name="T36" fmla="*/ 2147483647 w 85"/>
                  <a:gd name="T37" fmla="*/ 2147483647 h 169"/>
                  <a:gd name="T38" fmla="*/ 2147483647 w 85"/>
                  <a:gd name="T39" fmla="*/ 2147483647 h 169"/>
                  <a:gd name="T40" fmla="*/ 0 w 85"/>
                  <a:gd name="T41" fmla="*/ 2147483647 h 169"/>
                  <a:gd name="T42" fmla="*/ 2147483647 w 85"/>
                  <a:gd name="T43" fmla="*/ 2147483647 h 169"/>
                  <a:gd name="T44" fmla="*/ 2147483647 w 85"/>
                  <a:gd name="T45" fmla="*/ 2147483647 h 169"/>
                  <a:gd name="T46" fmla="*/ 2147483647 w 85"/>
                  <a:gd name="T47" fmla="*/ 2147483647 h 169"/>
                  <a:gd name="T48" fmla="*/ 2147483647 w 85"/>
                  <a:gd name="T49" fmla="*/ 2147483647 h 169"/>
                  <a:gd name="T50" fmla="*/ 2147483647 w 85"/>
                  <a:gd name="T51" fmla="*/ 2147483647 h 169"/>
                  <a:gd name="T52" fmla="*/ 2147483647 w 85"/>
                  <a:gd name="T53" fmla="*/ 2147483647 h 169"/>
                  <a:gd name="T54" fmla="*/ 2147483647 w 85"/>
                  <a:gd name="T55" fmla="*/ 2147483647 h 169"/>
                  <a:gd name="T56" fmla="*/ 2147483647 w 85"/>
                  <a:gd name="T57" fmla="*/ 2147483647 h 169"/>
                  <a:gd name="T58" fmla="*/ 2147483647 w 85"/>
                  <a:gd name="T59" fmla="*/ 0 h 169"/>
                  <a:gd name="T60" fmla="*/ 2147483647 w 85"/>
                  <a:gd name="T61" fmla="*/ 0 h 169"/>
                  <a:gd name="T62" fmla="*/ 2147483647 w 85"/>
                  <a:gd name="T63" fmla="*/ 0 h 169"/>
                  <a:gd name="T64" fmla="*/ 2147483647 w 85"/>
                  <a:gd name="T65" fmla="*/ 2147483647 h 169"/>
                  <a:gd name="T66" fmla="*/ 2147483647 w 85"/>
                  <a:gd name="T67" fmla="*/ 2147483647 h 169"/>
                  <a:gd name="T68" fmla="*/ 2147483647 w 85"/>
                  <a:gd name="T69" fmla="*/ 2147483647 h 169"/>
                  <a:gd name="T70" fmla="*/ 2147483647 w 85"/>
                  <a:gd name="T71" fmla="*/ 2147483647 h 169"/>
                  <a:gd name="T72" fmla="*/ 2147483647 w 85"/>
                  <a:gd name="T73" fmla="*/ 2147483647 h 169"/>
                  <a:gd name="T74" fmla="*/ 2147483647 w 85"/>
                  <a:gd name="T75" fmla="*/ 2147483647 h 169"/>
                  <a:gd name="T76" fmla="*/ 2147483647 w 85"/>
                  <a:gd name="T77" fmla="*/ 2147483647 h 169"/>
                  <a:gd name="T78" fmla="*/ 0 w 85"/>
                  <a:gd name="T79" fmla="*/ 2147483647 h 1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85"/>
                  <a:gd name="T121" fmla="*/ 0 h 169"/>
                  <a:gd name="T122" fmla="*/ 85 w 85"/>
                  <a:gd name="T123" fmla="*/ 169 h 169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85" h="169">
                    <a:moveTo>
                      <a:pt x="4" y="15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4" y="14"/>
                      <a:pt x="4" y="13"/>
                      <a:pt x="4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5" y="13"/>
                      <a:pt x="5" y="13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7" y="11"/>
                      <a:pt x="7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58" y="3"/>
                      <a:pt x="58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58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0" y="4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83" y="16"/>
                      <a:pt x="82" y="16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2" y="20"/>
                      <a:pt x="82" y="21"/>
                    </a:cubicBezTo>
                    <a:cubicBezTo>
                      <a:pt x="82" y="153"/>
                      <a:pt x="82" y="153"/>
                      <a:pt x="82" y="153"/>
                    </a:cubicBezTo>
                    <a:cubicBezTo>
                      <a:pt x="82" y="155"/>
                      <a:pt x="80" y="158"/>
                      <a:pt x="78" y="158"/>
                    </a:cubicBezTo>
                    <a:cubicBezTo>
                      <a:pt x="28" y="166"/>
                      <a:pt x="28" y="166"/>
                      <a:pt x="28" y="166"/>
                    </a:cubicBezTo>
                    <a:cubicBezTo>
                      <a:pt x="27" y="166"/>
                      <a:pt x="26" y="166"/>
                      <a:pt x="26" y="165"/>
                    </a:cubicBezTo>
                    <a:cubicBezTo>
                      <a:pt x="26" y="165"/>
                      <a:pt x="26" y="165"/>
                      <a:pt x="26" y="165"/>
                    </a:cubicBezTo>
                    <a:cubicBezTo>
                      <a:pt x="25" y="165"/>
                      <a:pt x="25" y="165"/>
                      <a:pt x="25" y="165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5" y="150"/>
                      <a:pt x="5" y="150"/>
                    </a:cubicBezTo>
                    <a:cubicBezTo>
                      <a:pt x="5" y="150"/>
                      <a:pt x="4" y="150"/>
                      <a:pt x="4" y="149"/>
                    </a:cubicBezTo>
                    <a:cubicBezTo>
                      <a:pt x="4" y="149"/>
                      <a:pt x="4" y="149"/>
                      <a:pt x="4" y="149"/>
                    </a:cubicBezTo>
                    <a:cubicBezTo>
                      <a:pt x="4" y="149"/>
                      <a:pt x="4" y="148"/>
                      <a:pt x="4" y="148"/>
                    </a:cubicBezTo>
                    <a:cubicBezTo>
                      <a:pt x="4" y="148"/>
                      <a:pt x="4" y="148"/>
                      <a:pt x="4" y="148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15"/>
                      <a:pt x="4" y="15"/>
                      <a:pt x="4" y="15"/>
                    </a:cubicBezTo>
                    <a:close/>
                    <a:moveTo>
                      <a:pt x="0" y="15"/>
                    </a:moveTo>
                    <a:cubicBezTo>
                      <a:pt x="0" y="148"/>
                      <a:pt x="0" y="148"/>
                      <a:pt x="0" y="148"/>
                    </a:cubicBezTo>
                    <a:cubicBezTo>
                      <a:pt x="0" y="148"/>
                      <a:pt x="0" y="148"/>
                      <a:pt x="1" y="149"/>
                    </a:cubicBezTo>
                    <a:cubicBezTo>
                      <a:pt x="1" y="149"/>
                      <a:pt x="1" y="150"/>
                      <a:pt x="1" y="150"/>
                    </a:cubicBezTo>
                    <a:cubicBezTo>
                      <a:pt x="1" y="151"/>
                      <a:pt x="1" y="151"/>
                      <a:pt x="2" y="151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2" y="152"/>
                      <a:pt x="2" y="152"/>
                    </a:cubicBezTo>
                    <a:cubicBezTo>
                      <a:pt x="2" y="152"/>
                      <a:pt x="3" y="152"/>
                      <a:pt x="3" y="152"/>
                    </a:cubicBezTo>
                    <a:cubicBezTo>
                      <a:pt x="24" y="168"/>
                      <a:pt x="24" y="168"/>
                      <a:pt x="24" y="168"/>
                    </a:cubicBezTo>
                    <a:cubicBezTo>
                      <a:pt x="23" y="168"/>
                      <a:pt x="23" y="168"/>
                      <a:pt x="23" y="168"/>
                    </a:cubicBezTo>
                    <a:cubicBezTo>
                      <a:pt x="25" y="169"/>
                      <a:pt x="27" y="169"/>
                      <a:pt x="28" y="169"/>
                    </a:cubicBezTo>
                    <a:cubicBezTo>
                      <a:pt x="28" y="169"/>
                      <a:pt x="79" y="161"/>
                      <a:pt x="79" y="161"/>
                    </a:cubicBezTo>
                    <a:cubicBezTo>
                      <a:pt x="82" y="161"/>
                      <a:pt x="85" y="157"/>
                      <a:pt x="85" y="153"/>
                    </a:cubicBezTo>
                    <a:cubicBezTo>
                      <a:pt x="85" y="21"/>
                      <a:pt x="85" y="21"/>
                      <a:pt x="85" y="21"/>
                    </a:cubicBezTo>
                    <a:cubicBezTo>
                      <a:pt x="85" y="19"/>
                      <a:pt x="84" y="17"/>
                      <a:pt x="82" y="16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81" y="19"/>
                      <a:pt x="81" y="19"/>
                      <a:pt x="81" y="19"/>
                    </a:cubicBezTo>
                    <a:cubicBezTo>
                      <a:pt x="83" y="16"/>
                      <a:pt x="83" y="16"/>
                      <a:pt x="83" y="16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2" y="1"/>
                      <a:pt x="61" y="0"/>
                      <a:pt x="61" y="0"/>
                    </a:cubicBezTo>
                    <a:cubicBezTo>
                      <a:pt x="61" y="0"/>
                      <a:pt x="61" y="0"/>
                      <a:pt x="61" y="0"/>
                    </a:cubicBezTo>
                    <a:cubicBezTo>
                      <a:pt x="61" y="0"/>
                      <a:pt x="60" y="0"/>
                      <a:pt x="6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8" y="0"/>
                      <a:pt x="58" y="0"/>
                      <a:pt x="57" y="0"/>
                    </a:cubicBezTo>
                    <a:cubicBezTo>
                      <a:pt x="57" y="0"/>
                      <a:pt x="7" y="8"/>
                      <a:pt x="7" y="8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4"/>
                      <a:pt x="1" y="14"/>
                    </a:cubicBezTo>
                    <a:cubicBezTo>
                      <a:pt x="0" y="15"/>
                      <a:pt x="0" y="15"/>
                      <a:pt x="0" y="15"/>
                    </a:cubicBezTo>
                    <a:close/>
                  </a:path>
                </a:pathLst>
              </a:custGeom>
              <a:solidFill>
                <a:srgbClr val="595A5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6" name="Rectangle 118"/>
              <p:cNvSpPr>
                <a:spLocks noChangeArrowheads="1"/>
              </p:cNvSpPr>
              <p:nvPr/>
            </p:nvSpPr>
            <p:spPr bwMode="auto">
              <a:xfrm>
                <a:off x="1154" y="1609"/>
                <a:ext cx="2" cy="170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7" name="Rectangle 119"/>
              <p:cNvSpPr>
                <a:spLocks noChangeArrowheads="1"/>
              </p:cNvSpPr>
              <p:nvPr/>
            </p:nvSpPr>
            <p:spPr bwMode="auto">
              <a:xfrm>
                <a:off x="1154" y="1527"/>
                <a:ext cx="2" cy="66"/>
              </a:xfrm>
              <a:prstGeom prst="rect">
                <a:avLst/>
              </a:prstGeom>
              <a:solidFill>
                <a:srgbClr val="F2F1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8" name="Freeform 120"/>
              <p:cNvSpPr>
                <a:spLocks/>
              </p:cNvSpPr>
              <p:nvPr/>
            </p:nvSpPr>
            <p:spPr bwMode="auto">
              <a:xfrm>
                <a:off x="1104" y="1740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9" name="Freeform 121"/>
              <p:cNvSpPr>
                <a:spLocks/>
              </p:cNvSpPr>
              <p:nvPr/>
            </p:nvSpPr>
            <p:spPr bwMode="auto">
              <a:xfrm>
                <a:off x="1104" y="1748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0" name="Freeform 122"/>
              <p:cNvSpPr>
                <a:spLocks/>
              </p:cNvSpPr>
              <p:nvPr/>
            </p:nvSpPr>
            <p:spPr bwMode="auto">
              <a:xfrm>
                <a:off x="1104" y="1734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1" name="Freeform 123"/>
              <p:cNvSpPr>
                <a:spLocks/>
              </p:cNvSpPr>
              <p:nvPr/>
            </p:nvSpPr>
            <p:spPr bwMode="auto">
              <a:xfrm>
                <a:off x="1104" y="1762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6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6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2" name="Freeform 124"/>
              <p:cNvSpPr>
                <a:spLocks/>
              </p:cNvSpPr>
              <p:nvPr/>
            </p:nvSpPr>
            <p:spPr bwMode="auto">
              <a:xfrm>
                <a:off x="1104" y="1768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7 h 9"/>
                  <a:gd name="T4" fmla="*/ 0 w 45"/>
                  <a:gd name="T5" fmla="*/ 9 h 9"/>
                  <a:gd name="T6" fmla="*/ 45 w 45"/>
                  <a:gd name="T7" fmla="*/ 3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7"/>
                    </a:lnTo>
                    <a:lnTo>
                      <a:pt x="0" y="9"/>
                    </a:lnTo>
                    <a:lnTo>
                      <a:pt x="45" y="3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3" name="Freeform 125"/>
              <p:cNvSpPr>
                <a:spLocks/>
              </p:cNvSpPr>
              <p:nvPr/>
            </p:nvSpPr>
            <p:spPr bwMode="auto">
              <a:xfrm>
                <a:off x="1104" y="1754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4" name="Freeform 126"/>
              <p:cNvSpPr>
                <a:spLocks/>
              </p:cNvSpPr>
              <p:nvPr/>
            </p:nvSpPr>
            <p:spPr bwMode="auto">
              <a:xfrm>
                <a:off x="1104" y="1713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5" name="Freeform 127"/>
              <p:cNvSpPr>
                <a:spLocks/>
              </p:cNvSpPr>
              <p:nvPr/>
            </p:nvSpPr>
            <p:spPr bwMode="auto">
              <a:xfrm>
                <a:off x="1104" y="1707"/>
                <a:ext cx="45" cy="10"/>
              </a:xfrm>
              <a:custGeom>
                <a:avLst/>
                <a:gdLst>
                  <a:gd name="T0" fmla="*/ 45 w 45"/>
                  <a:gd name="T1" fmla="*/ 0 h 10"/>
                  <a:gd name="T2" fmla="*/ 0 w 45"/>
                  <a:gd name="T3" fmla="*/ 6 h 10"/>
                  <a:gd name="T4" fmla="*/ 0 w 45"/>
                  <a:gd name="T5" fmla="*/ 10 h 10"/>
                  <a:gd name="T6" fmla="*/ 45 w 45"/>
                  <a:gd name="T7" fmla="*/ 2 h 10"/>
                  <a:gd name="T8" fmla="*/ 45 w 45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0"/>
                  <a:gd name="T17" fmla="*/ 45 w 45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0">
                    <a:moveTo>
                      <a:pt x="45" y="0"/>
                    </a:moveTo>
                    <a:lnTo>
                      <a:pt x="0" y="6"/>
                    </a:lnTo>
                    <a:lnTo>
                      <a:pt x="0" y="10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6" name="Freeform 128"/>
              <p:cNvSpPr>
                <a:spLocks/>
              </p:cNvSpPr>
              <p:nvPr/>
            </p:nvSpPr>
            <p:spPr bwMode="auto">
              <a:xfrm>
                <a:off x="1104" y="1726"/>
                <a:ext cx="45" cy="12"/>
              </a:xfrm>
              <a:custGeom>
                <a:avLst/>
                <a:gdLst>
                  <a:gd name="T0" fmla="*/ 45 w 45"/>
                  <a:gd name="T1" fmla="*/ 0 h 12"/>
                  <a:gd name="T2" fmla="*/ 0 w 45"/>
                  <a:gd name="T3" fmla="*/ 8 h 12"/>
                  <a:gd name="T4" fmla="*/ 0 w 45"/>
                  <a:gd name="T5" fmla="*/ 12 h 12"/>
                  <a:gd name="T6" fmla="*/ 45 w 45"/>
                  <a:gd name="T7" fmla="*/ 4 h 12"/>
                  <a:gd name="T8" fmla="*/ 45 w 4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12"/>
                  <a:gd name="T17" fmla="*/ 45 w 45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12">
                    <a:moveTo>
                      <a:pt x="45" y="0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5" y="4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7" name="Freeform 129"/>
              <p:cNvSpPr>
                <a:spLocks/>
              </p:cNvSpPr>
              <p:nvPr/>
            </p:nvSpPr>
            <p:spPr bwMode="auto">
              <a:xfrm>
                <a:off x="1104" y="1721"/>
                <a:ext cx="45" cy="9"/>
              </a:xfrm>
              <a:custGeom>
                <a:avLst/>
                <a:gdLst>
                  <a:gd name="T0" fmla="*/ 45 w 45"/>
                  <a:gd name="T1" fmla="*/ 0 h 9"/>
                  <a:gd name="T2" fmla="*/ 0 w 45"/>
                  <a:gd name="T3" fmla="*/ 5 h 9"/>
                  <a:gd name="T4" fmla="*/ 0 w 45"/>
                  <a:gd name="T5" fmla="*/ 9 h 9"/>
                  <a:gd name="T6" fmla="*/ 45 w 45"/>
                  <a:gd name="T7" fmla="*/ 2 h 9"/>
                  <a:gd name="T8" fmla="*/ 45 w 45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5"/>
                  <a:gd name="T16" fmla="*/ 0 h 9"/>
                  <a:gd name="T17" fmla="*/ 45 w 45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5" h="9">
                    <a:moveTo>
                      <a:pt x="45" y="0"/>
                    </a:moveTo>
                    <a:lnTo>
                      <a:pt x="0" y="5"/>
                    </a:lnTo>
                    <a:lnTo>
                      <a:pt x="0" y="9"/>
                    </a:lnTo>
                    <a:lnTo>
                      <a:pt x="45" y="2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8" name="Freeform 130"/>
              <p:cNvSpPr>
                <a:spLocks/>
              </p:cNvSpPr>
              <p:nvPr/>
            </p:nvSpPr>
            <p:spPr bwMode="auto">
              <a:xfrm>
                <a:off x="1162" y="1705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1" name="Freeform 131"/>
              <p:cNvSpPr>
                <a:spLocks/>
              </p:cNvSpPr>
              <p:nvPr/>
            </p:nvSpPr>
            <p:spPr bwMode="auto">
              <a:xfrm>
                <a:off x="1162" y="1711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4" name="Freeform 132"/>
              <p:cNvSpPr>
                <a:spLocks/>
              </p:cNvSpPr>
              <p:nvPr/>
            </p:nvSpPr>
            <p:spPr bwMode="auto">
              <a:xfrm>
                <a:off x="1162" y="1719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2 h 9"/>
                  <a:gd name="T4" fmla="*/ 43 w 43"/>
                  <a:gd name="T5" fmla="*/ 0 h 9"/>
                  <a:gd name="T6" fmla="*/ 0 w 43"/>
                  <a:gd name="T7" fmla="*/ 6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5" name="Freeform 133"/>
              <p:cNvSpPr>
                <a:spLocks/>
              </p:cNvSpPr>
              <p:nvPr/>
            </p:nvSpPr>
            <p:spPr bwMode="auto">
              <a:xfrm>
                <a:off x="1162" y="1725"/>
                <a:ext cx="43" cy="9"/>
              </a:xfrm>
              <a:custGeom>
                <a:avLst/>
                <a:gdLst>
                  <a:gd name="T0" fmla="*/ 0 w 43"/>
                  <a:gd name="T1" fmla="*/ 9 h 9"/>
                  <a:gd name="T2" fmla="*/ 43 w 43"/>
                  <a:gd name="T3" fmla="*/ 3 h 9"/>
                  <a:gd name="T4" fmla="*/ 43 w 43"/>
                  <a:gd name="T5" fmla="*/ 0 h 9"/>
                  <a:gd name="T6" fmla="*/ 0 w 43"/>
                  <a:gd name="T7" fmla="*/ 5 h 9"/>
                  <a:gd name="T8" fmla="*/ 0 w 43"/>
                  <a:gd name="T9" fmla="*/ 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9"/>
                  <a:gd name="T17" fmla="*/ 43 w 43"/>
                  <a:gd name="T18" fmla="*/ 9 h 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9">
                    <a:moveTo>
                      <a:pt x="0" y="9"/>
                    </a:moveTo>
                    <a:lnTo>
                      <a:pt x="43" y="3"/>
                    </a:lnTo>
                    <a:lnTo>
                      <a:pt x="43" y="0"/>
                    </a:lnTo>
                    <a:lnTo>
                      <a:pt x="0" y="5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6" name="Freeform 134"/>
              <p:cNvSpPr>
                <a:spLocks/>
              </p:cNvSpPr>
              <p:nvPr/>
            </p:nvSpPr>
            <p:spPr bwMode="auto">
              <a:xfrm>
                <a:off x="1162" y="1697"/>
                <a:ext cx="43" cy="10"/>
              </a:xfrm>
              <a:custGeom>
                <a:avLst/>
                <a:gdLst>
                  <a:gd name="T0" fmla="*/ 0 w 43"/>
                  <a:gd name="T1" fmla="*/ 8 h 10"/>
                  <a:gd name="T2" fmla="*/ 0 w 43"/>
                  <a:gd name="T3" fmla="*/ 10 h 10"/>
                  <a:gd name="T4" fmla="*/ 43 w 43"/>
                  <a:gd name="T5" fmla="*/ 4 h 10"/>
                  <a:gd name="T6" fmla="*/ 43 w 43"/>
                  <a:gd name="T7" fmla="*/ 0 h 10"/>
                  <a:gd name="T8" fmla="*/ 0 w 43"/>
                  <a:gd name="T9" fmla="*/ 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8"/>
                    </a:moveTo>
                    <a:lnTo>
                      <a:pt x="0" y="10"/>
                    </a:ln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7" name="Freeform 135"/>
              <p:cNvSpPr>
                <a:spLocks/>
              </p:cNvSpPr>
              <p:nvPr/>
            </p:nvSpPr>
            <p:spPr bwMode="auto">
              <a:xfrm>
                <a:off x="1162" y="1746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8" name="Freeform 136"/>
              <p:cNvSpPr>
                <a:spLocks/>
              </p:cNvSpPr>
              <p:nvPr/>
            </p:nvSpPr>
            <p:spPr bwMode="auto">
              <a:xfrm>
                <a:off x="1162" y="1758"/>
                <a:ext cx="43" cy="12"/>
              </a:xfrm>
              <a:custGeom>
                <a:avLst/>
                <a:gdLst>
                  <a:gd name="T0" fmla="*/ 0 w 43"/>
                  <a:gd name="T1" fmla="*/ 12 h 12"/>
                  <a:gd name="T2" fmla="*/ 43 w 43"/>
                  <a:gd name="T3" fmla="*/ 4 h 12"/>
                  <a:gd name="T4" fmla="*/ 43 w 43"/>
                  <a:gd name="T5" fmla="*/ 0 h 12"/>
                  <a:gd name="T6" fmla="*/ 0 w 43"/>
                  <a:gd name="T7" fmla="*/ 8 h 12"/>
                  <a:gd name="T8" fmla="*/ 0 w 43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2"/>
                  <a:gd name="T17" fmla="*/ 43 w 43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2">
                    <a:moveTo>
                      <a:pt x="0" y="12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49" name="Freeform 137"/>
              <p:cNvSpPr>
                <a:spLocks/>
              </p:cNvSpPr>
              <p:nvPr/>
            </p:nvSpPr>
            <p:spPr bwMode="auto">
              <a:xfrm>
                <a:off x="1162" y="173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2 h 10"/>
                  <a:gd name="T4" fmla="*/ 43 w 43"/>
                  <a:gd name="T5" fmla="*/ 0 h 10"/>
                  <a:gd name="T6" fmla="*/ 0 w 43"/>
                  <a:gd name="T7" fmla="*/ 6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2"/>
                    </a:lnTo>
                    <a:lnTo>
                      <a:pt x="43" y="0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50" name="Freeform 138"/>
              <p:cNvSpPr>
                <a:spLocks/>
              </p:cNvSpPr>
              <p:nvPr/>
            </p:nvSpPr>
            <p:spPr bwMode="auto">
              <a:xfrm>
                <a:off x="1162" y="1752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51" name="Freeform 139"/>
              <p:cNvSpPr>
                <a:spLocks/>
              </p:cNvSpPr>
              <p:nvPr/>
            </p:nvSpPr>
            <p:spPr bwMode="auto">
              <a:xfrm>
                <a:off x="1162" y="1738"/>
                <a:ext cx="43" cy="10"/>
              </a:xfrm>
              <a:custGeom>
                <a:avLst/>
                <a:gdLst>
                  <a:gd name="T0" fmla="*/ 0 w 43"/>
                  <a:gd name="T1" fmla="*/ 10 h 10"/>
                  <a:gd name="T2" fmla="*/ 43 w 43"/>
                  <a:gd name="T3" fmla="*/ 4 h 10"/>
                  <a:gd name="T4" fmla="*/ 43 w 43"/>
                  <a:gd name="T5" fmla="*/ 0 h 10"/>
                  <a:gd name="T6" fmla="*/ 0 w 43"/>
                  <a:gd name="T7" fmla="*/ 8 h 10"/>
                  <a:gd name="T8" fmla="*/ 0 w 43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10"/>
                  <a:gd name="T17" fmla="*/ 43 w 43"/>
                  <a:gd name="T18" fmla="*/ 10 h 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10">
                    <a:moveTo>
                      <a:pt x="0" y="10"/>
                    </a:moveTo>
                    <a:lnTo>
                      <a:pt x="43" y="4"/>
                    </a:lnTo>
                    <a:lnTo>
                      <a:pt x="43" y="0"/>
                    </a:lnTo>
                    <a:lnTo>
                      <a:pt x="0" y="8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92949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860" name="Line 142"/>
            <p:cNvSpPr>
              <a:spLocks noChangeShapeType="1"/>
            </p:cNvSpPr>
            <p:nvPr/>
          </p:nvSpPr>
          <p:spPr bwMode="auto">
            <a:xfrm>
              <a:off x="7068878" y="3084886"/>
              <a:ext cx="10386" cy="1400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24" name="Rectangle 6"/>
          <p:cNvSpPr>
            <a:spLocks noChangeArrowheads="1"/>
          </p:cNvSpPr>
          <p:nvPr/>
        </p:nvSpPr>
        <p:spPr bwMode="auto">
          <a:xfrm>
            <a:off x="130510" y="1072316"/>
            <a:ext cx="1752273" cy="62746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SA 10.60 Ultimate</a:t>
            </a:r>
          </a:p>
          <a:p>
            <a:pPr algn="ctr"/>
            <a:r>
              <a:rPr lang="en-US" sz="1000" dirty="0">
                <a:latin typeface="Arial" charset="0"/>
              </a:rPr>
              <a:t>s</a:t>
            </a:r>
            <a:r>
              <a:rPr lang="en-US" sz="1000" dirty="0" smtClean="0">
                <a:latin typeface="Arial" charset="0"/>
              </a:rPr>
              <a:t>a1060.dca.demo.local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172.16.239.20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955" name="Straight Connector 954"/>
          <p:cNvCxnSpPr/>
          <p:nvPr/>
        </p:nvCxnSpPr>
        <p:spPr>
          <a:xfrm flipV="1">
            <a:off x="1693927" y="2387988"/>
            <a:ext cx="0" cy="2056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6" name="Straight Connector 955"/>
          <p:cNvCxnSpPr/>
          <p:nvPr/>
        </p:nvCxnSpPr>
        <p:spPr>
          <a:xfrm>
            <a:off x="407504" y="2596095"/>
            <a:ext cx="11164010" cy="37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7" name="Group 112"/>
          <p:cNvGrpSpPr>
            <a:grpSpLocks/>
          </p:cNvGrpSpPr>
          <p:nvPr/>
        </p:nvGrpSpPr>
        <p:grpSpPr bwMode="auto">
          <a:xfrm>
            <a:off x="1448419" y="1776216"/>
            <a:ext cx="495410" cy="667193"/>
            <a:chOff x="1051" y="1470"/>
            <a:chExt cx="166" cy="331"/>
          </a:xfrm>
          <a:effectLst>
            <a:glow rad="228600">
              <a:srgbClr val="FF0000">
                <a:alpha val="40000"/>
              </a:srgbClr>
            </a:glow>
          </a:effectLst>
        </p:grpSpPr>
        <p:sp>
          <p:nvSpPr>
            <p:cNvPr id="958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9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0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1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2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3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4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5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6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85" name="Rectangle 6"/>
          <p:cNvSpPr>
            <a:spLocks noChangeArrowheads="1"/>
          </p:cNvSpPr>
          <p:nvPr/>
        </p:nvSpPr>
        <p:spPr bwMode="auto">
          <a:xfrm>
            <a:off x="1934845" y="1072559"/>
            <a:ext cx="1691588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Puppet Master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>
                <a:latin typeface="Arial" charset="0"/>
              </a:rPr>
              <a:t>p</a:t>
            </a:r>
            <a:r>
              <a:rPr lang="en-US" sz="1000" dirty="0" smtClean="0">
                <a:latin typeface="Arial" charset="0"/>
              </a:rPr>
              <a:t>uppet-server.dca.demo.local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172.16.239.70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986" name="Straight Connector 985"/>
          <p:cNvCxnSpPr/>
          <p:nvPr/>
        </p:nvCxnSpPr>
        <p:spPr>
          <a:xfrm flipH="1" flipV="1">
            <a:off x="3244892" y="2475823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7" name="Group 112"/>
          <p:cNvGrpSpPr>
            <a:grpSpLocks/>
          </p:cNvGrpSpPr>
          <p:nvPr/>
        </p:nvGrpSpPr>
        <p:grpSpPr bwMode="auto">
          <a:xfrm>
            <a:off x="2994508" y="1799139"/>
            <a:ext cx="405765" cy="650364"/>
            <a:chOff x="1051" y="1470"/>
            <a:chExt cx="166" cy="331"/>
          </a:xfrm>
          <a:effectLst>
            <a:glow rad="228600">
              <a:srgbClr val="FFC000">
                <a:alpha val="40000"/>
              </a:srgbClr>
            </a:glow>
          </a:effectLst>
        </p:grpSpPr>
        <p:sp>
          <p:nvSpPr>
            <p:cNvPr id="988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9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0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1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2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3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4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5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6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9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cxnSp>
        <p:nvCxnSpPr>
          <p:cNvPr id="1015" name="Straight Connector 1014"/>
          <p:cNvCxnSpPr/>
          <p:nvPr/>
        </p:nvCxnSpPr>
        <p:spPr>
          <a:xfrm flipV="1">
            <a:off x="9729794" y="2411626"/>
            <a:ext cx="7292" cy="16269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6" name="Group 112"/>
          <p:cNvGrpSpPr>
            <a:grpSpLocks/>
          </p:cNvGrpSpPr>
          <p:nvPr/>
        </p:nvGrpSpPr>
        <p:grpSpPr bwMode="auto">
          <a:xfrm>
            <a:off x="9475580" y="1790702"/>
            <a:ext cx="405765" cy="650364"/>
            <a:chOff x="1051" y="1470"/>
            <a:chExt cx="166" cy="331"/>
          </a:xfrm>
          <a:effectLst>
            <a:glow rad="139700">
              <a:schemeClr val="accent3">
                <a:lumMod val="40000"/>
                <a:lumOff val="60000"/>
                <a:alpha val="40000"/>
              </a:schemeClr>
            </a:glow>
          </a:effectLst>
        </p:grpSpPr>
        <p:sp>
          <p:nvSpPr>
            <p:cNvPr id="1017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8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19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0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1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2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3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4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5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2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45" name="Rectangle 6"/>
          <p:cNvSpPr>
            <a:spLocks noChangeArrowheads="1"/>
          </p:cNvSpPr>
          <p:nvPr/>
        </p:nvSpPr>
        <p:spPr bwMode="auto">
          <a:xfrm>
            <a:off x="3720508" y="1086900"/>
            <a:ext cx="1442085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RHEL 7 Patch Repo</a:t>
            </a:r>
          </a:p>
          <a:p>
            <a:pPr algn="ctr"/>
            <a:r>
              <a:rPr lang="en-US" sz="1000" dirty="0">
                <a:latin typeface="Arial" charset="0"/>
              </a:rPr>
              <a:t>r</a:t>
            </a:r>
            <a:r>
              <a:rPr lang="en-US" sz="1000" dirty="0" smtClean="0">
                <a:latin typeface="Arial" charset="0"/>
              </a:rPr>
              <a:t>h-repo.dca.demo.local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172.16.239.30</a:t>
            </a:r>
            <a:endParaRPr lang="en-US" sz="1000" dirty="0">
              <a:latin typeface="Arial" charset="0"/>
            </a:endParaRPr>
          </a:p>
        </p:txBody>
      </p:sp>
      <p:cxnSp>
        <p:nvCxnSpPr>
          <p:cNvPr id="1046" name="Straight Connector 1045"/>
          <p:cNvCxnSpPr/>
          <p:nvPr/>
        </p:nvCxnSpPr>
        <p:spPr>
          <a:xfrm flipH="1" flipV="1">
            <a:off x="4624568" y="2470737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7" name="Group 112"/>
          <p:cNvGrpSpPr>
            <a:grpSpLocks/>
          </p:cNvGrpSpPr>
          <p:nvPr/>
        </p:nvGrpSpPr>
        <p:grpSpPr bwMode="auto">
          <a:xfrm>
            <a:off x="4374184" y="1794053"/>
            <a:ext cx="405765" cy="650364"/>
            <a:chOff x="1051" y="1470"/>
            <a:chExt cx="166" cy="331"/>
          </a:xfrm>
          <a:effectLst>
            <a:glow rad="228600">
              <a:schemeClr val="accent6">
                <a:lumMod val="75000"/>
                <a:alpha val="40000"/>
              </a:schemeClr>
            </a:glow>
          </a:effectLst>
        </p:grpSpPr>
        <p:sp>
          <p:nvSpPr>
            <p:cNvPr id="1048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49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0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1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2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3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4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5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6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7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8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59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0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1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2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3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4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5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6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7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8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69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0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1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2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3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4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75" name="Down Arrow 1074"/>
          <p:cNvSpPr/>
          <p:nvPr/>
        </p:nvSpPr>
        <p:spPr>
          <a:xfrm rot="18995433">
            <a:off x="2041529" y="2108823"/>
            <a:ext cx="225068" cy="470044"/>
          </a:xfrm>
          <a:prstGeom prst="downArrow">
            <a:avLst/>
          </a:prstGeom>
          <a:solidFill>
            <a:srgbClr val="FF7C8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6" name="Down Arrow 1075"/>
          <p:cNvSpPr/>
          <p:nvPr/>
        </p:nvSpPr>
        <p:spPr>
          <a:xfrm rot="2402273">
            <a:off x="2689812" y="2143250"/>
            <a:ext cx="225068" cy="470044"/>
          </a:xfrm>
          <a:prstGeom prst="downArrow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7" name="Down Arrow 1076"/>
          <p:cNvSpPr/>
          <p:nvPr/>
        </p:nvSpPr>
        <p:spPr>
          <a:xfrm rot="2348445">
            <a:off x="1120550" y="2104513"/>
            <a:ext cx="225068" cy="470044"/>
          </a:xfrm>
          <a:prstGeom prst="downArrow">
            <a:avLst/>
          </a:prstGeom>
          <a:solidFill>
            <a:srgbClr val="FF7C8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8" name="Rectangle 6"/>
          <p:cNvSpPr>
            <a:spLocks noChangeArrowheads="1"/>
          </p:cNvSpPr>
          <p:nvPr/>
        </p:nvSpPr>
        <p:spPr bwMode="auto">
          <a:xfrm>
            <a:off x="5245684" y="1078502"/>
            <a:ext cx="1328164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WSUS Server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wsus.dca.demo.local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172.16.239.31</a:t>
            </a:r>
          </a:p>
        </p:txBody>
      </p:sp>
      <p:cxnSp>
        <p:nvCxnSpPr>
          <p:cNvPr id="1079" name="Straight Connector 1078"/>
          <p:cNvCxnSpPr/>
          <p:nvPr/>
        </p:nvCxnSpPr>
        <p:spPr>
          <a:xfrm flipH="1" flipV="1">
            <a:off x="5952990" y="2477253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0" name="Group 112"/>
          <p:cNvGrpSpPr>
            <a:grpSpLocks/>
          </p:cNvGrpSpPr>
          <p:nvPr/>
        </p:nvGrpSpPr>
        <p:grpSpPr bwMode="auto">
          <a:xfrm>
            <a:off x="5702606" y="1800569"/>
            <a:ext cx="405765" cy="650364"/>
            <a:chOff x="1051" y="1470"/>
            <a:chExt cx="166" cy="331"/>
          </a:xfrm>
          <a:effectLst>
            <a:glow rad="228600">
              <a:schemeClr val="accent6">
                <a:lumMod val="60000"/>
                <a:lumOff val="40000"/>
                <a:alpha val="40000"/>
              </a:schemeClr>
            </a:glow>
          </a:effectLst>
        </p:grpSpPr>
        <p:sp>
          <p:nvSpPr>
            <p:cNvPr id="1081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2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3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4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5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6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7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8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89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0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1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2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3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4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5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6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7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8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99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0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1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2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3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4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5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6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07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08" name="Rectangle 6"/>
          <p:cNvSpPr>
            <a:spLocks noChangeArrowheads="1"/>
          </p:cNvSpPr>
          <p:nvPr/>
        </p:nvSpPr>
        <p:spPr bwMode="auto">
          <a:xfrm>
            <a:off x="6553196" y="1078392"/>
            <a:ext cx="1328164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OBR 10.31</a:t>
            </a:r>
          </a:p>
          <a:p>
            <a:pPr algn="ctr"/>
            <a:r>
              <a:rPr lang="en-US" sz="1000" dirty="0" smtClean="0">
                <a:latin typeface="Arial" charset="0"/>
              </a:rPr>
              <a:t>obr.dca.demo.local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172.16.239.21</a:t>
            </a:r>
          </a:p>
        </p:txBody>
      </p:sp>
      <p:cxnSp>
        <p:nvCxnSpPr>
          <p:cNvPr id="1109" name="Straight Connector 1108"/>
          <p:cNvCxnSpPr/>
          <p:nvPr/>
        </p:nvCxnSpPr>
        <p:spPr>
          <a:xfrm flipH="1" flipV="1">
            <a:off x="7404478" y="2468223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0" name="Group 112"/>
          <p:cNvGrpSpPr>
            <a:grpSpLocks/>
          </p:cNvGrpSpPr>
          <p:nvPr/>
        </p:nvGrpSpPr>
        <p:grpSpPr bwMode="auto">
          <a:xfrm>
            <a:off x="7154094" y="1791539"/>
            <a:ext cx="405765" cy="650364"/>
            <a:chOff x="1051" y="1470"/>
            <a:chExt cx="166" cy="331"/>
          </a:xfrm>
          <a:effectLst>
            <a:glow rad="228600">
              <a:schemeClr val="tx2">
                <a:lumMod val="50000"/>
                <a:alpha val="40000"/>
              </a:schemeClr>
            </a:glow>
          </a:effectLst>
        </p:grpSpPr>
        <p:sp>
          <p:nvSpPr>
            <p:cNvPr id="1111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2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3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4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5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6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7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8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19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0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1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2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3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4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5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6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7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8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9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0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1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2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3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4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5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6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37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38" name="Rectangle 6"/>
          <p:cNvSpPr>
            <a:spLocks noChangeArrowheads="1"/>
          </p:cNvSpPr>
          <p:nvPr/>
        </p:nvSpPr>
        <p:spPr bwMode="auto">
          <a:xfrm>
            <a:off x="7871214" y="1076545"/>
            <a:ext cx="1328164" cy="62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000" dirty="0" smtClean="0">
                <a:latin typeface="Arial" charset="0"/>
              </a:rPr>
              <a:t>DMA Ultimate </a:t>
            </a:r>
            <a:r>
              <a:rPr lang="en-US" sz="1000" dirty="0" smtClean="0">
                <a:latin typeface="Arial" charset="0"/>
              </a:rPr>
              <a:t>10.60</a:t>
            </a:r>
            <a:endParaRPr lang="en-US" sz="1000" dirty="0" smtClean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dma.dca.demo.local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172.16.239.22</a:t>
            </a:r>
          </a:p>
        </p:txBody>
      </p:sp>
      <p:cxnSp>
        <p:nvCxnSpPr>
          <p:cNvPr id="1139" name="Straight Connector 1138"/>
          <p:cNvCxnSpPr/>
          <p:nvPr/>
        </p:nvCxnSpPr>
        <p:spPr>
          <a:xfrm flipH="1" flipV="1">
            <a:off x="8722496" y="2466376"/>
            <a:ext cx="9299" cy="13314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0" name="Group 112"/>
          <p:cNvGrpSpPr>
            <a:grpSpLocks/>
          </p:cNvGrpSpPr>
          <p:nvPr/>
        </p:nvGrpSpPr>
        <p:grpSpPr bwMode="auto">
          <a:xfrm>
            <a:off x="8472112" y="1789692"/>
            <a:ext cx="405765" cy="650364"/>
            <a:chOff x="1051" y="1470"/>
            <a:chExt cx="166" cy="331"/>
          </a:xfrm>
          <a:effectLst>
            <a:glow rad="228600">
              <a:srgbClr val="FF7C80">
                <a:alpha val="40000"/>
              </a:srgbClr>
            </a:glow>
          </a:effectLst>
        </p:grpSpPr>
        <p:sp>
          <p:nvSpPr>
            <p:cNvPr id="1141" name="Freeform 113"/>
            <p:cNvSpPr>
              <a:spLocks/>
            </p:cNvSpPr>
            <p:nvPr/>
          </p:nvSpPr>
          <p:spPr bwMode="auto">
            <a:xfrm>
              <a:off x="1055" y="1474"/>
              <a:ext cx="156" cy="321"/>
            </a:xfrm>
            <a:custGeom>
              <a:avLst/>
              <a:gdLst>
                <a:gd name="T0" fmla="*/ 2147483647 w 80"/>
                <a:gd name="T1" fmla="*/ 2147483647 h 164"/>
                <a:gd name="T2" fmla="*/ 2147483647 w 80"/>
                <a:gd name="T3" fmla="*/ 2147483647 h 164"/>
                <a:gd name="T4" fmla="*/ 2147483647 w 80"/>
                <a:gd name="T5" fmla="*/ 2147483647 h 164"/>
                <a:gd name="T6" fmla="*/ 2147483647 w 80"/>
                <a:gd name="T7" fmla="*/ 2147483647 h 164"/>
                <a:gd name="T8" fmla="*/ 2147483647 w 80"/>
                <a:gd name="T9" fmla="*/ 2147483647 h 164"/>
                <a:gd name="T10" fmla="*/ 2147483647 w 80"/>
                <a:gd name="T11" fmla="*/ 2147483647 h 164"/>
                <a:gd name="T12" fmla="*/ 2147483647 w 80"/>
                <a:gd name="T13" fmla="*/ 2147483647 h 164"/>
                <a:gd name="T14" fmla="*/ 2147483647 w 80"/>
                <a:gd name="T15" fmla="*/ 2147483647 h 164"/>
                <a:gd name="T16" fmla="*/ 2147483647 w 80"/>
                <a:gd name="T17" fmla="*/ 0 h 164"/>
                <a:gd name="T18" fmla="*/ 2147483647 w 80"/>
                <a:gd name="T19" fmla="*/ 0 h 164"/>
                <a:gd name="T20" fmla="*/ 2147483647 w 80"/>
                <a:gd name="T21" fmla="*/ 0 h 164"/>
                <a:gd name="T22" fmla="*/ 2147483647 w 80"/>
                <a:gd name="T23" fmla="*/ 0 h 164"/>
                <a:gd name="T24" fmla="*/ 2147483647 w 80"/>
                <a:gd name="T25" fmla="*/ 2147483647 h 164"/>
                <a:gd name="T26" fmla="*/ 2147483647 w 80"/>
                <a:gd name="T27" fmla="*/ 2147483647 h 164"/>
                <a:gd name="T28" fmla="*/ 2147483647 w 80"/>
                <a:gd name="T29" fmla="*/ 2147483647 h 164"/>
                <a:gd name="T30" fmla="*/ 2147483647 w 80"/>
                <a:gd name="T31" fmla="*/ 2147483647 h 164"/>
                <a:gd name="T32" fmla="*/ 2147483647 w 80"/>
                <a:gd name="T33" fmla="*/ 2147483647 h 164"/>
                <a:gd name="T34" fmla="*/ 2147483647 w 80"/>
                <a:gd name="T35" fmla="*/ 2147483647 h 164"/>
                <a:gd name="T36" fmla="*/ 2147483647 w 80"/>
                <a:gd name="T37" fmla="*/ 2147483647 h 164"/>
                <a:gd name="T38" fmla="*/ 2147483647 w 80"/>
                <a:gd name="T39" fmla="*/ 2147483647 h 164"/>
                <a:gd name="T40" fmla="*/ 2147483647 w 80"/>
                <a:gd name="T41" fmla="*/ 2147483647 h 164"/>
                <a:gd name="T42" fmla="*/ 2147483647 w 80"/>
                <a:gd name="T43" fmla="*/ 2147483647 h 164"/>
                <a:gd name="T44" fmla="*/ 2147483647 w 80"/>
                <a:gd name="T45" fmla="*/ 2147483647 h 164"/>
                <a:gd name="T46" fmla="*/ 2147483647 w 80"/>
                <a:gd name="T47" fmla="*/ 2147483647 h 164"/>
                <a:gd name="T48" fmla="*/ 2147483647 w 80"/>
                <a:gd name="T49" fmla="*/ 2147483647 h 164"/>
                <a:gd name="T50" fmla="*/ 2147483647 w 80"/>
                <a:gd name="T51" fmla="*/ 2147483647 h 164"/>
                <a:gd name="T52" fmla="*/ 2147483647 w 80"/>
                <a:gd name="T53" fmla="*/ 2147483647 h 164"/>
                <a:gd name="T54" fmla="*/ 2147483647 w 80"/>
                <a:gd name="T55" fmla="*/ 2147483647 h 164"/>
                <a:gd name="T56" fmla="*/ 2147483647 w 80"/>
                <a:gd name="T57" fmla="*/ 2147483647 h 164"/>
                <a:gd name="T58" fmla="*/ 2147483647 w 80"/>
                <a:gd name="T59" fmla="*/ 2147483647 h 164"/>
                <a:gd name="T60" fmla="*/ 2147483647 w 80"/>
                <a:gd name="T61" fmla="*/ 2147483647 h 164"/>
                <a:gd name="T62" fmla="*/ 2147483647 w 80"/>
                <a:gd name="T63" fmla="*/ 2147483647 h 164"/>
                <a:gd name="T64" fmla="*/ 2147483647 w 80"/>
                <a:gd name="T65" fmla="*/ 2147483647 h 164"/>
                <a:gd name="T66" fmla="*/ 2147483647 w 80"/>
                <a:gd name="T67" fmla="*/ 2147483647 h 164"/>
                <a:gd name="T68" fmla="*/ 2147483647 w 80"/>
                <a:gd name="T69" fmla="*/ 2147483647 h 164"/>
                <a:gd name="T70" fmla="*/ 2147483647 w 80"/>
                <a:gd name="T71" fmla="*/ 2147483647 h 164"/>
                <a:gd name="T72" fmla="*/ 0 w 80"/>
                <a:gd name="T73" fmla="*/ 2147483647 h 164"/>
                <a:gd name="T74" fmla="*/ 0 w 80"/>
                <a:gd name="T75" fmla="*/ 2147483647 h 164"/>
                <a:gd name="T76" fmla="*/ 2147483647 w 80"/>
                <a:gd name="T77" fmla="*/ 2147483647 h 16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0"/>
                <a:gd name="T118" fmla="*/ 0 h 164"/>
                <a:gd name="T119" fmla="*/ 80 w 80"/>
                <a:gd name="T120" fmla="*/ 164 h 16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0" h="164">
                  <a:moveTo>
                    <a:pt x="1" y="13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2" y="10"/>
                    <a:pt x="2" y="10"/>
                  </a:cubicBezTo>
                  <a:cubicBezTo>
                    <a:pt x="2" y="10"/>
                    <a:pt x="2" y="9"/>
                    <a:pt x="3" y="9"/>
                  </a:cubicBezTo>
                  <a:cubicBezTo>
                    <a:pt x="3" y="9"/>
                    <a:pt x="3" y="9"/>
                    <a:pt x="4" y="9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8"/>
                    <a:pt x="5" y="8"/>
                    <a:pt x="6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8" y="0"/>
                    <a:pt x="59" y="1"/>
                    <a:pt x="59" y="1"/>
                  </a:cubicBezTo>
                  <a:cubicBezTo>
                    <a:pt x="80" y="16"/>
                    <a:pt x="80" y="16"/>
                    <a:pt x="80" y="16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79" y="15"/>
                    <a:pt x="78" y="15"/>
                    <a:pt x="78" y="15"/>
                  </a:cubicBezTo>
                  <a:cubicBezTo>
                    <a:pt x="78" y="15"/>
                    <a:pt x="77" y="15"/>
                    <a:pt x="77" y="15"/>
                  </a:cubicBezTo>
                  <a:cubicBezTo>
                    <a:pt x="77" y="15"/>
                    <a:pt x="76" y="15"/>
                    <a:pt x="76" y="15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3"/>
                    <a:pt x="26" y="23"/>
                    <a:pt x="25" y="23"/>
                  </a:cubicBezTo>
                  <a:cubicBezTo>
                    <a:pt x="25" y="23"/>
                    <a:pt x="25" y="24"/>
                    <a:pt x="24" y="24"/>
                  </a:cubicBezTo>
                  <a:cubicBezTo>
                    <a:pt x="24" y="24"/>
                    <a:pt x="24" y="24"/>
                    <a:pt x="23" y="24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2" y="25"/>
                    <a:pt x="22" y="26"/>
                    <a:pt x="22" y="26"/>
                  </a:cubicBezTo>
                  <a:cubicBezTo>
                    <a:pt x="22" y="26"/>
                    <a:pt x="22" y="27"/>
                    <a:pt x="22" y="27"/>
                  </a:cubicBezTo>
                  <a:cubicBezTo>
                    <a:pt x="21" y="27"/>
                    <a:pt x="21" y="28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160"/>
                    <a:pt x="21" y="160"/>
                    <a:pt x="21" y="160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2"/>
                    <a:pt x="21" y="162"/>
                    <a:pt x="22" y="162"/>
                  </a:cubicBezTo>
                  <a:cubicBezTo>
                    <a:pt x="22" y="163"/>
                    <a:pt x="22" y="163"/>
                    <a:pt x="22" y="163"/>
                  </a:cubicBezTo>
                  <a:cubicBezTo>
                    <a:pt x="22" y="163"/>
                    <a:pt x="22" y="164"/>
                    <a:pt x="23" y="164"/>
                  </a:cubicBezTo>
                  <a:cubicBezTo>
                    <a:pt x="2" y="149"/>
                    <a:pt x="2" y="149"/>
                    <a:pt x="2" y="149"/>
                  </a:cubicBezTo>
                  <a:cubicBezTo>
                    <a:pt x="2" y="148"/>
                    <a:pt x="1" y="148"/>
                    <a:pt x="1" y="148"/>
                  </a:cubicBezTo>
                  <a:cubicBezTo>
                    <a:pt x="1" y="148"/>
                    <a:pt x="1" y="147"/>
                    <a:pt x="1" y="147"/>
                  </a:cubicBezTo>
                  <a:cubicBezTo>
                    <a:pt x="1" y="147"/>
                    <a:pt x="1" y="147"/>
                    <a:pt x="1" y="146"/>
                  </a:cubicBezTo>
                  <a:cubicBezTo>
                    <a:pt x="0" y="146"/>
                    <a:pt x="0" y="146"/>
                    <a:pt x="0" y="145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3"/>
                    <a:pt x="1" y="13"/>
                  </a:cubicBez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2" name="Freeform 114"/>
            <p:cNvSpPr>
              <a:spLocks/>
            </p:cNvSpPr>
            <p:nvPr/>
          </p:nvSpPr>
          <p:spPr bwMode="auto">
            <a:xfrm>
              <a:off x="1096" y="1503"/>
              <a:ext cx="117" cy="294"/>
            </a:xfrm>
            <a:custGeom>
              <a:avLst/>
              <a:gdLst>
                <a:gd name="T0" fmla="*/ 0 w 60"/>
                <a:gd name="T1" fmla="*/ 2147483647 h 150"/>
                <a:gd name="T2" fmla="*/ 2147483647 w 60"/>
                <a:gd name="T3" fmla="*/ 2147483647 h 150"/>
                <a:gd name="T4" fmla="*/ 2147483647 w 60"/>
                <a:gd name="T5" fmla="*/ 2147483647 h 150"/>
                <a:gd name="T6" fmla="*/ 2147483647 w 60"/>
                <a:gd name="T7" fmla="*/ 2147483647 h 150"/>
                <a:gd name="T8" fmla="*/ 2147483647 w 60"/>
                <a:gd name="T9" fmla="*/ 2147483647 h 150"/>
                <a:gd name="T10" fmla="*/ 2147483647 w 60"/>
                <a:gd name="T11" fmla="*/ 2147483647 h 150"/>
                <a:gd name="T12" fmla="*/ 2147483647 w 60"/>
                <a:gd name="T13" fmla="*/ 2147483647 h 150"/>
                <a:gd name="T14" fmla="*/ 2147483647 w 60"/>
                <a:gd name="T15" fmla="*/ 2147483647 h 150"/>
                <a:gd name="T16" fmla="*/ 2147483647 w 60"/>
                <a:gd name="T17" fmla="*/ 2147483647 h 150"/>
                <a:gd name="T18" fmla="*/ 2147483647 w 60"/>
                <a:gd name="T19" fmla="*/ 0 h 150"/>
                <a:gd name="T20" fmla="*/ 2147483647 w 60"/>
                <a:gd name="T21" fmla="*/ 0 h 150"/>
                <a:gd name="T22" fmla="*/ 2147483647 w 60"/>
                <a:gd name="T23" fmla="*/ 2147483647 h 150"/>
                <a:gd name="T24" fmla="*/ 2147483647 w 60"/>
                <a:gd name="T25" fmla="*/ 2147483647 h 150"/>
                <a:gd name="T26" fmla="*/ 0 w 60"/>
                <a:gd name="T27" fmla="*/ 2147483647 h 150"/>
                <a:gd name="T28" fmla="*/ 0 w 60"/>
                <a:gd name="T29" fmla="*/ 2147483647 h 150"/>
                <a:gd name="T30" fmla="*/ 0 w 60"/>
                <a:gd name="T31" fmla="*/ 2147483647 h 15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"/>
                <a:gd name="T49" fmla="*/ 0 h 150"/>
                <a:gd name="T50" fmla="*/ 60 w 60"/>
                <a:gd name="T51" fmla="*/ 150 h 150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" h="150">
                  <a:moveTo>
                    <a:pt x="0" y="145"/>
                  </a:moveTo>
                  <a:cubicBezTo>
                    <a:pt x="0" y="148"/>
                    <a:pt x="2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5" y="142"/>
                    <a:pt x="55" y="142"/>
                    <a:pt x="55" y="142"/>
                  </a:cubicBezTo>
                  <a:cubicBezTo>
                    <a:pt x="58" y="142"/>
                    <a:pt x="60" y="139"/>
                    <a:pt x="60" y="136"/>
                  </a:cubicBezTo>
                  <a:cubicBezTo>
                    <a:pt x="60" y="136"/>
                    <a:pt x="60" y="136"/>
                    <a:pt x="60" y="136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8" y="0"/>
                    <a:pt x="55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0" y="145"/>
                  </a:lnTo>
                  <a:close/>
                </a:path>
              </a:pathLst>
            </a:custGeom>
            <a:solidFill>
              <a:srgbClr val="DBDCD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3" name="Freeform 115"/>
            <p:cNvSpPr>
              <a:spLocks/>
            </p:cNvSpPr>
            <p:nvPr/>
          </p:nvSpPr>
          <p:spPr bwMode="auto">
            <a:xfrm>
              <a:off x="1104" y="1513"/>
              <a:ext cx="101" cy="96"/>
            </a:xfrm>
            <a:custGeom>
              <a:avLst/>
              <a:gdLst>
                <a:gd name="T0" fmla="*/ 0 w 101"/>
                <a:gd name="T1" fmla="*/ 96 h 96"/>
                <a:gd name="T2" fmla="*/ 101 w 101"/>
                <a:gd name="T3" fmla="*/ 79 h 96"/>
                <a:gd name="T4" fmla="*/ 101 w 101"/>
                <a:gd name="T5" fmla="*/ 32 h 96"/>
                <a:gd name="T6" fmla="*/ 101 w 101"/>
                <a:gd name="T7" fmla="*/ 0 h 96"/>
                <a:gd name="T8" fmla="*/ 101 w 101"/>
                <a:gd name="T9" fmla="*/ 0 h 96"/>
                <a:gd name="T10" fmla="*/ 0 w 101"/>
                <a:gd name="T11" fmla="*/ 18 h 96"/>
                <a:gd name="T12" fmla="*/ 0 w 101"/>
                <a:gd name="T13" fmla="*/ 18 h 96"/>
                <a:gd name="T14" fmla="*/ 0 w 101"/>
                <a:gd name="T15" fmla="*/ 96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"/>
                <a:gd name="T25" fmla="*/ 0 h 96"/>
                <a:gd name="T26" fmla="*/ 101 w 101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" h="96">
                  <a:moveTo>
                    <a:pt x="0" y="96"/>
                  </a:moveTo>
                  <a:lnTo>
                    <a:pt x="101" y="79"/>
                  </a:lnTo>
                  <a:lnTo>
                    <a:pt x="101" y="32"/>
                  </a:lnTo>
                  <a:lnTo>
                    <a:pt x="101" y="0"/>
                  </a:lnTo>
                  <a:lnTo>
                    <a:pt x="0" y="18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4" name="Freeform 116"/>
            <p:cNvSpPr>
              <a:spLocks/>
            </p:cNvSpPr>
            <p:nvPr/>
          </p:nvSpPr>
          <p:spPr bwMode="auto">
            <a:xfrm>
              <a:off x="1104" y="1595"/>
              <a:ext cx="101" cy="18"/>
            </a:xfrm>
            <a:custGeom>
              <a:avLst/>
              <a:gdLst>
                <a:gd name="T0" fmla="*/ 101 w 101"/>
                <a:gd name="T1" fmla="*/ 0 h 18"/>
                <a:gd name="T2" fmla="*/ 0 w 101"/>
                <a:gd name="T3" fmla="*/ 18 h 18"/>
                <a:gd name="T4" fmla="*/ 0 w 101"/>
                <a:gd name="T5" fmla="*/ 18 h 18"/>
                <a:gd name="T6" fmla="*/ 101 w 101"/>
                <a:gd name="T7" fmla="*/ 2 h 18"/>
                <a:gd name="T8" fmla="*/ 101 w 10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1"/>
                <a:gd name="T16" fmla="*/ 0 h 18"/>
                <a:gd name="T17" fmla="*/ 101 w 101"/>
                <a:gd name="T18" fmla="*/ 18 h 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1" h="18">
                  <a:moveTo>
                    <a:pt x="101" y="0"/>
                  </a:moveTo>
                  <a:lnTo>
                    <a:pt x="0" y="18"/>
                  </a:lnTo>
                  <a:lnTo>
                    <a:pt x="101" y="2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A6A8AB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5" name="Freeform 117"/>
            <p:cNvSpPr>
              <a:spLocks noEditPoints="1"/>
            </p:cNvSpPr>
            <p:nvPr/>
          </p:nvSpPr>
          <p:spPr bwMode="auto">
            <a:xfrm>
              <a:off x="1051" y="1470"/>
              <a:ext cx="166" cy="331"/>
            </a:xfrm>
            <a:custGeom>
              <a:avLst/>
              <a:gdLst>
                <a:gd name="T0" fmla="*/ 2147483647 w 85"/>
                <a:gd name="T1" fmla="*/ 2147483647 h 169"/>
                <a:gd name="T2" fmla="*/ 2147483647 w 85"/>
                <a:gd name="T3" fmla="*/ 2147483647 h 169"/>
                <a:gd name="T4" fmla="*/ 2147483647 w 85"/>
                <a:gd name="T5" fmla="*/ 2147483647 h 169"/>
                <a:gd name="T6" fmla="*/ 2147483647 w 85"/>
                <a:gd name="T7" fmla="*/ 2147483647 h 169"/>
                <a:gd name="T8" fmla="*/ 2147483647 w 85"/>
                <a:gd name="T9" fmla="*/ 2147483647 h 169"/>
                <a:gd name="T10" fmla="*/ 2147483647 w 85"/>
                <a:gd name="T11" fmla="*/ 2147483647 h 169"/>
                <a:gd name="T12" fmla="*/ 2147483647 w 85"/>
                <a:gd name="T13" fmla="*/ 2147483647 h 169"/>
                <a:gd name="T14" fmla="*/ 2147483647 w 85"/>
                <a:gd name="T15" fmla="*/ 2147483647 h 169"/>
                <a:gd name="T16" fmla="*/ 2147483647 w 85"/>
                <a:gd name="T17" fmla="*/ 2147483647 h 169"/>
                <a:gd name="T18" fmla="*/ 2147483647 w 85"/>
                <a:gd name="T19" fmla="*/ 2147483647 h 169"/>
                <a:gd name="T20" fmla="*/ 2147483647 w 85"/>
                <a:gd name="T21" fmla="*/ 2147483647 h 169"/>
                <a:gd name="T22" fmla="*/ 2147483647 w 85"/>
                <a:gd name="T23" fmla="*/ 2147483647 h 169"/>
                <a:gd name="T24" fmla="*/ 2147483647 w 85"/>
                <a:gd name="T25" fmla="*/ 2147483647 h 169"/>
                <a:gd name="T26" fmla="*/ 2147483647 w 85"/>
                <a:gd name="T27" fmla="*/ 2147483647 h 169"/>
                <a:gd name="T28" fmla="*/ 2147483647 w 85"/>
                <a:gd name="T29" fmla="*/ 2147483647 h 169"/>
                <a:gd name="T30" fmla="*/ 2147483647 w 85"/>
                <a:gd name="T31" fmla="*/ 2147483647 h 169"/>
                <a:gd name="T32" fmla="*/ 2147483647 w 85"/>
                <a:gd name="T33" fmla="*/ 2147483647 h 169"/>
                <a:gd name="T34" fmla="*/ 2147483647 w 85"/>
                <a:gd name="T35" fmla="*/ 2147483647 h 169"/>
                <a:gd name="T36" fmla="*/ 2147483647 w 85"/>
                <a:gd name="T37" fmla="*/ 2147483647 h 169"/>
                <a:gd name="T38" fmla="*/ 2147483647 w 85"/>
                <a:gd name="T39" fmla="*/ 2147483647 h 169"/>
                <a:gd name="T40" fmla="*/ 0 w 85"/>
                <a:gd name="T41" fmla="*/ 2147483647 h 169"/>
                <a:gd name="T42" fmla="*/ 2147483647 w 85"/>
                <a:gd name="T43" fmla="*/ 2147483647 h 169"/>
                <a:gd name="T44" fmla="*/ 2147483647 w 85"/>
                <a:gd name="T45" fmla="*/ 2147483647 h 169"/>
                <a:gd name="T46" fmla="*/ 2147483647 w 85"/>
                <a:gd name="T47" fmla="*/ 2147483647 h 169"/>
                <a:gd name="T48" fmla="*/ 2147483647 w 85"/>
                <a:gd name="T49" fmla="*/ 2147483647 h 169"/>
                <a:gd name="T50" fmla="*/ 2147483647 w 85"/>
                <a:gd name="T51" fmla="*/ 2147483647 h 169"/>
                <a:gd name="T52" fmla="*/ 2147483647 w 85"/>
                <a:gd name="T53" fmla="*/ 2147483647 h 169"/>
                <a:gd name="T54" fmla="*/ 2147483647 w 85"/>
                <a:gd name="T55" fmla="*/ 2147483647 h 169"/>
                <a:gd name="T56" fmla="*/ 2147483647 w 85"/>
                <a:gd name="T57" fmla="*/ 2147483647 h 169"/>
                <a:gd name="T58" fmla="*/ 2147483647 w 85"/>
                <a:gd name="T59" fmla="*/ 0 h 169"/>
                <a:gd name="T60" fmla="*/ 2147483647 w 85"/>
                <a:gd name="T61" fmla="*/ 0 h 169"/>
                <a:gd name="T62" fmla="*/ 2147483647 w 85"/>
                <a:gd name="T63" fmla="*/ 0 h 169"/>
                <a:gd name="T64" fmla="*/ 2147483647 w 85"/>
                <a:gd name="T65" fmla="*/ 2147483647 h 169"/>
                <a:gd name="T66" fmla="*/ 2147483647 w 85"/>
                <a:gd name="T67" fmla="*/ 2147483647 h 169"/>
                <a:gd name="T68" fmla="*/ 2147483647 w 85"/>
                <a:gd name="T69" fmla="*/ 2147483647 h 169"/>
                <a:gd name="T70" fmla="*/ 2147483647 w 85"/>
                <a:gd name="T71" fmla="*/ 2147483647 h 169"/>
                <a:gd name="T72" fmla="*/ 2147483647 w 85"/>
                <a:gd name="T73" fmla="*/ 2147483647 h 169"/>
                <a:gd name="T74" fmla="*/ 2147483647 w 85"/>
                <a:gd name="T75" fmla="*/ 2147483647 h 169"/>
                <a:gd name="T76" fmla="*/ 2147483647 w 85"/>
                <a:gd name="T77" fmla="*/ 2147483647 h 169"/>
                <a:gd name="T78" fmla="*/ 0 w 85"/>
                <a:gd name="T79" fmla="*/ 2147483647 h 1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5"/>
                <a:gd name="T121" fmla="*/ 0 h 169"/>
                <a:gd name="T122" fmla="*/ 85 w 85"/>
                <a:gd name="T123" fmla="*/ 169 h 1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5" h="169">
                  <a:moveTo>
                    <a:pt x="4" y="15"/>
                  </a:move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3"/>
                    <a:pt x="4" y="13"/>
                  </a:cubicBezTo>
                  <a:cubicBezTo>
                    <a:pt x="4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6" y="12"/>
                    <a:pt x="6" y="12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7" y="11"/>
                    <a:pt x="7" y="1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8" y="11"/>
                    <a:pt x="58" y="3"/>
                    <a:pt x="58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58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59" y="3"/>
                    <a:pt x="59" y="3"/>
                    <a:pt x="59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3"/>
                    <a:pt x="60" y="3"/>
                    <a:pt x="60" y="3"/>
                  </a:cubicBezTo>
                  <a:cubicBezTo>
                    <a:pt x="60" y="4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83" y="16"/>
                    <a:pt x="82" y="16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2" y="20"/>
                    <a:pt x="82" y="21"/>
                  </a:cubicBezTo>
                  <a:cubicBezTo>
                    <a:pt x="82" y="153"/>
                    <a:pt x="82" y="153"/>
                    <a:pt x="82" y="153"/>
                  </a:cubicBezTo>
                  <a:cubicBezTo>
                    <a:pt x="82" y="155"/>
                    <a:pt x="80" y="158"/>
                    <a:pt x="78" y="158"/>
                  </a:cubicBezTo>
                  <a:cubicBezTo>
                    <a:pt x="28" y="166"/>
                    <a:pt x="28" y="166"/>
                    <a:pt x="28" y="166"/>
                  </a:cubicBezTo>
                  <a:cubicBezTo>
                    <a:pt x="27" y="166"/>
                    <a:pt x="26" y="166"/>
                    <a:pt x="26" y="165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5" y="165"/>
                    <a:pt x="25" y="165"/>
                    <a:pt x="25" y="165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5" y="150"/>
                    <a:pt x="5" y="150"/>
                  </a:cubicBezTo>
                  <a:cubicBezTo>
                    <a:pt x="5" y="150"/>
                    <a:pt x="4" y="150"/>
                    <a:pt x="4" y="149"/>
                  </a:cubicBezTo>
                  <a:cubicBezTo>
                    <a:pt x="4" y="149"/>
                    <a:pt x="4" y="149"/>
                    <a:pt x="4" y="149"/>
                  </a:cubicBezTo>
                  <a:cubicBezTo>
                    <a:pt x="4" y="149"/>
                    <a:pt x="4" y="148"/>
                    <a:pt x="4" y="148"/>
                  </a:cubicBezTo>
                  <a:cubicBezTo>
                    <a:pt x="4" y="148"/>
                    <a:pt x="4" y="148"/>
                    <a:pt x="4" y="148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lose/>
                  <a:moveTo>
                    <a:pt x="0" y="15"/>
                  </a:move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1" y="149"/>
                  </a:cubicBezTo>
                  <a:cubicBezTo>
                    <a:pt x="1" y="149"/>
                    <a:pt x="1" y="150"/>
                    <a:pt x="1" y="150"/>
                  </a:cubicBezTo>
                  <a:cubicBezTo>
                    <a:pt x="1" y="151"/>
                    <a:pt x="1" y="151"/>
                    <a:pt x="2" y="151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2" y="152"/>
                    <a:pt x="2" y="152"/>
                  </a:cubicBezTo>
                  <a:cubicBezTo>
                    <a:pt x="2" y="152"/>
                    <a:pt x="3" y="152"/>
                    <a:pt x="3" y="152"/>
                  </a:cubicBezTo>
                  <a:cubicBezTo>
                    <a:pt x="24" y="168"/>
                    <a:pt x="24" y="168"/>
                    <a:pt x="24" y="168"/>
                  </a:cubicBezTo>
                  <a:cubicBezTo>
                    <a:pt x="23" y="168"/>
                    <a:pt x="23" y="168"/>
                    <a:pt x="23" y="168"/>
                  </a:cubicBezTo>
                  <a:cubicBezTo>
                    <a:pt x="25" y="169"/>
                    <a:pt x="27" y="169"/>
                    <a:pt x="28" y="169"/>
                  </a:cubicBezTo>
                  <a:cubicBezTo>
                    <a:pt x="28" y="169"/>
                    <a:pt x="79" y="161"/>
                    <a:pt x="79" y="161"/>
                  </a:cubicBezTo>
                  <a:cubicBezTo>
                    <a:pt x="82" y="161"/>
                    <a:pt x="85" y="157"/>
                    <a:pt x="85" y="153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5" y="19"/>
                    <a:pt x="84" y="17"/>
                    <a:pt x="82" y="16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3" y="16"/>
                    <a:pt x="83" y="16"/>
                    <a:pt x="83" y="16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2" y="1"/>
                    <a:pt x="61" y="0"/>
                    <a:pt x="61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8" y="0"/>
                    <a:pt x="57" y="0"/>
                  </a:cubicBezTo>
                  <a:cubicBezTo>
                    <a:pt x="57" y="0"/>
                    <a:pt x="7" y="8"/>
                    <a:pt x="7" y="8"/>
                  </a:cubicBezTo>
                  <a:cubicBezTo>
                    <a:pt x="7" y="8"/>
                    <a:pt x="6" y="8"/>
                    <a:pt x="6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3" y="10"/>
                    <a:pt x="3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1" y="12"/>
                    <a:pt x="1" y="12"/>
                    <a:pt x="1" y="13"/>
                  </a:cubicBezTo>
                  <a:cubicBezTo>
                    <a:pt x="1" y="13"/>
                    <a:pt x="1" y="14"/>
                    <a:pt x="1" y="14"/>
                  </a:cubicBezTo>
                  <a:cubicBezTo>
                    <a:pt x="0" y="15"/>
                    <a:pt x="0" y="15"/>
                    <a:pt x="0" y="15"/>
                  </a:cubicBezTo>
                  <a:close/>
                </a:path>
              </a:pathLst>
            </a:custGeom>
            <a:solidFill>
              <a:srgbClr val="595A5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6" name="Rectangle 118"/>
            <p:cNvSpPr>
              <a:spLocks noChangeArrowheads="1"/>
            </p:cNvSpPr>
            <p:nvPr/>
          </p:nvSpPr>
          <p:spPr bwMode="auto">
            <a:xfrm>
              <a:off x="1154" y="1609"/>
              <a:ext cx="2" cy="170"/>
            </a:xfrm>
            <a:prstGeom prst="rect">
              <a:avLst/>
            </a:prstGeom>
            <a:solidFill>
              <a:srgbClr val="A6A8AB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7" name="Rectangle 119"/>
            <p:cNvSpPr>
              <a:spLocks noChangeArrowheads="1"/>
            </p:cNvSpPr>
            <p:nvPr/>
          </p:nvSpPr>
          <p:spPr bwMode="auto">
            <a:xfrm>
              <a:off x="1154" y="1527"/>
              <a:ext cx="2" cy="66"/>
            </a:xfrm>
            <a:prstGeom prst="rect">
              <a:avLst/>
            </a:prstGeom>
            <a:solidFill>
              <a:srgbClr val="F2F1F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8" name="Freeform 120"/>
            <p:cNvSpPr>
              <a:spLocks/>
            </p:cNvSpPr>
            <p:nvPr/>
          </p:nvSpPr>
          <p:spPr bwMode="auto">
            <a:xfrm>
              <a:off x="1104" y="1740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49" name="Freeform 121"/>
            <p:cNvSpPr>
              <a:spLocks/>
            </p:cNvSpPr>
            <p:nvPr/>
          </p:nvSpPr>
          <p:spPr bwMode="auto">
            <a:xfrm>
              <a:off x="1104" y="1748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0" name="Freeform 122"/>
            <p:cNvSpPr>
              <a:spLocks/>
            </p:cNvSpPr>
            <p:nvPr/>
          </p:nvSpPr>
          <p:spPr bwMode="auto">
            <a:xfrm>
              <a:off x="1104" y="1734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1" name="Freeform 123"/>
            <p:cNvSpPr>
              <a:spLocks/>
            </p:cNvSpPr>
            <p:nvPr/>
          </p:nvSpPr>
          <p:spPr bwMode="auto">
            <a:xfrm>
              <a:off x="1104" y="1762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6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6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2" name="Freeform 124"/>
            <p:cNvSpPr>
              <a:spLocks/>
            </p:cNvSpPr>
            <p:nvPr/>
          </p:nvSpPr>
          <p:spPr bwMode="auto">
            <a:xfrm>
              <a:off x="1104" y="1768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7 h 9"/>
                <a:gd name="T4" fmla="*/ 0 w 45"/>
                <a:gd name="T5" fmla="*/ 9 h 9"/>
                <a:gd name="T6" fmla="*/ 45 w 45"/>
                <a:gd name="T7" fmla="*/ 3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7"/>
                  </a:lnTo>
                  <a:lnTo>
                    <a:pt x="0" y="9"/>
                  </a:lnTo>
                  <a:lnTo>
                    <a:pt x="45" y="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3" name="Freeform 125"/>
            <p:cNvSpPr>
              <a:spLocks/>
            </p:cNvSpPr>
            <p:nvPr/>
          </p:nvSpPr>
          <p:spPr bwMode="auto">
            <a:xfrm>
              <a:off x="1104" y="1754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4" name="Freeform 126"/>
            <p:cNvSpPr>
              <a:spLocks/>
            </p:cNvSpPr>
            <p:nvPr/>
          </p:nvSpPr>
          <p:spPr bwMode="auto">
            <a:xfrm>
              <a:off x="1104" y="1713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5" name="Freeform 127"/>
            <p:cNvSpPr>
              <a:spLocks/>
            </p:cNvSpPr>
            <p:nvPr/>
          </p:nvSpPr>
          <p:spPr bwMode="auto">
            <a:xfrm>
              <a:off x="1104" y="1707"/>
              <a:ext cx="45" cy="10"/>
            </a:xfrm>
            <a:custGeom>
              <a:avLst/>
              <a:gdLst>
                <a:gd name="T0" fmla="*/ 45 w 45"/>
                <a:gd name="T1" fmla="*/ 0 h 10"/>
                <a:gd name="T2" fmla="*/ 0 w 45"/>
                <a:gd name="T3" fmla="*/ 6 h 10"/>
                <a:gd name="T4" fmla="*/ 0 w 45"/>
                <a:gd name="T5" fmla="*/ 10 h 10"/>
                <a:gd name="T6" fmla="*/ 45 w 45"/>
                <a:gd name="T7" fmla="*/ 2 h 10"/>
                <a:gd name="T8" fmla="*/ 45 w 45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0"/>
                <a:gd name="T17" fmla="*/ 45 w 45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0">
                  <a:moveTo>
                    <a:pt x="45" y="0"/>
                  </a:moveTo>
                  <a:lnTo>
                    <a:pt x="0" y="6"/>
                  </a:lnTo>
                  <a:lnTo>
                    <a:pt x="0" y="10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6" name="Freeform 128"/>
            <p:cNvSpPr>
              <a:spLocks/>
            </p:cNvSpPr>
            <p:nvPr/>
          </p:nvSpPr>
          <p:spPr bwMode="auto">
            <a:xfrm>
              <a:off x="1104" y="1726"/>
              <a:ext cx="45" cy="12"/>
            </a:xfrm>
            <a:custGeom>
              <a:avLst/>
              <a:gdLst>
                <a:gd name="T0" fmla="*/ 45 w 45"/>
                <a:gd name="T1" fmla="*/ 0 h 12"/>
                <a:gd name="T2" fmla="*/ 0 w 45"/>
                <a:gd name="T3" fmla="*/ 8 h 12"/>
                <a:gd name="T4" fmla="*/ 0 w 45"/>
                <a:gd name="T5" fmla="*/ 12 h 12"/>
                <a:gd name="T6" fmla="*/ 45 w 45"/>
                <a:gd name="T7" fmla="*/ 4 h 12"/>
                <a:gd name="T8" fmla="*/ 45 w 45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12"/>
                <a:gd name="T17" fmla="*/ 45 w 45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12">
                  <a:moveTo>
                    <a:pt x="45" y="0"/>
                  </a:moveTo>
                  <a:lnTo>
                    <a:pt x="0" y="8"/>
                  </a:lnTo>
                  <a:lnTo>
                    <a:pt x="0" y="12"/>
                  </a:lnTo>
                  <a:lnTo>
                    <a:pt x="45" y="4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7" name="Freeform 129"/>
            <p:cNvSpPr>
              <a:spLocks/>
            </p:cNvSpPr>
            <p:nvPr/>
          </p:nvSpPr>
          <p:spPr bwMode="auto">
            <a:xfrm>
              <a:off x="1104" y="1721"/>
              <a:ext cx="45" cy="9"/>
            </a:xfrm>
            <a:custGeom>
              <a:avLst/>
              <a:gdLst>
                <a:gd name="T0" fmla="*/ 45 w 45"/>
                <a:gd name="T1" fmla="*/ 0 h 9"/>
                <a:gd name="T2" fmla="*/ 0 w 45"/>
                <a:gd name="T3" fmla="*/ 5 h 9"/>
                <a:gd name="T4" fmla="*/ 0 w 45"/>
                <a:gd name="T5" fmla="*/ 9 h 9"/>
                <a:gd name="T6" fmla="*/ 45 w 45"/>
                <a:gd name="T7" fmla="*/ 2 h 9"/>
                <a:gd name="T8" fmla="*/ 45 w 4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"/>
                <a:gd name="T16" fmla="*/ 0 h 9"/>
                <a:gd name="T17" fmla="*/ 45 w 45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" h="9">
                  <a:moveTo>
                    <a:pt x="45" y="0"/>
                  </a:moveTo>
                  <a:lnTo>
                    <a:pt x="0" y="5"/>
                  </a:lnTo>
                  <a:lnTo>
                    <a:pt x="0" y="9"/>
                  </a:lnTo>
                  <a:lnTo>
                    <a:pt x="45" y="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8" name="Freeform 130"/>
            <p:cNvSpPr>
              <a:spLocks/>
            </p:cNvSpPr>
            <p:nvPr/>
          </p:nvSpPr>
          <p:spPr bwMode="auto">
            <a:xfrm>
              <a:off x="1162" y="1705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9" name="Freeform 131"/>
            <p:cNvSpPr>
              <a:spLocks/>
            </p:cNvSpPr>
            <p:nvPr/>
          </p:nvSpPr>
          <p:spPr bwMode="auto">
            <a:xfrm>
              <a:off x="1162" y="1711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0" name="Freeform 132"/>
            <p:cNvSpPr>
              <a:spLocks/>
            </p:cNvSpPr>
            <p:nvPr/>
          </p:nvSpPr>
          <p:spPr bwMode="auto">
            <a:xfrm>
              <a:off x="1162" y="1719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2 h 9"/>
                <a:gd name="T4" fmla="*/ 43 w 43"/>
                <a:gd name="T5" fmla="*/ 0 h 9"/>
                <a:gd name="T6" fmla="*/ 0 w 43"/>
                <a:gd name="T7" fmla="*/ 6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1" name="Freeform 133"/>
            <p:cNvSpPr>
              <a:spLocks/>
            </p:cNvSpPr>
            <p:nvPr/>
          </p:nvSpPr>
          <p:spPr bwMode="auto">
            <a:xfrm>
              <a:off x="1162" y="1725"/>
              <a:ext cx="43" cy="9"/>
            </a:xfrm>
            <a:custGeom>
              <a:avLst/>
              <a:gdLst>
                <a:gd name="T0" fmla="*/ 0 w 43"/>
                <a:gd name="T1" fmla="*/ 9 h 9"/>
                <a:gd name="T2" fmla="*/ 43 w 43"/>
                <a:gd name="T3" fmla="*/ 3 h 9"/>
                <a:gd name="T4" fmla="*/ 43 w 43"/>
                <a:gd name="T5" fmla="*/ 0 h 9"/>
                <a:gd name="T6" fmla="*/ 0 w 43"/>
                <a:gd name="T7" fmla="*/ 5 h 9"/>
                <a:gd name="T8" fmla="*/ 0 w 43"/>
                <a:gd name="T9" fmla="*/ 9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9"/>
                <a:gd name="T17" fmla="*/ 43 w 43"/>
                <a:gd name="T18" fmla="*/ 9 h 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9">
                  <a:moveTo>
                    <a:pt x="0" y="9"/>
                  </a:moveTo>
                  <a:lnTo>
                    <a:pt x="43" y="3"/>
                  </a:lnTo>
                  <a:lnTo>
                    <a:pt x="43" y="0"/>
                  </a:lnTo>
                  <a:lnTo>
                    <a:pt x="0" y="5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2" name="Freeform 134"/>
            <p:cNvSpPr>
              <a:spLocks/>
            </p:cNvSpPr>
            <p:nvPr/>
          </p:nvSpPr>
          <p:spPr bwMode="auto">
            <a:xfrm>
              <a:off x="1162" y="1697"/>
              <a:ext cx="43" cy="10"/>
            </a:xfrm>
            <a:custGeom>
              <a:avLst/>
              <a:gdLst>
                <a:gd name="T0" fmla="*/ 0 w 43"/>
                <a:gd name="T1" fmla="*/ 8 h 10"/>
                <a:gd name="T2" fmla="*/ 0 w 43"/>
                <a:gd name="T3" fmla="*/ 10 h 10"/>
                <a:gd name="T4" fmla="*/ 43 w 43"/>
                <a:gd name="T5" fmla="*/ 4 h 10"/>
                <a:gd name="T6" fmla="*/ 43 w 43"/>
                <a:gd name="T7" fmla="*/ 0 h 10"/>
                <a:gd name="T8" fmla="*/ 0 w 43"/>
                <a:gd name="T9" fmla="*/ 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8"/>
                  </a:moveTo>
                  <a:lnTo>
                    <a:pt x="0" y="10"/>
                  </a:ln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3" name="Freeform 135"/>
            <p:cNvSpPr>
              <a:spLocks/>
            </p:cNvSpPr>
            <p:nvPr/>
          </p:nvSpPr>
          <p:spPr bwMode="auto">
            <a:xfrm>
              <a:off x="1162" y="1746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4" name="Freeform 136"/>
            <p:cNvSpPr>
              <a:spLocks/>
            </p:cNvSpPr>
            <p:nvPr/>
          </p:nvSpPr>
          <p:spPr bwMode="auto">
            <a:xfrm>
              <a:off x="1162" y="1758"/>
              <a:ext cx="43" cy="12"/>
            </a:xfrm>
            <a:custGeom>
              <a:avLst/>
              <a:gdLst>
                <a:gd name="T0" fmla="*/ 0 w 43"/>
                <a:gd name="T1" fmla="*/ 12 h 12"/>
                <a:gd name="T2" fmla="*/ 43 w 43"/>
                <a:gd name="T3" fmla="*/ 4 h 12"/>
                <a:gd name="T4" fmla="*/ 43 w 43"/>
                <a:gd name="T5" fmla="*/ 0 h 12"/>
                <a:gd name="T6" fmla="*/ 0 w 43"/>
                <a:gd name="T7" fmla="*/ 8 h 12"/>
                <a:gd name="T8" fmla="*/ 0 w 43"/>
                <a:gd name="T9" fmla="*/ 1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2"/>
                <a:gd name="T17" fmla="*/ 43 w 43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2">
                  <a:moveTo>
                    <a:pt x="0" y="12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5" name="Freeform 137"/>
            <p:cNvSpPr>
              <a:spLocks/>
            </p:cNvSpPr>
            <p:nvPr/>
          </p:nvSpPr>
          <p:spPr bwMode="auto">
            <a:xfrm>
              <a:off x="1162" y="173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2 h 10"/>
                <a:gd name="T4" fmla="*/ 43 w 43"/>
                <a:gd name="T5" fmla="*/ 0 h 10"/>
                <a:gd name="T6" fmla="*/ 0 w 43"/>
                <a:gd name="T7" fmla="*/ 6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2"/>
                  </a:lnTo>
                  <a:lnTo>
                    <a:pt x="43" y="0"/>
                  </a:lnTo>
                  <a:lnTo>
                    <a:pt x="0" y="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6" name="Freeform 138"/>
            <p:cNvSpPr>
              <a:spLocks/>
            </p:cNvSpPr>
            <p:nvPr/>
          </p:nvSpPr>
          <p:spPr bwMode="auto">
            <a:xfrm>
              <a:off x="1162" y="1752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67" name="Freeform 139"/>
            <p:cNvSpPr>
              <a:spLocks/>
            </p:cNvSpPr>
            <p:nvPr/>
          </p:nvSpPr>
          <p:spPr bwMode="auto">
            <a:xfrm>
              <a:off x="1162" y="1738"/>
              <a:ext cx="43" cy="10"/>
            </a:xfrm>
            <a:custGeom>
              <a:avLst/>
              <a:gdLst>
                <a:gd name="T0" fmla="*/ 0 w 43"/>
                <a:gd name="T1" fmla="*/ 10 h 10"/>
                <a:gd name="T2" fmla="*/ 43 w 43"/>
                <a:gd name="T3" fmla="*/ 4 h 10"/>
                <a:gd name="T4" fmla="*/ 43 w 43"/>
                <a:gd name="T5" fmla="*/ 0 h 10"/>
                <a:gd name="T6" fmla="*/ 0 w 43"/>
                <a:gd name="T7" fmla="*/ 8 h 10"/>
                <a:gd name="T8" fmla="*/ 0 w 43"/>
                <a:gd name="T9" fmla="*/ 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10"/>
                <a:gd name="T17" fmla="*/ 43 w 43"/>
                <a:gd name="T18" fmla="*/ 10 h 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10">
                  <a:moveTo>
                    <a:pt x="0" y="10"/>
                  </a:moveTo>
                  <a:lnTo>
                    <a:pt x="43" y="4"/>
                  </a:lnTo>
                  <a:lnTo>
                    <a:pt x="43" y="0"/>
                  </a:lnTo>
                  <a:lnTo>
                    <a:pt x="0" y="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92949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68" name="Text Box 4"/>
          <p:cNvSpPr txBox="1">
            <a:spLocks noChangeArrowheads="1"/>
          </p:cNvSpPr>
          <p:nvPr/>
        </p:nvSpPr>
        <p:spPr bwMode="auto">
          <a:xfrm>
            <a:off x="9199378" y="1086883"/>
            <a:ext cx="1252266" cy="5539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000" dirty="0" smtClean="0">
                <a:latin typeface="Arial" charset="0"/>
              </a:rPr>
              <a:t>DNS – DHCP - AD</a:t>
            </a:r>
          </a:p>
          <a:p>
            <a:pPr algn="ctr"/>
            <a:r>
              <a:rPr lang="en-US" sz="1000" dirty="0" smtClean="0">
                <a:latin typeface="Arial" charset="0"/>
              </a:rPr>
              <a:t>dns.demo.local</a:t>
            </a:r>
            <a:endParaRPr lang="en-US" sz="1000" dirty="0">
              <a:latin typeface="Arial" charset="0"/>
            </a:endParaRPr>
          </a:p>
          <a:p>
            <a:pPr algn="ctr"/>
            <a:r>
              <a:rPr lang="en-US" sz="1000" dirty="0" smtClean="0">
                <a:latin typeface="Arial" charset="0"/>
              </a:rPr>
              <a:t>172.16.239.9</a:t>
            </a:r>
            <a:endParaRPr lang="en-US" sz="1000" dirty="0">
              <a:latin typeface="Arial" charset="0"/>
            </a:endParaRPr>
          </a:p>
        </p:txBody>
      </p:sp>
      <p:sp>
        <p:nvSpPr>
          <p:cNvPr id="1230" name="Text Box 5"/>
          <p:cNvSpPr txBox="1">
            <a:spLocks noChangeArrowheads="1"/>
          </p:cNvSpPr>
          <p:nvPr/>
        </p:nvSpPr>
        <p:spPr bwMode="auto">
          <a:xfrm>
            <a:off x="8212013" y="2801258"/>
            <a:ext cx="162576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 dirty="0" smtClean="0">
                <a:latin typeface="Arial" charset="0"/>
              </a:rPr>
              <a:t>Puppet managed</a:t>
            </a:r>
            <a:endParaRPr lang="en-US" sz="1400" i="1" dirty="0">
              <a:latin typeface="Arial" charset="0"/>
            </a:endParaRPr>
          </a:p>
        </p:txBody>
      </p:sp>
      <p:sp>
        <p:nvSpPr>
          <p:cNvPr id="1233" name="Text Box 5"/>
          <p:cNvSpPr txBox="1">
            <a:spLocks noChangeArrowheads="1"/>
          </p:cNvSpPr>
          <p:nvPr/>
        </p:nvSpPr>
        <p:spPr bwMode="auto">
          <a:xfrm rot="19639868">
            <a:off x="6962316" y="1996721"/>
            <a:ext cx="74090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i="1" dirty="0" smtClean="0">
                <a:latin typeface="Arial" charset="0"/>
              </a:rPr>
              <a:t>Future</a:t>
            </a:r>
            <a:endParaRPr lang="en-US" sz="1400" i="1" dirty="0">
              <a:latin typeface="Arial" charset="0"/>
            </a:endParaRPr>
          </a:p>
        </p:txBody>
      </p:sp>
      <p:cxnSp>
        <p:nvCxnSpPr>
          <p:cNvPr id="1234" name="Straight Connector 1233"/>
          <p:cNvCxnSpPr/>
          <p:nvPr/>
        </p:nvCxnSpPr>
        <p:spPr>
          <a:xfrm flipV="1">
            <a:off x="10718248" y="2424358"/>
            <a:ext cx="29924" cy="17516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5" name="TextBox 1234"/>
          <p:cNvSpPr txBox="1"/>
          <p:nvPr/>
        </p:nvSpPr>
        <p:spPr bwMode="gray">
          <a:xfrm>
            <a:off x="2048112" y="6196433"/>
            <a:ext cx="7851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1200" dirty="0">
                <a:cs typeface="HP Simplified" pitchFamily="34" charset="0"/>
              </a:rPr>
              <a:t>Domain:  </a:t>
            </a:r>
            <a:r>
              <a:rPr lang="en-US" sz="1200" b="1" dirty="0" smtClean="0">
                <a:cs typeface="HP Simplified" pitchFamily="34" charset="0"/>
              </a:rPr>
              <a:t>dca.demo.local  </a:t>
            </a:r>
            <a:r>
              <a:rPr lang="en-US" sz="1200" dirty="0" smtClean="0">
                <a:cs typeface="HP Simplified" pitchFamily="34" charset="0"/>
              </a:rPr>
              <a:t>     	Gateway</a:t>
            </a:r>
            <a:r>
              <a:rPr lang="en-US" sz="1200" dirty="0">
                <a:cs typeface="HP Simplified" pitchFamily="34" charset="0"/>
              </a:rPr>
              <a:t>:  </a:t>
            </a:r>
            <a:r>
              <a:rPr lang="en-US" sz="1200" b="1" dirty="0" smtClean="0">
                <a:cs typeface="HP Simplified" pitchFamily="34" charset="0"/>
              </a:rPr>
              <a:t>172.16.239.1	</a:t>
            </a:r>
            <a:r>
              <a:rPr lang="en-US" sz="1200" dirty="0" smtClean="0">
                <a:cs typeface="HP Simplified" pitchFamily="34" charset="0"/>
              </a:rPr>
              <a:t>	</a:t>
            </a:r>
            <a:r>
              <a:rPr lang="en-US" sz="1200" dirty="0">
                <a:cs typeface="HP Simplified" pitchFamily="34" charset="0"/>
              </a:rPr>
              <a:t>Proxy: </a:t>
            </a:r>
            <a:r>
              <a:rPr lang="en-US" sz="1200" dirty="0" smtClean="0">
                <a:cs typeface="HP Simplified" pitchFamily="34" charset="0"/>
              </a:rPr>
              <a:t>   </a:t>
            </a:r>
            <a:r>
              <a:rPr lang="en-US" sz="1200" b="1" dirty="0" smtClean="0">
                <a:cs typeface="HP Simplified" pitchFamily="34" charset="0"/>
              </a:rPr>
              <a:t>proxy.eswdc.net:8088 (156.152.46.12)</a:t>
            </a:r>
            <a:endParaRPr lang="en-US" sz="1200" b="1" dirty="0">
              <a:cs typeface="HP Simplified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973874"/>
              </p:ext>
            </p:extLst>
          </p:nvPr>
        </p:nvGraphicFramePr>
        <p:xfrm>
          <a:off x="3672332" y="3219610"/>
          <a:ext cx="1879600" cy="1905000"/>
        </p:xfrm>
        <a:graphic>
          <a:graphicData uri="http://schemas.openxmlformats.org/drawingml/2006/table">
            <a:tbl>
              <a:tblPr/>
              <a:tblGrid>
                <a:gridCol w="830077"/>
                <a:gridCol w="1049523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 - Red Hat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Agentless - Red Hat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640784"/>
              </p:ext>
            </p:extLst>
          </p:nvPr>
        </p:nvGraphicFramePr>
        <p:xfrm>
          <a:off x="5855910" y="3227898"/>
          <a:ext cx="1879600" cy="1905000"/>
        </p:xfrm>
        <a:graphic>
          <a:graphicData uri="http://schemas.openxmlformats.org/drawingml/2006/table">
            <a:tbl>
              <a:tblPr/>
              <a:tblGrid>
                <a:gridCol w="830077"/>
                <a:gridCol w="1049523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 -Windows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Agentless - Windows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048082"/>
              </p:ext>
            </p:extLst>
          </p:nvPr>
        </p:nvGraphicFramePr>
        <p:xfrm>
          <a:off x="8276989" y="3306851"/>
          <a:ext cx="1727200" cy="2082165"/>
        </p:xfrm>
        <a:graphic>
          <a:graphicData uri="http://schemas.openxmlformats.org/drawingml/2006/table">
            <a:tbl>
              <a:tblPr/>
              <a:tblGrid>
                <a:gridCol w="830201"/>
                <a:gridCol w="896999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Puppet CentOS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demo4puppet1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25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Puppet RHEL Servers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demo4puppet2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949467"/>
              </p:ext>
            </p:extLst>
          </p:nvPr>
        </p:nvGraphicFramePr>
        <p:xfrm>
          <a:off x="4478803" y="5187248"/>
          <a:ext cx="2679700" cy="952500"/>
        </p:xfrm>
        <a:graphic>
          <a:graphicData uri="http://schemas.openxmlformats.org/drawingml/2006/table">
            <a:tbl>
              <a:tblPr/>
              <a:tblGrid>
                <a:gridCol w="1134820"/>
                <a:gridCol w="1544880"/>
              </a:tblGrid>
              <a:tr h="19050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Provisioning 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with MBC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– Linux Servers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demo1ms8p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demo2ms8p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demo3ms8p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demo4ms8p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172.16.239.88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461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266556"/>
              </p:ext>
            </p:extLst>
          </p:nvPr>
        </p:nvGraphicFramePr>
        <p:xfrm>
          <a:off x="376236" y="710193"/>
          <a:ext cx="11452862" cy="463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804"/>
                <a:gridCol w="1463637"/>
                <a:gridCol w="2651760"/>
                <a:gridCol w="1046627"/>
                <a:gridCol w="706190"/>
                <a:gridCol w="1098518"/>
                <a:gridCol w="1490845"/>
                <a:gridCol w="938481"/>
              </a:tblGrid>
              <a:tr h="5817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Hostname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IP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OS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 smtClean="0">
                          <a:latin typeface="+mn-lt"/>
                        </a:rPr>
                        <a:t>Network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CPU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Memory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Disk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 smtClean="0">
                          <a:latin typeface="+mn-lt"/>
                        </a:rPr>
                        <a:t>Power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</a:tr>
              <a:tr h="368301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dca-clientapps01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172.16.239.10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MS W2K8 64 Bit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4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24 GB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40 GB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smtClean="0">
                          <a:latin typeface="+mn-lt"/>
                        </a:rPr>
                        <a:t>On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/>
                </a:tc>
              </a:tr>
              <a:tr h="2994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dns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172.16.239.9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MS W2K12R2</a:t>
                      </a:r>
                      <a:r>
                        <a:rPr lang="en-US" sz="1200" baseline="0" dirty="0" smtClean="0">
                          <a:latin typeface="+mn-lt"/>
                        </a:rPr>
                        <a:t> </a:t>
                      </a:r>
                      <a:r>
                        <a:rPr lang="en-US" sz="1200" dirty="0" smtClean="0">
                          <a:latin typeface="+mn-lt"/>
                        </a:rPr>
                        <a:t>64 Bit</a:t>
                      </a:r>
                      <a:endParaRPr lang="en-CA" sz="12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Arial"/>
                        </a:rPr>
                        <a:t>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 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40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99405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sa1060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172.16.239.20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latin typeface="+mn-lt"/>
                        </a:rPr>
                        <a:t>Red Hat EL 7.3 64 Bit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smtClean="0">
                          <a:latin typeface="+mn-lt"/>
                        </a:rPr>
                        <a:t>8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24 GB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+mn-lt"/>
                        </a:rPr>
                        <a:t>600 GB (thin)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smtClean="0">
                          <a:latin typeface="+mn-lt"/>
                        </a:rPr>
                        <a:t>On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5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dma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172.16.239.22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Red Hat EL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16 </a:t>
                      </a: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40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5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rh-repo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172.16.239.30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CentOS 7 </a:t>
                      </a:r>
                      <a:r>
                        <a:rPr lang="en-US" sz="12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5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wsus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172.16.239.31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MS W2K12R2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200" dirty="0" smtClean="0">
                          <a:latin typeface="+mn-lt"/>
                        </a:rPr>
                        <a:t>Private</a:t>
                      </a:r>
                      <a:endParaRPr lang="en-CA" sz="12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5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obr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172.16.239.21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latin typeface="+mn-lt"/>
                        </a:rPr>
                        <a:t>Red Hat EL 7.3 64 Bit</a:t>
                      </a:r>
                      <a:endParaRPr lang="en-CA" sz="12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Arial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16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40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Off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5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puppet-server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172.16.239.70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CentOS 7 </a:t>
                      </a:r>
                      <a:r>
                        <a:rPr lang="en-US" sz="12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Arial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0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354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ms1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172.16.239.111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MS W2K8  R2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Arial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0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00B388"/>
                    </a:solidFill>
                  </a:tcPr>
                </a:tc>
              </a:tr>
              <a:tr h="3172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ms5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172.16.239.115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RedHat ES 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6.4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40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172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MSDB5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172.16.239.115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Oracle</a:t>
                      </a:r>
                      <a:r>
                        <a:rPr lang="en-US" sz="12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 11.2.4 Database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This is installed on the Base</a:t>
                      </a:r>
                      <a:r>
                        <a:rPr lang="en-CA" sz="1200" baseline="0" dirty="0" smtClean="0">
                          <a:latin typeface="+mn-lt"/>
                        </a:rPr>
                        <a:t> 4 Snapshot, SA Agent</a:t>
                      </a:r>
                      <a:endParaRPr lang="en-CA" sz="12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172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ms6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172.16.239.116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RedHat ES 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6.4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6</a:t>
                      </a: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40 </a:t>
                      </a:r>
                      <a:r>
                        <a:rPr lang="en-US" sz="12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172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MS6DB1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172.16.239.116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Oracle</a:t>
                      </a:r>
                      <a:r>
                        <a:rPr lang="en-US" sz="12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 11.2.4 Database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This is installed on the Base</a:t>
                      </a:r>
                      <a:r>
                        <a:rPr lang="en-CA" sz="1200" baseline="0" dirty="0" smtClean="0">
                          <a:latin typeface="+mn-lt"/>
                        </a:rPr>
                        <a:t> 4 Snapshot, SA Agent</a:t>
                      </a:r>
                      <a:endParaRPr lang="en-CA" sz="1200" dirty="0" smtClean="0">
                        <a:latin typeface="+mn-lt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6" y="170193"/>
            <a:ext cx="10311765" cy="1080000"/>
          </a:xfrm>
        </p:spPr>
        <p:txBody>
          <a:bodyPr/>
          <a:lstStyle/>
          <a:p>
            <a:r>
              <a:rPr lang="en-US" sz="3200" dirty="0"/>
              <a:t>Lab Resources </a:t>
            </a:r>
            <a:r>
              <a:rPr lang="en-US" sz="3200" dirty="0" smtClean="0"/>
              <a:t>(Shared by all users)</a:t>
            </a:r>
            <a:r>
              <a:rPr lang="en-US" sz="3200" dirty="0"/>
              <a:t/>
            </a:r>
            <a:br>
              <a:rPr lang="en-US" sz="3200" dirty="0"/>
            </a:br>
            <a:endParaRPr lang="en-CA" sz="3200" dirty="0"/>
          </a:p>
        </p:txBody>
      </p:sp>
      <p:sp>
        <p:nvSpPr>
          <p:cNvPr id="4" name="TextBox 3"/>
          <p:cNvSpPr txBox="1"/>
          <p:nvPr/>
        </p:nvSpPr>
        <p:spPr bwMode="gray">
          <a:xfrm>
            <a:off x="2176848" y="6132945"/>
            <a:ext cx="7851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1200" dirty="0">
                <a:cs typeface="HP Simplified" pitchFamily="34" charset="0"/>
              </a:rPr>
              <a:t>Domain:  </a:t>
            </a:r>
            <a:r>
              <a:rPr lang="en-US" sz="1200" b="1" dirty="0" smtClean="0">
                <a:cs typeface="HP Simplified" pitchFamily="34" charset="0"/>
              </a:rPr>
              <a:t>dca.demo.local  </a:t>
            </a:r>
            <a:r>
              <a:rPr lang="en-US" sz="1200" dirty="0" smtClean="0">
                <a:cs typeface="HP Simplified" pitchFamily="34" charset="0"/>
              </a:rPr>
              <a:t>     	Gateway</a:t>
            </a:r>
            <a:r>
              <a:rPr lang="en-US" sz="1200" dirty="0">
                <a:cs typeface="HP Simplified" pitchFamily="34" charset="0"/>
              </a:rPr>
              <a:t>:  </a:t>
            </a:r>
            <a:r>
              <a:rPr lang="en-US" sz="1200" b="1" dirty="0" smtClean="0">
                <a:cs typeface="HP Simplified" pitchFamily="34" charset="0"/>
              </a:rPr>
              <a:t>172.16.239.1	</a:t>
            </a:r>
            <a:r>
              <a:rPr lang="en-US" sz="1200" dirty="0" smtClean="0">
                <a:cs typeface="HP Simplified" pitchFamily="34" charset="0"/>
              </a:rPr>
              <a:t>	</a:t>
            </a:r>
            <a:r>
              <a:rPr lang="en-US" sz="1200" dirty="0">
                <a:cs typeface="HP Simplified" pitchFamily="34" charset="0"/>
              </a:rPr>
              <a:t>Proxy: </a:t>
            </a:r>
            <a:r>
              <a:rPr lang="en-US" sz="1200" dirty="0" smtClean="0">
                <a:cs typeface="HP Simplified" pitchFamily="34" charset="0"/>
              </a:rPr>
              <a:t>   </a:t>
            </a:r>
            <a:r>
              <a:rPr lang="en-US" sz="1200" b="1" dirty="0" smtClean="0">
                <a:cs typeface="HP Simplified" pitchFamily="34" charset="0"/>
              </a:rPr>
              <a:t>proxy.eswdc.net:8088 (156.152.46.12)</a:t>
            </a:r>
            <a:endParaRPr lang="en-US" sz="1200" b="1" dirty="0">
              <a:cs typeface="HP Simplified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7428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382519"/>
              </p:ext>
            </p:extLst>
          </p:nvPr>
        </p:nvGraphicFramePr>
        <p:xfrm>
          <a:off x="376236" y="710193"/>
          <a:ext cx="11452862" cy="3297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572"/>
                <a:gridCol w="1377387"/>
                <a:gridCol w="1791242"/>
                <a:gridCol w="1046627"/>
                <a:gridCol w="706190"/>
                <a:gridCol w="1098518"/>
                <a:gridCol w="1490845"/>
                <a:gridCol w="938481"/>
              </a:tblGrid>
              <a:tr h="5817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Hostname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IP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OS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 smtClean="0">
                          <a:latin typeface="+mn-lt"/>
                        </a:rPr>
                        <a:t>Network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CPU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Memory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latin typeface="+mn-lt"/>
                        </a:rPr>
                        <a:t>Disk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 smtClean="0">
                          <a:latin typeface="+mn-lt"/>
                        </a:rPr>
                        <a:t>Power</a:t>
                      </a:r>
                      <a:endParaRPr lang="en-CA" sz="1400" dirty="0">
                        <a:latin typeface="+mn-lt"/>
                      </a:endParaRPr>
                    </a:p>
                  </a:txBody>
                  <a:tcPr anchor="ctr"/>
                </a:tc>
              </a:tr>
              <a:tr h="291313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         </a:t>
                      </a:r>
                      <a:r>
                        <a:rPr lang="en-US" sz="1200" b="1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This is the DCA Suite 2018.08 Premium install</a:t>
                      </a:r>
                      <a:endParaRPr lang="en-US" sz="12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1200" dirty="0" smtClean="0">
                        <a:latin typeface="+mn-lt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dca-mast </a:t>
                      </a:r>
                      <a:r>
                        <a:rPr lang="en-US" sz="12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 – CDF Master/Worker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172.16.239.23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CentOS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65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dca-wkr – CDF Worker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172.16.239.24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CentOS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32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dca-nfs – NFS Server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172.16.239.25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CentOS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24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vcenter-6.0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172.16.239.13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MS W2K12  R2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DCA_Privnet1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50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1313">
                <a:tc gridSpan="8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This is the DCA Suite 2018.05 Demo Appliance  It is used for looking at the demo</a:t>
                      </a:r>
                      <a:r>
                        <a:rPr lang="en-US" sz="1200" b="1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Times New Roman"/>
                        </a:rPr>
                        <a:t> data only!  You cannot do any scans, or remediation with this environment.  Demo Only!</a:t>
                      </a:r>
                      <a:endParaRPr lang="en-US" sz="1200" b="1" dirty="0">
                        <a:solidFill>
                          <a:srgbClr val="FF0000"/>
                        </a:solidFill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 smtClean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demo-mast </a:t>
                      </a:r>
                      <a:r>
                        <a:rPr lang="en-US" sz="1200" baseline="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 – CDF Master/Worker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172.16.239.40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CentOS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32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demo-wkr – CDF Worker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172.16.239.41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CentOS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32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  <a:tr h="291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demo-nfs – NFS Server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172.16.239.42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Arial"/>
                        </a:rPr>
                        <a:t>CentOS 7.3 64 Bit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dirty="0" smtClean="0">
                          <a:latin typeface="+mn-lt"/>
                        </a:rPr>
                        <a:t>DCA_Privnet1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8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24 GB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200 GB (thin)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+mn-lt"/>
                          <a:ea typeface="Calibri"/>
                          <a:cs typeface="Times New Roman"/>
                        </a:rPr>
                        <a:t>On</a:t>
                      </a:r>
                      <a:endParaRPr lang="en-US" sz="1200" dirty="0">
                        <a:effectLst/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86" y="170193"/>
            <a:ext cx="10882312" cy="1080000"/>
          </a:xfrm>
        </p:spPr>
        <p:txBody>
          <a:bodyPr/>
          <a:lstStyle/>
          <a:p>
            <a:r>
              <a:rPr lang="en-US" sz="3200" dirty="0"/>
              <a:t>Lab </a:t>
            </a:r>
            <a:r>
              <a:rPr lang="en-US" sz="3200" dirty="0" smtClean="0"/>
              <a:t>Resources – DCA Demo Appliance  (Shared by all users)</a:t>
            </a:r>
            <a:r>
              <a:rPr lang="en-US" sz="3200" dirty="0"/>
              <a:t/>
            </a:r>
            <a:br>
              <a:rPr lang="en-US" sz="3200" dirty="0"/>
            </a:br>
            <a:endParaRPr lang="en-CA" sz="3200" dirty="0"/>
          </a:p>
        </p:txBody>
      </p:sp>
      <p:sp>
        <p:nvSpPr>
          <p:cNvPr id="4" name="TextBox 3"/>
          <p:cNvSpPr txBox="1"/>
          <p:nvPr/>
        </p:nvSpPr>
        <p:spPr bwMode="gray">
          <a:xfrm>
            <a:off x="2176848" y="6581001"/>
            <a:ext cx="78516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30213">
              <a:spcAft>
                <a:spcPts val="400"/>
              </a:spcAft>
              <a:buSzPct val="100000"/>
            </a:pPr>
            <a:r>
              <a:rPr lang="en-US" sz="1200" dirty="0">
                <a:cs typeface="HP Simplified" pitchFamily="34" charset="0"/>
              </a:rPr>
              <a:t>Domain:  </a:t>
            </a:r>
            <a:r>
              <a:rPr lang="en-US" sz="1200" b="1" dirty="0" smtClean="0">
                <a:cs typeface="HP Simplified" pitchFamily="34" charset="0"/>
              </a:rPr>
              <a:t>dca.demo.local  </a:t>
            </a:r>
            <a:r>
              <a:rPr lang="en-US" sz="1200" dirty="0" smtClean="0">
                <a:cs typeface="HP Simplified" pitchFamily="34" charset="0"/>
              </a:rPr>
              <a:t>     	Gateway</a:t>
            </a:r>
            <a:r>
              <a:rPr lang="en-US" sz="1200" dirty="0">
                <a:cs typeface="HP Simplified" pitchFamily="34" charset="0"/>
              </a:rPr>
              <a:t>:  </a:t>
            </a:r>
            <a:r>
              <a:rPr lang="en-US" sz="1200" b="1" dirty="0" smtClean="0">
                <a:cs typeface="HP Simplified" pitchFamily="34" charset="0"/>
              </a:rPr>
              <a:t>172.16.239.1	</a:t>
            </a:r>
            <a:r>
              <a:rPr lang="en-US" sz="1200" dirty="0" smtClean="0">
                <a:cs typeface="HP Simplified" pitchFamily="34" charset="0"/>
              </a:rPr>
              <a:t>	</a:t>
            </a:r>
            <a:r>
              <a:rPr lang="en-US" sz="1200" dirty="0">
                <a:cs typeface="HP Simplified" pitchFamily="34" charset="0"/>
              </a:rPr>
              <a:t>Proxy: </a:t>
            </a:r>
            <a:r>
              <a:rPr lang="en-US" sz="1200" dirty="0" smtClean="0">
                <a:cs typeface="HP Simplified" pitchFamily="34" charset="0"/>
              </a:rPr>
              <a:t>   </a:t>
            </a:r>
            <a:r>
              <a:rPr lang="en-US" sz="1200" b="1" dirty="0" smtClean="0">
                <a:cs typeface="HP Simplified" pitchFamily="34" charset="0"/>
              </a:rPr>
              <a:t>proxy.eswdc.net:8088 (156.152.46.12)</a:t>
            </a:r>
            <a:endParaRPr lang="en-US" sz="1200" b="1" dirty="0">
              <a:cs typeface="HP Simplified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5971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Passwords inside the Lab Environment</a:t>
            </a:r>
            <a:endParaRPr lang="en-CA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80121"/>
              </p:ext>
            </p:extLst>
          </p:nvPr>
        </p:nvGraphicFramePr>
        <p:xfrm>
          <a:off x="645536" y="1371600"/>
          <a:ext cx="10896599" cy="4500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71293"/>
                <a:gridCol w="3679371"/>
                <a:gridCol w="1404257"/>
                <a:gridCol w="2441678"/>
              </a:tblGrid>
              <a:tr h="42903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Account Type</a:t>
                      </a:r>
                      <a:endParaRPr lang="en-US" sz="18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User</a:t>
                      </a:r>
                      <a:endParaRPr lang="en-US" sz="18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Password</a:t>
                      </a:r>
                      <a:endParaRPr lang="en-US" sz="18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Permissions</a:t>
                      </a:r>
                      <a:endParaRPr lang="en-US" sz="18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53326"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Servers </a:t>
                      </a:r>
                      <a:r>
                        <a:rPr lang="en-US" sz="1400" dirty="0" smtClean="0">
                          <a:effectLst/>
                          <a:latin typeface="+mn-lt"/>
                        </a:rPr>
                        <a:t>ms1,5,6,9,  sa1060, dns, rh-repo,</a:t>
                      </a:r>
                      <a:r>
                        <a:rPr lang="en-US" sz="1400" baseline="0" dirty="0" smtClean="0">
                          <a:effectLst/>
                          <a:latin typeface="+mn-lt"/>
                        </a:rPr>
                        <a:t> wsus,</a:t>
                      </a:r>
                      <a:r>
                        <a:rPr lang="en-US" sz="1400" dirty="0" smtClean="0">
                          <a:effectLst/>
                          <a:latin typeface="+mn-lt"/>
                        </a:rPr>
                        <a:t>dma, puppet-server, demoXpuppetX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root/administrator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Automation123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Server Admin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94040"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SA 10.60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– SA User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admin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administrator1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demo1user/demo2user/demo3user/demo4user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</a:rPr>
                        <a:t>Automation123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</a:rPr>
                        <a:t>SA Admin account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</a:rPr>
                        <a:t>Super Admin/Superuser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</a:rPr>
                        <a:t>Superusers (All permissions)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29034"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DMA 10.60 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user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00B3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connector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administrator1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demo1user/demo2user/demo3user/demo4user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dmaadmin/dmaworkflow/dmarunner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Automation123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DMA-SA Connector Account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Superuser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and DMA Admin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DMA Users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29034"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dns – dns administrator</a:t>
                      </a:r>
                      <a:endParaRPr lang="en-US" sz="14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administrator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Automation123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Administrator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Modify services</a:t>
                      </a:r>
                    </a:p>
                  </a:txBody>
                  <a:tcPr marL="68580" marR="68580" marT="0" marB="0" anchor="ctr"/>
                </a:tc>
              </a:tr>
              <a:tr h="429034"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 2018.08 CDF</a:t>
                      </a:r>
                      <a:endParaRPr lang="en-US" sz="14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48B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UI – dcaadmin/demo1user/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demo2user/demo3user/demo4user</a:t>
                      </a:r>
                      <a:endParaRPr lang="en-US" sz="1400" baseline="0" dirty="0" smtClean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 OO Central – oo_admin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 IDM – admin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 UCMDB – admin (use IE)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Automation.123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Access to DCA CDF </a:t>
                      </a:r>
                    </a:p>
                  </a:txBody>
                  <a:tcPr marL="68580" marR="68580" marT="0" marB="0" anchor="ctr"/>
                </a:tc>
              </a:tr>
              <a:tr h="429034"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 2018.05 CDF – Demo Appliance</a:t>
                      </a:r>
                      <a:r>
                        <a:rPr lang="en-US" sz="1400" b="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(demo data)</a:t>
                      </a:r>
                      <a:endParaRPr lang="en-US" sz="1400" b="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</a:t>
                      </a: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 UI – dcaadmin</a:t>
                      </a:r>
                    </a:p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aseline="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DCA IDM – admin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123.Automation</a:t>
                      </a:r>
                      <a:endParaRPr lang="en-US" sz="1400" dirty="0">
                        <a:effectLst/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Access to DCA Demo Content </a:t>
                      </a: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485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Your SA 10.60 will look like this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69572" y="6292573"/>
            <a:ext cx="10770781" cy="914400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dirty="0" smtClean="0"/>
              <a:t>This is the base snapshot.  We will not revert SA, unless it is having “</a:t>
            </a:r>
            <a:r>
              <a:rPr lang="en-US" i="1" dirty="0" smtClean="0"/>
              <a:t>technical difficulties</a:t>
            </a:r>
            <a:r>
              <a:rPr lang="en-US" dirty="0" smtClean="0"/>
              <a:t>”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72" y="981973"/>
            <a:ext cx="9020855" cy="53106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8268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DO</a:t>
            </a:r>
          </a:p>
          <a:p>
            <a:r>
              <a:rPr lang="en-US" dirty="0" smtClean="0"/>
              <a:t>Create as many target vms as you need, but</a:t>
            </a:r>
          </a:p>
          <a:p>
            <a:r>
              <a:rPr lang="en-US" dirty="0" smtClean="0"/>
              <a:t>Clean-up your unused vms.</a:t>
            </a:r>
          </a:p>
          <a:p>
            <a:r>
              <a:rPr lang="en-US" dirty="0" smtClean="0"/>
              <a:t>Add content to SA, DMA, but label or locate in proper folders.  Lab environment will be reverted from time-to-time.</a:t>
            </a:r>
          </a:p>
          <a:p>
            <a:r>
              <a:rPr lang="en-US" dirty="0" smtClean="0"/>
              <a:t>If you have good content, let the DCA Enablement team know so we can back it up.</a:t>
            </a:r>
          </a:p>
          <a:p>
            <a:r>
              <a:rPr lang="en-US" dirty="0"/>
              <a:t>Prefix your DCA groups and policy names with your initials.  Makes it easy to identify your content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Always LOGOUT from the dca-clientapps server!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DO NOT!</a:t>
            </a:r>
          </a:p>
          <a:p>
            <a:r>
              <a:rPr lang="en-US" dirty="0"/>
              <a:t>Do not stop any of the services.  Others may be using them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Do not delete a server from SA without first removing it from your DCA Groups.  You will end up with a corrupt folder.  Need to use UCMDB to delete</a:t>
            </a:r>
            <a:r>
              <a:rPr lang="en-US" dirty="0" smtClean="0"/>
              <a:t>.</a:t>
            </a:r>
          </a:p>
          <a:p>
            <a:r>
              <a:rPr lang="en-US" dirty="0" smtClean="0"/>
              <a:t>Do Not touch/delete or use any other demoXuser’s vms!  Use ONLY your OWN!</a:t>
            </a:r>
            <a:endParaRPr lang="en-US" dirty="0" smtClean="0"/>
          </a:p>
          <a:p>
            <a:r>
              <a:rPr lang="en-US" dirty="0" smtClean="0"/>
              <a:t>Do not leave your demo reservation with the dca-clientapps server and your dcademouser account still logged in.  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Danger </a:t>
            </a:r>
            <a:r>
              <a:rPr lang="en-US" dirty="0" smtClean="0"/>
              <a:t>Danger</a:t>
            </a:r>
            <a:r>
              <a:rPr lang="en-US" dirty="0" smtClean="0"/>
              <a:t> Will Robinson!</a:t>
            </a:r>
            <a:br>
              <a:rPr lang="en-US" dirty="0" smtClean="0"/>
            </a:br>
            <a:r>
              <a:rPr lang="en-US" sz="2800" dirty="0" smtClean="0"/>
              <a:t>What you can and cannot do in the lab!</a:t>
            </a:r>
            <a:endParaRPr lang="en-US" sz="2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74556" y="0"/>
            <a:ext cx="1917443" cy="200955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551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to </a:t>
            </a:r>
            <a:r>
              <a:rPr lang="en-US" dirty="0" smtClean="0"/>
              <a:t>dca-clientapps Accessvm </a:t>
            </a:r>
            <a:r>
              <a:rPr lang="en-US" dirty="0"/>
              <a:t>RDP Session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0" y="6410325"/>
            <a:ext cx="366713" cy="274638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31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>
          <a:xfrm>
            <a:off x="946786" y="429273"/>
            <a:ext cx="10856594" cy="1080000"/>
          </a:xfrm>
        </p:spPr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Login to the Student’s Lab Accessvm RDP Session (1)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00979" y="1081593"/>
            <a:ext cx="8877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From the Internet or VPN, You </a:t>
            </a:r>
            <a:r>
              <a:rPr lang="en-US" sz="2000" dirty="0">
                <a:latin typeface="+mj-lt"/>
              </a:rPr>
              <a:t>can use the supplied RDP configuration file to access YOUR lab environment.  </a:t>
            </a:r>
            <a:r>
              <a:rPr lang="en-US" sz="2000" dirty="0"/>
              <a:t>Login using your </a:t>
            </a:r>
            <a:r>
              <a:rPr lang="en-US" sz="2000" b="1" dirty="0" smtClean="0"/>
              <a:t>eswdc</a:t>
            </a:r>
            <a:r>
              <a:rPr lang="en-US" sz="2000" dirty="0" smtClean="0"/>
              <a:t> </a:t>
            </a:r>
            <a:r>
              <a:rPr lang="en-US" sz="2000" dirty="0"/>
              <a:t>credentials </a:t>
            </a:r>
            <a:r>
              <a:rPr lang="en-US" sz="2000" dirty="0" smtClean="0"/>
              <a:t>for Gateway.</a:t>
            </a:r>
            <a:endParaRPr lang="en-US" sz="2000" dirty="0"/>
          </a:p>
        </p:txBody>
      </p:sp>
      <p:sp>
        <p:nvSpPr>
          <p:cNvPr id="11" name="Right Arrow 10"/>
          <p:cNvSpPr/>
          <p:nvPr/>
        </p:nvSpPr>
        <p:spPr>
          <a:xfrm>
            <a:off x="6826122" y="3776320"/>
            <a:ext cx="373912" cy="307498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20377" y="3730071"/>
            <a:ext cx="373912" cy="307498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53" y="3205075"/>
            <a:ext cx="962025" cy="1085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811" y="2777571"/>
            <a:ext cx="4124325" cy="1905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975" y="1961807"/>
            <a:ext cx="4181475" cy="36290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18612" y="4290925"/>
            <a:ext cx="2268070" cy="7382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587811" y="4908793"/>
            <a:ext cx="4047064" cy="14619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2000" dirty="0" smtClean="0"/>
              <a:t>Use your </a:t>
            </a:r>
            <a:r>
              <a:rPr lang="en-US" sz="2000" b="1" dirty="0" smtClean="0"/>
              <a:t>eswdc </a:t>
            </a:r>
            <a:r>
              <a:rPr lang="en-US" sz="2000" dirty="0" smtClean="0"/>
              <a:t>account and password for Gateway Server access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000" dirty="0" smtClean="0"/>
              <a:t>Once that security passed you will be prompted for the </a:t>
            </a:r>
            <a:r>
              <a:rPr lang="en-US" sz="2000" b="1" dirty="0" smtClean="0"/>
              <a:t>dcademouserX</a:t>
            </a:r>
            <a:r>
              <a:rPr lang="en-US" sz="2000" dirty="0" smtClean="0"/>
              <a:t> login</a:t>
            </a:r>
            <a:endParaRPr 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7468975" y="5755179"/>
            <a:ext cx="404706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2000" dirty="0" smtClean="0"/>
              <a:t>The </a:t>
            </a:r>
            <a:r>
              <a:rPr lang="en-US" sz="2000" b="1" dirty="0" smtClean="0"/>
              <a:t>dcademouserX</a:t>
            </a:r>
            <a:r>
              <a:rPr lang="en-US" sz="2000" dirty="0" smtClean="0"/>
              <a:t> account password will change.  Check your reservation.</a:t>
            </a:r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5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>
          <a:xfrm>
            <a:off x="946786" y="429273"/>
            <a:ext cx="10757534" cy="1080000"/>
          </a:xfrm>
        </p:spPr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Login to the Student’s Lab Accessvm RDP Session (2)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82446" y="1585149"/>
            <a:ext cx="928085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If Prompted:  In </a:t>
            </a:r>
            <a:r>
              <a:rPr lang="en-US" sz="2000" dirty="0">
                <a:latin typeface="+mj-lt"/>
              </a:rPr>
              <a:t>the next window, click on </a:t>
            </a:r>
            <a:r>
              <a:rPr lang="en-US" sz="2000" b="1" i="1" dirty="0">
                <a:latin typeface="+mj-lt"/>
              </a:rPr>
              <a:t>Connect</a:t>
            </a:r>
          </a:p>
          <a:p>
            <a:r>
              <a:rPr lang="en-US" dirty="0">
                <a:latin typeface="+mj-lt"/>
              </a:rPr>
              <a:t>Note:  You can change the default to “</a:t>
            </a:r>
            <a:r>
              <a:rPr lang="en-US" b="1" dirty="0">
                <a:latin typeface="+mj-lt"/>
              </a:rPr>
              <a:t>Don’t ask me again for connections to this computer</a:t>
            </a:r>
            <a:r>
              <a:rPr lang="en-US" dirty="0">
                <a:latin typeface="+mj-lt"/>
              </a:rPr>
              <a:t>”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633" y="2847033"/>
            <a:ext cx="5978271" cy="33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5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>
          <a:xfrm>
            <a:off x="946786" y="429273"/>
            <a:ext cx="10818494" cy="1080000"/>
          </a:xfrm>
        </p:spPr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Login to the Student’s Lab Accessvm RDP Session </a:t>
            </a:r>
            <a:r>
              <a:rPr lang="en-US" sz="3300" dirty="0" smtClean="0"/>
              <a:t>(3)</a:t>
            </a:r>
            <a:endParaRPr lang="en-US" sz="3300" dirty="0"/>
          </a:p>
        </p:txBody>
      </p:sp>
      <p:sp>
        <p:nvSpPr>
          <p:cNvPr id="2" name="TextBox 1"/>
          <p:cNvSpPr txBox="1"/>
          <p:nvPr/>
        </p:nvSpPr>
        <p:spPr>
          <a:xfrm>
            <a:off x="1154638" y="1241739"/>
            <a:ext cx="989436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Click </a:t>
            </a:r>
            <a:r>
              <a:rPr lang="en-US" b="1" dirty="0">
                <a:latin typeface="+mj-lt"/>
              </a:rPr>
              <a:t>Yes</a:t>
            </a:r>
            <a:r>
              <a:rPr lang="en-US" dirty="0">
                <a:latin typeface="+mj-lt"/>
              </a:rPr>
              <a:t> for the security notice.  </a:t>
            </a:r>
            <a:r>
              <a:rPr lang="en-US" dirty="0"/>
              <a:t>The RDP session will now load your user settings into the accessvm.</a:t>
            </a:r>
          </a:p>
          <a:p>
            <a:r>
              <a:rPr lang="en-US" dirty="0">
                <a:latin typeface="+mj-lt"/>
              </a:rPr>
              <a:t>Note:  The login can take a few minutes</a:t>
            </a:r>
            <a:r>
              <a:rPr lang="en-US" sz="2000" dirty="0">
                <a:latin typeface="+mj-lt"/>
              </a:rPr>
              <a:t>!  </a:t>
            </a:r>
            <a:r>
              <a:rPr lang="en-US" dirty="0">
                <a:latin typeface="+mj-lt"/>
              </a:rPr>
              <a:t>Be patient. Let it complete.  Your session is not hung.  This </a:t>
            </a:r>
            <a:r>
              <a:rPr lang="en-US" dirty="0" smtClean="0">
                <a:latin typeface="+mj-lt"/>
              </a:rPr>
              <a:t>may </a:t>
            </a:r>
            <a:r>
              <a:rPr lang="en-US" dirty="0">
                <a:latin typeface="+mj-lt"/>
              </a:rPr>
              <a:t>happen every time you login</a:t>
            </a:r>
            <a:r>
              <a:rPr lang="en-US" dirty="0" smtClean="0">
                <a:latin typeface="+mj-lt"/>
              </a:rPr>
              <a:t>.</a:t>
            </a:r>
          </a:p>
          <a:p>
            <a:endParaRPr lang="en-US" dirty="0" smtClean="0">
              <a:latin typeface="+mj-lt"/>
            </a:endParaRPr>
          </a:p>
          <a:p>
            <a:r>
              <a:rPr lang="en-US" b="1" dirty="0" smtClean="0">
                <a:latin typeface="+mj-lt"/>
              </a:rPr>
              <a:t>Note:  </a:t>
            </a:r>
            <a:r>
              <a:rPr lang="en-US" dirty="0" smtClean="0">
                <a:latin typeface="+mj-lt"/>
              </a:rPr>
              <a:t>Sometimes the login will fail the first or second time.  Please try at least three times.  BUT make sure you type in the correct password!  If you cut-n-paste do so from NotePad!</a:t>
            </a:r>
          </a:p>
          <a:p>
            <a:r>
              <a:rPr lang="en-US" dirty="0" smtClean="0">
                <a:latin typeface="+mj-lt"/>
              </a:rPr>
              <a:t>If you try several times with a wrong password you could be locked-out for several hours!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2165" y="3327740"/>
            <a:ext cx="3466833" cy="3219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92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 smtClean="0"/>
              <a:t>These URL Favorites – Ready in Chrome and IE (4)</a:t>
            </a:r>
            <a:endParaRPr lang="en-US" sz="3300" dirty="0"/>
          </a:p>
        </p:txBody>
      </p:sp>
      <p:sp>
        <p:nvSpPr>
          <p:cNvPr id="2" name="TextBox 1"/>
          <p:cNvSpPr txBox="1"/>
          <p:nvPr/>
        </p:nvSpPr>
        <p:spPr>
          <a:xfrm>
            <a:off x="609441" y="1048326"/>
            <a:ext cx="105579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We have given you all the URL’s required for most demos.  </a:t>
            </a:r>
          </a:p>
          <a:p>
            <a:r>
              <a:rPr lang="en-US" sz="2000" i="1" dirty="0" smtClean="0">
                <a:latin typeface="+mj-lt"/>
              </a:rPr>
              <a:t>Please Use Chrome for DCA and DMA</a:t>
            </a:r>
          </a:p>
          <a:p>
            <a:r>
              <a:rPr lang="en-US" sz="2000" i="1" dirty="0" smtClean="0">
                <a:latin typeface="+mj-lt"/>
              </a:rPr>
              <a:t>Please Use IE for UCMDB</a:t>
            </a:r>
            <a:endParaRPr lang="en-US" sz="2000" i="1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316" y="1876147"/>
            <a:ext cx="8683256" cy="42245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700" y="3988428"/>
            <a:ext cx="4676775" cy="173355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16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246" y="2968580"/>
            <a:ext cx="4714875" cy="2524125"/>
          </a:xfrm>
          <a:prstGeom prst="rect">
            <a:avLst/>
          </a:prstGeom>
        </p:spPr>
      </p:pic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>
          <a:xfrm>
            <a:off x="946786" y="429273"/>
            <a:ext cx="10930335" cy="1080000"/>
          </a:xfrm>
        </p:spPr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 smtClean="0"/>
              <a:t>* IMPORTANT* - When you  are finished for the day (5)</a:t>
            </a:r>
            <a:endParaRPr lang="en-US" sz="3300" dirty="0"/>
          </a:p>
        </p:txBody>
      </p:sp>
      <p:sp>
        <p:nvSpPr>
          <p:cNvPr id="2" name="TextBox 1"/>
          <p:cNvSpPr txBox="1"/>
          <p:nvPr/>
        </p:nvSpPr>
        <p:spPr>
          <a:xfrm>
            <a:off x="531732" y="1138499"/>
            <a:ext cx="111253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When you are finished for the day, or still wish to come back to the clientapps01 server during your demo reservation</a:t>
            </a:r>
            <a:r>
              <a:rPr lang="en-US" sz="2000" dirty="0" smtClean="0">
                <a:latin typeface="+mj-lt"/>
              </a:rPr>
              <a:t>– </a:t>
            </a:r>
            <a:r>
              <a:rPr lang="en-US" sz="2000" b="1" dirty="0" smtClean="0">
                <a:latin typeface="+mj-lt"/>
              </a:rPr>
              <a:t>Please Sign Out</a:t>
            </a:r>
            <a:r>
              <a:rPr lang="en-US" sz="2000" dirty="0" smtClean="0">
                <a:latin typeface="+mj-lt"/>
              </a:rPr>
              <a:t>!  This will clean-up your running windows will be closed.  </a:t>
            </a:r>
            <a:endParaRPr lang="en-US" sz="2000" b="1" i="1" dirty="0" smtClean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Even if you plan to come back within a few hours, best to sign out and come back to a clean desktop!</a:t>
            </a:r>
          </a:p>
          <a:p>
            <a:r>
              <a:rPr lang="en-US" sz="2000" dirty="0" smtClean="0">
                <a:latin typeface="+mj-lt"/>
              </a:rPr>
              <a:t>This will make it a cleaner environment for the next person.</a:t>
            </a:r>
          </a:p>
          <a:p>
            <a:endParaRPr lang="en-US" sz="2000" dirty="0" smtClean="0">
              <a:latin typeface="+mj-lt"/>
            </a:endParaRPr>
          </a:p>
          <a:p>
            <a:endParaRPr lang="en-US" sz="2000" dirty="0" smtClean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91224" y="5571744"/>
            <a:ext cx="2667000" cy="6096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b="1" i="1" dirty="0" smtClean="0"/>
              <a:t>DO THIS!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9070366" y="3414934"/>
            <a:ext cx="1905000" cy="2289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9900" b="1" dirty="0" smtClean="0">
                <a:solidFill>
                  <a:srgbClr val="00B388"/>
                </a:solidFill>
                <a:sym typeface="Wingdings" panose="05000000000000000000" pitchFamily="2" charset="2"/>
              </a:rPr>
              <a:t></a:t>
            </a:r>
            <a:endParaRPr lang="en-US" sz="19900" b="1" dirty="0">
              <a:solidFill>
                <a:srgbClr val="00B38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4619" y="6121318"/>
            <a:ext cx="7318247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b="1" i="1" dirty="0" smtClean="0"/>
              <a:t>DO NOT SHUTDOWN/REVERT the clientapps01 server – others are using it!</a:t>
            </a:r>
            <a:endParaRPr lang="en-US" b="1" i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439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246" y="2968580"/>
            <a:ext cx="4714875" cy="2524125"/>
          </a:xfrm>
          <a:prstGeom prst="rect">
            <a:avLst/>
          </a:prstGeom>
        </p:spPr>
      </p:pic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 smtClean="0"/>
              <a:t>* IMPORTANT* - When you finish your Demo (6)</a:t>
            </a:r>
            <a:endParaRPr lang="en-US" sz="3300" dirty="0"/>
          </a:p>
        </p:txBody>
      </p:sp>
      <p:sp>
        <p:nvSpPr>
          <p:cNvPr id="2" name="TextBox 1"/>
          <p:cNvSpPr txBox="1"/>
          <p:nvPr/>
        </p:nvSpPr>
        <p:spPr>
          <a:xfrm>
            <a:off x="531732" y="1138499"/>
            <a:ext cx="111253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When you wish to close the clientapps01 at the end of your demo/demo reservation – </a:t>
            </a:r>
            <a:r>
              <a:rPr lang="en-US" sz="2000" b="1" dirty="0" smtClean="0">
                <a:latin typeface="+mj-lt"/>
              </a:rPr>
              <a:t>Please Sign Out</a:t>
            </a:r>
            <a:r>
              <a:rPr lang="en-US" sz="2000" dirty="0" smtClean="0">
                <a:latin typeface="+mj-lt"/>
              </a:rPr>
              <a:t>!  This will clean-up your running windows will be closed.  </a:t>
            </a:r>
          </a:p>
          <a:p>
            <a:endParaRPr lang="en-US" sz="2000" b="1" i="1" dirty="0">
              <a:latin typeface="+mj-lt"/>
            </a:endParaRPr>
          </a:p>
          <a:p>
            <a:r>
              <a:rPr lang="en-US" sz="2000" b="1" i="1" dirty="0" smtClean="0">
                <a:latin typeface="+mj-lt"/>
              </a:rPr>
              <a:t>BEFORE YOU GO!</a:t>
            </a:r>
          </a:p>
          <a:p>
            <a:r>
              <a:rPr lang="en-US" sz="2000" dirty="0" smtClean="0">
                <a:latin typeface="+mj-lt"/>
              </a:rPr>
              <a:t>Please clean-up all your SA Managed servers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Remove servers from DCA Resource Groups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Deactivating the SA Agent,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Power off and then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Delete the VMS!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This will make it a cleaner environment for the next person.</a:t>
            </a:r>
          </a:p>
          <a:p>
            <a:endParaRPr lang="en-US" sz="2000" dirty="0" smtClean="0">
              <a:latin typeface="+mj-lt"/>
            </a:endParaRPr>
          </a:p>
          <a:p>
            <a:endParaRPr lang="en-US" sz="2000" dirty="0" smtClean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91224" y="5571744"/>
            <a:ext cx="2667000" cy="6096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b="1" i="1" dirty="0" smtClean="0"/>
              <a:t>DO THIS!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9070366" y="3414934"/>
            <a:ext cx="1905000" cy="228921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19900" b="1" dirty="0" smtClean="0">
                <a:solidFill>
                  <a:srgbClr val="00B388"/>
                </a:solidFill>
                <a:sym typeface="Wingdings" panose="05000000000000000000" pitchFamily="2" charset="2"/>
              </a:rPr>
              <a:t></a:t>
            </a:r>
            <a:endParaRPr lang="en-US" sz="19900" b="1" dirty="0">
              <a:solidFill>
                <a:srgbClr val="00B38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04619" y="6121318"/>
            <a:ext cx="7318247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b="1" i="1" dirty="0" smtClean="0"/>
              <a:t>DO NOT SHUTDOWN/REVERT the clientapps01 server – others are using it!</a:t>
            </a:r>
            <a:endParaRPr lang="en-US" b="1" i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827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on your Desktop?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362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129" y="256916"/>
            <a:ext cx="10311765" cy="1080000"/>
          </a:xfrm>
        </p:spPr>
        <p:txBody>
          <a:bodyPr/>
          <a:lstStyle/>
          <a:p>
            <a:r>
              <a:rPr lang="en-US" dirty="0" smtClean="0"/>
              <a:t>What is on the Desktop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866600" y="6492875"/>
            <a:ext cx="4114800" cy="365125"/>
          </a:xfrm>
        </p:spPr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29" y="836854"/>
            <a:ext cx="10019742" cy="5983935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 rot="20883732">
            <a:off x="1246339" y="1376023"/>
            <a:ext cx="1013770" cy="269363"/>
          </a:xfrm>
          <a:prstGeom prst="rightArrow">
            <a:avLst/>
          </a:prstGeom>
          <a:solidFill>
            <a:srgbClr val="E5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>
            <a:off x="1124371" y="1942978"/>
            <a:ext cx="4109622" cy="269363"/>
          </a:xfrm>
          <a:prstGeom prst="rightArrow">
            <a:avLst/>
          </a:prstGeom>
          <a:solidFill>
            <a:srgbClr val="E5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20309053">
            <a:off x="1107543" y="2804779"/>
            <a:ext cx="1900674" cy="269363"/>
          </a:xfrm>
          <a:prstGeom prst="rightArrow">
            <a:avLst/>
          </a:prstGeom>
          <a:solidFill>
            <a:srgbClr val="E5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397029" y="1246868"/>
            <a:ext cx="4267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608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29" y="787067"/>
            <a:ext cx="9720942" cy="607093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129" y="256916"/>
            <a:ext cx="10311765" cy="1080000"/>
          </a:xfrm>
        </p:spPr>
        <p:txBody>
          <a:bodyPr/>
          <a:lstStyle/>
          <a:p>
            <a:r>
              <a:rPr lang="en-US" dirty="0" smtClean="0"/>
              <a:t>What is on the Desktop (2)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537586" y="6332250"/>
            <a:ext cx="4114800" cy="365125"/>
          </a:xfrm>
        </p:spPr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11" name="Right Arrow 10"/>
          <p:cNvSpPr/>
          <p:nvPr/>
        </p:nvSpPr>
        <p:spPr>
          <a:xfrm rot="18490290">
            <a:off x="618937" y="2958066"/>
            <a:ext cx="3047398" cy="269363"/>
          </a:xfrm>
          <a:prstGeom prst="rightArrow">
            <a:avLst/>
          </a:prstGeom>
          <a:solidFill>
            <a:srgbClr val="E5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ight Arrow 13"/>
          <p:cNvSpPr/>
          <p:nvPr/>
        </p:nvSpPr>
        <p:spPr>
          <a:xfrm rot="18490290">
            <a:off x="699289" y="3585267"/>
            <a:ext cx="2861812" cy="269363"/>
          </a:xfrm>
          <a:prstGeom prst="rightArrow">
            <a:avLst/>
          </a:prstGeom>
          <a:solidFill>
            <a:srgbClr val="E5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36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to </a:t>
            </a:r>
            <a:r>
              <a:rPr lang="en-US" dirty="0" smtClean="0"/>
              <a:t>Shared vCenter vSphere Client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0" y="6410325"/>
            <a:ext cx="366713" cy="274638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38825" y="63341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dirty="0" smtClean="0">
                <a:ln>
                  <a:solidFill>
                    <a:schemeClr val="bg1"/>
                  </a:solidFill>
                </a:ln>
                <a:hlinkClick r:id="rId2" action="ppaction://hlinksldjump"/>
              </a:rPr>
              <a:t>TOC</a:t>
            </a:r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43800" y="5366657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75751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4000" b="1" dirty="0" smtClean="0"/>
              <a:t>Careful working in the vSphere Client!</a:t>
            </a:r>
            <a:endParaRPr lang="en-US" sz="4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65759" y="1509273"/>
            <a:ext cx="91048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You have been given permission to access the Shared Demo vCenter vSphere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Remember what you do in the vCenter could have repercussions on others using the Shared Demo Lab.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Please DO NOT delete, modify, or stop any of the “Shared”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Only make changes to YOUR vms!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Please DO NOT ABUSE YOUR PRIVILEDGE!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If people will not play fair in the vCenter we will remove this feature!</a:t>
            </a:r>
            <a:endParaRPr lang="en-US" sz="20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133" y="2894073"/>
            <a:ext cx="36576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34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Login to the </a:t>
            </a:r>
            <a:r>
              <a:rPr lang="en-US" sz="3300" dirty="0" smtClean="0"/>
              <a:t>Shared vCenter </a:t>
            </a:r>
            <a:r>
              <a:rPr lang="en-US" sz="3300" dirty="0"/>
              <a:t>vSphere Client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4903" y="1079433"/>
            <a:ext cx="830595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From the Accessvm Session open the </a:t>
            </a:r>
            <a:r>
              <a:rPr lang="en-US" sz="2000" b="1" dirty="0">
                <a:latin typeface="+mj-lt"/>
              </a:rPr>
              <a:t>VMware vSphere Client </a:t>
            </a:r>
            <a:r>
              <a:rPr lang="en-US" sz="2000" dirty="0">
                <a:latin typeface="+mj-lt"/>
              </a:rPr>
              <a:t>to:</a:t>
            </a:r>
          </a:p>
          <a:p>
            <a:pPr lvl="3"/>
            <a:endParaRPr lang="en-US" sz="2400" b="1" i="1" dirty="0" smtClean="0">
              <a:latin typeface="+mj-lt"/>
            </a:endParaRPr>
          </a:p>
          <a:p>
            <a:pPr lvl="3"/>
            <a:r>
              <a:rPr lang="en-US" sz="2400" b="1" i="1" dirty="0" smtClean="0">
                <a:latin typeface="+mj-lt"/>
              </a:rPr>
              <a:t>172.16.239.13</a:t>
            </a:r>
          </a:p>
          <a:p>
            <a:endParaRPr lang="en-US" sz="2400" b="1" i="1" dirty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Note:  This link can be found on your desktop! </a:t>
            </a:r>
            <a:endParaRPr lang="en-US" sz="20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3473526"/>
            <a:ext cx="42135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+mj-lt"/>
              </a:rPr>
              <a:t>Login: </a:t>
            </a:r>
            <a:r>
              <a:rPr lang="en-US" sz="2000" b="1" dirty="0" smtClean="0">
                <a:latin typeface="+mj-lt"/>
              </a:rPr>
              <a:t>administrator@vsphere.local</a:t>
            </a:r>
            <a:endParaRPr lang="en-US" sz="2000" b="1" dirty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Password:  </a:t>
            </a:r>
            <a:r>
              <a:rPr lang="en-US" sz="2000" b="1" dirty="0" smtClean="0">
                <a:latin typeface="+mj-lt"/>
              </a:rPr>
              <a:t>Admin@123</a:t>
            </a:r>
            <a:endParaRPr lang="en-US" sz="2000" b="1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622" y="1648819"/>
            <a:ext cx="4048125" cy="449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3228912"/>
            <a:ext cx="704850" cy="95250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6607629" y="3551413"/>
            <a:ext cx="1124909" cy="307498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7166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03" y="1857568"/>
            <a:ext cx="6109125" cy="3636210"/>
          </a:xfrm>
          <a:prstGeom prst="rect">
            <a:avLst/>
          </a:prstGeom>
        </p:spPr>
      </p:pic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Access VMs in </a:t>
            </a:r>
            <a:r>
              <a:rPr lang="en-US" sz="3300" dirty="0" smtClean="0"/>
              <a:t>vCenter </a:t>
            </a:r>
            <a:r>
              <a:rPr lang="en-US" sz="3300" dirty="0"/>
              <a:t>vSphere Client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82446" y="1109288"/>
            <a:ext cx="8197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Click on </a:t>
            </a:r>
            <a:r>
              <a:rPr lang="en-US" sz="2000" b="1" i="1" dirty="0">
                <a:latin typeface="+mj-lt"/>
              </a:rPr>
              <a:t>Hosts and Clusters  </a:t>
            </a:r>
            <a:r>
              <a:rPr lang="en-US" sz="2000" dirty="0">
                <a:latin typeface="+mj-lt"/>
              </a:rPr>
              <a:t>to access </a:t>
            </a:r>
            <a:r>
              <a:rPr lang="en-US" sz="2000" dirty="0" smtClean="0">
                <a:latin typeface="+mj-lt"/>
              </a:rPr>
              <a:t>shared VMS </a:t>
            </a:r>
            <a:r>
              <a:rPr lang="en-US" sz="2000" dirty="0">
                <a:latin typeface="+mj-lt"/>
              </a:rPr>
              <a:t>and manage their state.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00943" y="2448806"/>
            <a:ext cx="5116286" cy="370114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116" y="1857568"/>
            <a:ext cx="42386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67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02" y="2550935"/>
            <a:ext cx="5929776" cy="4133329"/>
          </a:xfrm>
          <a:prstGeom prst="rect">
            <a:avLst/>
          </a:prstGeom>
        </p:spPr>
      </p:pic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View a VM’s Console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62000" y="1081296"/>
            <a:ext cx="97387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Single Click a VM.  Single Click the </a:t>
            </a:r>
            <a:r>
              <a:rPr lang="en-US" sz="2000" b="1" dirty="0">
                <a:latin typeface="+mj-lt"/>
              </a:rPr>
              <a:t>Console Icon</a:t>
            </a:r>
            <a:r>
              <a:rPr lang="en-US" sz="2000" dirty="0">
                <a:latin typeface="+mj-lt"/>
              </a:rPr>
              <a:t>.  Expand console to </a:t>
            </a:r>
            <a:r>
              <a:rPr lang="en-US" sz="2000" b="1" dirty="0" smtClean="0">
                <a:latin typeface="+mj-lt"/>
              </a:rPr>
              <a:t>Fit </a:t>
            </a:r>
            <a:r>
              <a:rPr lang="en-US" sz="2000" b="1" dirty="0">
                <a:latin typeface="+mj-lt"/>
              </a:rPr>
              <a:t>Window to Guest</a:t>
            </a:r>
            <a:r>
              <a:rPr lang="en-US" sz="2000" dirty="0">
                <a:latin typeface="+mj-lt"/>
              </a:rPr>
              <a:t>.  Single click in Console to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To login to Windows server send a </a:t>
            </a:r>
            <a:r>
              <a:rPr lang="en-US" sz="2000" b="1" dirty="0">
                <a:latin typeface="+mj-lt"/>
              </a:rPr>
              <a:t>Ctrl-Alt-Del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To temporarily exit and Console and return back to the accessvm hit </a:t>
            </a:r>
            <a:r>
              <a:rPr lang="en-US" sz="2000" b="1" dirty="0">
                <a:latin typeface="+mj-lt"/>
              </a:rPr>
              <a:t>Ctrl-Alt</a:t>
            </a:r>
          </a:p>
        </p:txBody>
      </p:sp>
      <p:sp>
        <p:nvSpPr>
          <p:cNvPr id="9" name="Right Arrow 8"/>
          <p:cNvSpPr/>
          <p:nvPr/>
        </p:nvSpPr>
        <p:spPr>
          <a:xfrm rot="2099256">
            <a:off x="4249607" y="3258655"/>
            <a:ext cx="749364" cy="303851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0" name="Right Arrow 9"/>
          <p:cNvSpPr/>
          <p:nvPr/>
        </p:nvSpPr>
        <p:spPr>
          <a:xfrm rot="17367644">
            <a:off x="3825409" y="3205510"/>
            <a:ext cx="471419" cy="263942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726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032" y="1726240"/>
            <a:ext cx="5560940" cy="4970774"/>
          </a:xfrm>
          <a:prstGeom prst="rect">
            <a:avLst/>
          </a:prstGeom>
        </p:spPr>
      </p:pic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Change VM’s Boot Delay </a:t>
            </a:r>
            <a:r>
              <a:rPr lang="en-US" sz="3300" dirty="0" smtClean="0"/>
              <a:t>Options  (optional)</a:t>
            </a:r>
            <a:endParaRPr lang="en-US" sz="3300" dirty="0"/>
          </a:p>
        </p:txBody>
      </p:sp>
      <p:sp>
        <p:nvSpPr>
          <p:cNvPr id="2" name="TextBox 1"/>
          <p:cNvSpPr txBox="1"/>
          <p:nvPr/>
        </p:nvSpPr>
        <p:spPr>
          <a:xfrm>
            <a:off x="685800" y="975204"/>
            <a:ext cx="9814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To adjust the boot delay for a vm open the </a:t>
            </a:r>
            <a:r>
              <a:rPr lang="en-US" sz="2000" b="1" dirty="0">
                <a:latin typeface="+mj-lt"/>
              </a:rPr>
              <a:t>Summary</a:t>
            </a:r>
            <a:r>
              <a:rPr lang="en-US" sz="2000" dirty="0">
                <a:latin typeface="+mj-lt"/>
              </a:rPr>
              <a:t>, </a:t>
            </a:r>
            <a:r>
              <a:rPr lang="en-US" sz="2000" b="1" dirty="0">
                <a:latin typeface="+mj-lt"/>
              </a:rPr>
              <a:t>Edit Settings</a:t>
            </a:r>
            <a:r>
              <a:rPr lang="en-US" sz="2000" dirty="0">
                <a:latin typeface="+mj-lt"/>
              </a:rPr>
              <a:t>, go to </a:t>
            </a:r>
            <a:r>
              <a:rPr lang="en-US" sz="2000" b="1" dirty="0">
                <a:latin typeface="+mj-lt"/>
              </a:rPr>
              <a:t>Options</a:t>
            </a:r>
            <a:r>
              <a:rPr lang="en-US" sz="2000" dirty="0">
                <a:latin typeface="+mj-lt"/>
              </a:rPr>
              <a:t> and </a:t>
            </a:r>
            <a:r>
              <a:rPr lang="en-US" sz="2000" b="1" dirty="0">
                <a:latin typeface="+mj-lt"/>
              </a:rPr>
              <a:t>Boot Options</a:t>
            </a:r>
            <a:r>
              <a:rPr lang="en-US" sz="2000" dirty="0">
                <a:latin typeface="+mj-lt"/>
              </a:rPr>
              <a:t>.  Turn delay to </a:t>
            </a:r>
            <a:r>
              <a:rPr lang="en-US" sz="2000" b="1" dirty="0">
                <a:latin typeface="+mj-lt"/>
              </a:rPr>
              <a:t>10,000 ms</a:t>
            </a:r>
          </a:p>
        </p:txBody>
      </p:sp>
      <p:sp>
        <p:nvSpPr>
          <p:cNvPr id="9" name="Right Arrow 8"/>
          <p:cNvSpPr/>
          <p:nvPr/>
        </p:nvSpPr>
        <p:spPr>
          <a:xfrm rot="5746010">
            <a:off x="6097576" y="3038599"/>
            <a:ext cx="1898784" cy="192411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0" name="Right Arrow 9"/>
          <p:cNvSpPr/>
          <p:nvPr/>
        </p:nvSpPr>
        <p:spPr>
          <a:xfrm rot="5954328">
            <a:off x="2140167" y="3518651"/>
            <a:ext cx="794249" cy="307498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3968096" y="4089059"/>
            <a:ext cx="1866543" cy="199607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 bwMode="gray">
          <a:xfrm>
            <a:off x="5834638" y="3905525"/>
            <a:ext cx="460465" cy="283336"/>
          </a:xfrm>
          <a:prstGeom prst="rect">
            <a:avLst/>
          </a:prstGeom>
          <a:noFill/>
          <a:ln w="222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798833" y="2180550"/>
            <a:ext cx="39171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This will be useful when you start to boot vms for OS Provisioning.  Allows you time to select correct OGFS Build Agent.</a:t>
            </a:r>
          </a:p>
          <a:p>
            <a:endParaRPr lang="en-US" sz="2000" dirty="0" smtClean="0">
              <a:latin typeface="+mj-lt"/>
            </a:endParaRPr>
          </a:p>
          <a:p>
            <a:r>
              <a:rPr lang="en-US" sz="2000" dirty="0" smtClean="0">
                <a:latin typeface="+mj-lt"/>
              </a:rPr>
              <a:t>Note</a:t>
            </a:r>
            <a:r>
              <a:rPr lang="en-US" sz="2000" dirty="0">
                <a:latin typeface="+mj-lt"/>
              </a:rPr>
              <a:t>: It will be reset to default value if you revert the vm.  You will need to change again!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730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Revert a VM back to start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029057"/>
            <a:ext cx="10744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Single Click a VM.  Single Click the </a:t>
            </a:r>
            <a:r>
              <a:rPr lang="en-US" sz="2000" b="1" dirty="0"/>
              <a:t>Snapshot Manager </a:t>
            </a:r>
            <a:r>
              <a:rPr lang="en-US" sz="2000" dirty="0"/>
              <a:t>icon. Single click the first snapshot saved. Click  </a:t>
            </a:r>
            <a:r>
              <a:rPr lang="en-US" sz="2000" b="1" dirty="0"/>
              <a:t>Go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on the VM once the snapshot has been reverted</a:t>
            </a: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182880" y="6409944"/>
            <a:ext cx="365760" cy="274320"/>
          </a:xfrm>
          <a:prstGeom prst="rect">
            <a:avLst/>
          </a:prstGeom>
        </p:spPr>
        <p:txBody>
          <a:bodyPr/>
          <a:lstStyle/>
          <a:p>
            <a:fld id="{B016F8AB-BCEA-4347-8BA6-BE776009BC8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543" y="2092017"/>
            <a:ext cx="5985782" cy="4299257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2099256">
            <a:off x="5812464" y="2913704"/>
            <a:ext cx="580409" cy="244777"/>
          </a:xfrm>
          <a:prstGeom prst="rightArrow">
            <a:avLst/>
          </a:prstGeom>
          <a:gradFill flip="none" rotWithShape="1">
            <a:gsLst>
              <a:gs pos="85000">
                <a:srgbClr val="00104D"/>
              </a:gs>
              <a:gs pos="15000">
                <a:srgbClr val="1E89C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tlCol="0" anchor="ctr"/>
          <a:lstStyle/>
          <a:p>
            <a:pPr algn="ctr">
              <a:lnSpc>
                <a:spcPct val="85000"/>
              </a:lnSpc>
            </a:pPr>
            <a:endParaRPr lang="en-US" sz="2000" dirty="0">
              <a:solidFill>
                <a:prstClr val="whit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2874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2713" lvl="1" indent="1588">
              <a:spcAft>
                <a:spcPct val="25000"/>
              </a:spcAft>
            </a:pPr>
            <a:r>
              <a:rPr lang="en-US" sz="3300" dirty="0"/>
              <a:t>Guidelines using vSphere Client and VMs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1570" y="1175361"/>
            <a:ext cx="90174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Please </a:t>
            </a:r>
            <a:r>
              <a:rPr lang="en-US" sz="2000" dirty="0">
                <a:latin typeface="+mj-lt"/>
              </a:rPr>
              <a:t>ONLY USE vSphere Client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Create a VM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Snapshot YOUR VMs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+mj-lt"/>
              </a:rPr>
              <a:t>Revert </a:t>
            </a:r>
            <a:r>
              <a:rPr lang="en-US" sz="2000" dirty="0">
                <a:latin typeface="+mj-lt"/>
              </a:rPr>
              <a:t>VMs back to the start of the </a:t>
            </a:r>
            <a:r>
              <a:rPr lang="en-US" sz="2000" dirty="0" smtClean="0">
                <a:latin typeface="+mj-lt"/>
              </a:rPr>
              <a:t>demo </a:t>
            </a:r>
            <a:r>
              <a:rPr lang="en-US" sz="2000" dirty="0">
                <a:latin typeface="+mj-lt"/>
              </a:rPr>
              <a:t>settings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Start VM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View VM Console for interaction with boot process (OS  Provisioning)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Change boot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2446" y="5239004"/>
            <a:ext cx="86331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PLEASE PLAY FAIR in your environment!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Any changes to </a:t>
            </a:r>
            <a:r>
              <a:rPr lang="en-US" sz="2000" dirty="0" smtClean="0">
                <a:latin typeface="+mj-lt"/>
              </a:rPr>
              <a:t>the shared </a:t>
            </a:r>
            <a:r>
              <a:rPr lang="en-US" sz="2000" dirty="0">
                <a:latin typeface="+mj-lt"/>
              </a:rPr>
              <a:t>environment could have consequences for others.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Please </a:t>
            </a:r>
            <a:r>
              <a:rPr lang="en-US" sz="2000" b="1" i="1" u="sng" dirty="0">
                <a:latin typeface="+mj-lt"/>
              </a:rPr>
              <a:t>Do Not Abuse </a:t>
            </a:r>
            <a:r>
              <a:rPr lang="en-US" sz="2000" dirty="0">
                <a:latin typeface="+mj-lt"/>
              </a:rPr>
              <a:t>your lab privileges!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668" y="3154833"/>
            <a:ext cx="4199588" cy="176189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3369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DCA </a:t>
            </a:r>
            <a:r>
              <a:rPr lang="en-US" dirty="0" smtClean="0"/>
              <a:t>Suite Demo </a:t>
            </a:r>
            <a:r>
              <a:rPr lang="en-US" dirty="0" smtClean="0"/>
              <a:t>Use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19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08118" y="1607021"/>
            <a:ext cx="10115551" cy="44521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Some of these show setup tasks which do not</a:t>
            </a:r>
          </a:p>
          <a:p>
            <a:pPr marL="0" indent="0">
              <a:buNone/>
            </a:pPr>
            <a:r>
              <a:rPr lang="en-US" dirty="0"/>
              <a:t>n</a:t>
            </a:r>
            <a:r>
              <a:rPr lang="en-US" dirty="0" smtClean="0"/>
              <a:t>eed to be performed – reference only:</a:t>
            </a:r>
          </a:p>
          <a:p>
            <a:r>
              <a:rPr lang="en-US" dirty="0" smtClean="0"/>
              <a:t>DCA Puppet Integration and Compliance</a:t>
            </a:r>
          </a:p>
          <a:p>
            <a:endParaRPr lang="en-US" dirty="0" smtClean="0"/>
          </a:p>
          <a:p>
            <a:r>
              <a:rPr lang="en-US" dirty="0" smtClean="0"/>
              <a:t>DCA Agentless management</a:t>
            </a:r>
          </a:p>
          <a:p>
            <a:endParaRPr lang="en-US" dirty="0" smtClean="0"/>
          </a:p>
          <a:p>
            <a:r>
              <a:rPr lang="en-US" dirty="0" smtClean="0"/>
              <a:t>SA Integration</a:t>
            </a:r>
          </a:p>
          <a:p>
            <a:pPr lvl="1"/>
            <a:r>
              <a:rPr lang="en-US" dirty="0" smtClean="0"/>
              <a:t>SA Integration and SA Server Management</a:t>
            </a:r>
          </a:p>
          <a:p>
            <a:pPr lvl="1"/>
            <a:r>
              <a:rPr lang="en-US" dirty="0" smtClean="0"/>
              <a:t>OS Provisioning</a:t>
            </a:r>
          </a:p>
          <a:p>
            <a:pPr lvl="1"/>
            <a:r>
              <a:rPr lang="en-US" dirty="0" smtClean="0"/>
              <a:t>Patching</a:t>
            </a:r>
          </a:p>
          <a:p>
            <a:pPr lvl="1"/>
            <a:r>
              <a:rPr lang="en-US" dirty="0" smtClean="0"/>
              <a:t>Compliance</a:t>
            </a:r>
          </a:p>
          <a:p>
            <a:pPr lvl="1"/>
            <a:r>
              <a:rPr lang="en-US" dirty="0" smtClean="0"/>
              <a:t>Oracle Server Provisioning</a:t>
            </a:r>
          </a:p>
          <a:p>
            <a:pPr lvl="1"/>
            <a:r>
              <a:rPr lang="en-US" dirty="0" smtClean="0"/>
              <a:t>Oracle Compliance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6786" y="429273"/>
            <a:ext cx="10711814" cy="605200"/>
          </a:xfrm>
        </p:spPr>
        <p:txBody>
          <a:bodyPr/>
          <a:lstStyle/>
          <a:p>
            <a:r>
              <a:rPr lang="en-US" dirty="0" smtClean="0"/>
              <a:t>Executive Demos </a:t>
            </a:r>
            <a:r>
              <a:rPr lang="en-US" dirty="0" smtClean="0"/>
              <a:t>– DCA Suite Reference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The following can be used as a guideline working the lab environment!</a:t>
            </a:r>
            <a:br>
              <a:rPr lang="en-US" sz="2800" dirty="0" smtClean="0"/>
            </a:br>
            <a:endParaRPr lang="en-US" sz="2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679" y="1705769"/>
            <a:ext cx="5534990" cy="8134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679" y="2639255"/>
            <a:ext cx="5757863" cy="787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679" y="3546842"/>
            <a:ext cx="4928627" cy="2691091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61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08119" y="1607021"/>
            <a:ext cx="4526254" cy="4452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These set of Executive Demos show how too use DMA Ultimate to:</a:t>
            </a:r>
          </a:p>
          <a:p>
            <a:pPr marL="457200" indent="-457200">
              <a:buAutoNum type="arabicParenR"/>
            </a:pPr>
            <a:r>
              <a:rPr lang="en-US" dirty="0" smtClean="0"/>
              <a:t>Create a target RHEL server</a:t>
            </a:r>
          </a:p>
          <a:p>
            <a:pPr marL="457200" indent="-457200">
              <a:buAutoNum type="arabicParenR"/>
            </a:pPr>
            <a:r>
              <a:rPr lang="en-US" dirty="0" smtClean="0"/>
              <a:t>Provision Oracle 12 Software</a:t>
            </a:r>
          </a:p>
          <a:p>
            <a:pPr marL="457200" indent="-457200">
              <a:buAutoNum type="arabicParenR"/>
            </a:pPr>
            <a:r>
              <a:rPr lang="en-US" dirty="0" smtClean="0"/>
              <a:t>Provision a Database</a:t>
            </a:r>
          </a:p>
          <a:p>
            <a:pPr marL="457200" indent="-457200">
              <a:buAutoNum type="arabicParenR"/>
            </a:pPr>
            <a:r>
              <a:rPr lang="en-US" dirty="0" smtClean="0"/>
              <a:t>Patch Home and Database</a:t>
            </a:r>
          </a:p>
          <a:p>
            <a:pPr marL="457200" indent="-457200">
              <a:buAutoNum type="arabicParenR"/>
            </a:pPr>
            <a:r>
              <a:rPr lang="en-US" dirty="0" smtClean="0"/>
              <a:t>Roll Back Patch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Note:  These were done using DMA 10.50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6786" y="429273"/>
            <a:ext cx="10711814" cy="605200"/>
          </a:xfrm>
        </p:spPr>
        <p:txBody>
          <a:bodyPr/>
          <a:lstStyle/>
          <a:p>
            <a:r>
              <a:rPr lang="en-US" dirty="0" smtClean="0"/>
              <a:t>Executive Demos </a:t>
            </a:r>
            <a:r>
              <a:rPr lang="en-US" dirty="0" smtClean="0"/>
              <a:t>– DMA Ultimate Reference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The following can be used as a guideline working the lab environment!</a:t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068" y="2236922"/>
            <a:ext cx="6223219" cy="216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42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08118" y="1607021"/>
            <a:ext cx="10787570" cy="4452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Here are some guidelines in using the DCA Shared Demo Lab</a:t>
            </a:r>
            <a:r>
              <a:rPr lang="en-US" dirty="0" smtClean="0"/>
              <a:t>:</a:t>
            </a:r>
          </a:p>
          <a:p>
            <a:pPr marL="457200" indent="-457200">
              <a:buAutoNum type="arabicParenR"/>
            </a:pPr>
            <a:r>
              <a:rPr lang="en-US" dirty="0" smtClean="0"/>
              <a:t>Stick to RHEL 7.3 for provisioning, patching and compliance</a:t>
            </a:r>
          </a:p>
          <a:p>
            <a:pPr marL="457200" indent="-457200">
              <a:buAutoNum type="arabicParenR"/>
            </a:pPr>
            <a:r>
              <a:rPr lang="en-US" dirty="0" smtClean="0"/>
              <a:t>Use the Meltdown and Spectre Patch policies, Poodle </a:t>
            </a:r>
            <a:r>
              <a:rPr lang="en-US" dirty="0" smtClean="0"/>
              <a:t>does not require patch so always compliant</a:t>
            </a:r>
            <a:endParaRPr lang="en-US" dirty="0" smtClean="0"/>
          </a:p>
          <a:p>
            <a:pPr marL="457200" indent="-457200">
              <a:buAutoNum type="arabicParenR"/>
            </a:pPr>
            <a:r>
              <a:rPr lang="en-US" dirty="0" smtClean="0"/>
              <a:t>Avoid Windows provisioning – takes a long time, but if you do, use W2K12R2 or W2K16</a:t>
            </a:r>
          </a:p>
          <a:p>
            <a:pPr marL="457200" indent="-457200">
              <a:buAutoNum type="arabicParenR"/>
            </a:pPr>
            <a:r>
              <a:rPr lang="en-US" dirty="0" smtClean="0"/>
              <a:t>Both demoXms5 and demoXms6 can be use for Oracle/JBOSS provisioning with DMA Ultimate</a:t>
            </a:r>
          </a:p>
          <a:p>
            <a:pPr marL="457200" indent="-457200">
              <a:buAutoNum type="arabicParenR"/>
            </a:pPr>
            <a:r>
              <a:rPr lang="en-US" dirty="0" smtClean="0"/>
              <a:t>Both demoXms3 and demoXms9 can be used for MS SQL provisioning with DMA Ultimate</a:t>
            </a:r>
          </a:p>
          <a:p>
            <a:pPr marL="457200" indent="-457200">
              <a:buAutoNum type="arabicParenR"/>
            </a:pPr>
            <a:r>
              <a:rPr lang="en-US" dirty="0" smtClean="0"/>
              <a:t>Avoid using the DCA Templates for Oracle and MS SQL, but use for Linux and Windows Provisioning</a:t>
            </a:r>
          </a:p>
          <a:p>
            <a:pPr marL="457200" indent="-457200">
              <a:buAutoNum type="arabicParenR"/>
            </a:pPr>
            <a:r>
              <a:rPr lang="en-US" dirty="0" smtClean="0"/>
              <a:t>For Puppet Managed servers, run DCA compliance on the CentOS  (demoXpuppet1) servers. RHEL has bug right now (August 30, 2018 – being worked on)</a:t>
            </a:r>
          </a:p>
          <a:p>
            <a:pPr marL="457200" indent="-457200">
              <a:buAutoNum type="arabicParenR"/>
            </a:pPr>
            <a:r>
              <a:rPr lang="en-US" dirty="0" smtClean="0"/>
              <a:t>Do create your own Resource Groups for Oracle and MS SQL to show Middleware Compliance</a:t>
            </a:r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6786" y="429273"/>
            <a:ext cx="10711814" cy="605200"/>
          </a:xfrm>
        </p:spPr>
        <p:txBody>
          <a:bodyPr/>
          <a:lstStyle/>
          <a:p>
            <a:r>
              <a:rPr lang="en-US" dirty="0" smtClean="0"/>
              <a:t>Lab Use Case Recommendations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376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Troubleshooting Resources!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70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SA provisioned server not in DCA Resources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4385" y="1234636"/>
            <a:ext cx="9398726" cy="4853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i="1" dirty="0" smtClean="0"/>
              <a:t>Note:  </a:t>
            </a:r>
            <a:r>
              <a:rPr lang="en-US" b="1" i="1" dirty="0" smtClean="0"/>
              <a:t>This can happen if the telldaemon does not update the UCMDB.  We need to “kick-start” it!</a:t>
            </a:r>
            <a:endParaRPr lang="en-US" b="1" i="1" dirty="0" smtClean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3801388" y="3040588"/>
            <a:ext cx="2906486" cy="556862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2400" dirty="0" smtClean="0"/>
              <a:t>Resource in SA, not DCA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57" y="1694674"/>
            <a:ext cx="5086078" cy="25619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38" y="2127091"/>
            <a:ext cx="6400800" cy="9429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365" y="3665378"/>
            <a:ext cx="917802" cy="30188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4285" y="3851007"/>
            <a:ext cx="2847818" cy="2308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>
              <a:spcAft>
                <a:spcPts val="1800"/>
              </a:spcAft>
              <a:buNone/>
            </a:pPr>
            <a:r>
              <a:rPr lang="en-US" sz="2000" dirty="0" smtClean="0"/>
              <a:t>From Desktop</a:t>
            </a:r>
            <a:endParaRPr lang="en-US" sz="1600" dirty="0" smtClean="0"/>
          </a:p>
          <a:p>
            <a:pPr marL="0" indent="0">
              <a:spcAft>
                <a:spcPts val="1800"/>
              </a:spcAft>
              <a:buNone/>
            </a:pPr>
            <a:r>
              <a:rPr lang="en-US" sz="2000" dirty="0" smtClean="0"/>
              <a:t>Run the </a:t>
            </a:r>
            <a:r>
              <a:rPr lang="en-US" sz="2000" b="1" dirty="0" smtClean="0"/>
              <a:t>restart_telldaemon</a:t>
            </a:r>
            <a:r>
              <a:rPr lang="en-US" sz="2000" dirty="0" smtClean="0"/>
              <a:t> script to stop and restart the telldaemon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en-US" sz="2000" dirty="0" smtClean="0"/>
              <a:t>Wait a few minutes…..</a:t>
            </a:r>
            <a:endParaRPr lang="en-US" sz="2000" dirty="0"/>
          </a:p>
        </p:txBody>
      </p:sp>
      <p:sp>
        <p:nvSpPr>
          <p:cNvPr id="12" name="Right Arrow 11"/>
          <p:cNvSpPr/>
          <p:nvPr/>
        </p:nvSpPr>
        <p:spPr>
          <a:xfrm>
            <a:off x="6318913" y="2376044"/>
            <a:ext cx="777923" cy="378849"/>
          </a:xfrm>
          <a:prstGeom prst="rightArrow">
            <a:avLst/>
          </a:prstGeom>
          <a:solidFill>
            <a:srgbClr val="E5004C"/>
          </a:solidFill>
          <a:ln>
            <a:solidFill>
              <a:srgbClr val="E500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568" y="4406467"/>
            <a:ext cx="5154673" cy="1947677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>
            <a:off x="4184486" y="4626320"/>
            <a:ext cx="777923" cy="378849"/>
          </a:xfrm>
          <a:prstGeom prst="rightArrow">
            <a:avLst/>
          </a:prstGeom>
          <a:solidFill>
            <a:srgbClr val="E5004C"/>
          </a:solidFill>
          <a:ln>
            <a:solidFill>
              <a:srgbClr val="E500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02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Delete a Server from UCMDB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4385" y="1234636"/>
            <a:ext cx="9398726" cy="38393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b="1" i="1" dirty="0" smtClean="0"/>
              <a:t>Note:  This ONLY applies to servers which were imported into DCA via CSV file.  This is NOT for SA Integrated Servers.  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 smtClean="0"/>
              <a:t>Login to the UCMDB from IE  Note:  DO NOT USE CHROME!</a:t>
            </a:r>
          </a:p>
          <a:p>
            <a:pPr>
              <a:spcAft>
                <a:spcPts val="600"/>
              </a:spcAft>
            </a:pPr>
            <a:r>
              <a:rPr lang="en-US" dirty="0">
                <a:hlinkClick r:id="rId2"/>
              </a:rPr>
              <a:t>https://dca-pocapp-mast.dca.demo.local:33111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   admin=Automation.123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074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Delete a Server from UCMDB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94385" y="1234636"/>
            <a:ext cx="9398726" cy="12656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 smtClean="0"/>
              <a:t>Open the IT Universe Manager and search for your server.  Then delete!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0000"/>
              </a:solidFill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86" y="1702689"/>
            <a:ext cx="9420225" cy="498157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4191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69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B999A9-77CE-4AD1-9911-24A29F08BC34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46786" y="1325138"/>
            <a:ext cx="9855826" cy="6016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smtClean="0"/>
              <a:t>If you have questions using this shared demo lab please email:  </a:t>
            </a:r>
            <a:r>
              <a:rPr lang="en-US" sz="2000" b="1" dirty="0" smtClean="0">
                <a:hlinkClick r:id="rId2"/>
              </a:rPr>
              <a:t>hayden.brown@microfocus.com</a:t>
            </a:r>
            <a:r>
              <a:rPr lang="en-US" sz="2000" b="1" dirty="0" smtClean="0"/>
              <a:t> </a:t>
            </a:r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>
              <a:spcAft>
                <a:spcPts val="1800"/>
              </a:spcAft>
            </a:pPr>
            <a:endParaRPr lang="en-US" dirty="0" smtClean="0"/>
          </a:p>
          <a:p>
            <a:pPr marL="342900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514" y="2078846"/>
            <a:ext cx="6738257" cy="4438947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DCA 2018.08 Shared Demo Lab - Access and 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9417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7792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cro Focus Theme v5">
  <a:themeElements>
    <a:clrScheme name="mf theme colors v4">
      <a:dk1>
        <a:srgbClr val="000000"/>
      </a:dk1>
      <a:lt1>
        <a:srgbClr val="FFFFFF"/>
      </a:lt1>
      <a:dk2>
        <a:srgbClr val="ECEEEF"/>
      </a:dk2>
      <a:lt2>
        <a:srgbClr val="212E35"/>
      </a:lt2>
      <a:accent1>
        <a:srgbClr val="0079EF"/>
      </a:accent1>
      <a:accent2>
        <a:srgbClr val="231CA5"/>
      </a:accent2>
      <a:accent3>
        <a:srgbClr val="7424AD"/>
      </a:accent3>
      <a:accent4>
        <a:srgbClr val="C6179D"/>
      </a:accent4>
      <a:accent5>
        <a:srgbClr val="29CEFE"/>
      </a:accent5>
      <a:accent6>
        <a:srgbClr val="2FD6C3"/>
      </a:accent6>
      <a:hlink>
        <a:srgbClr val="284CFF"/>
      </a:hlink>
      <a:folHlink>
        <a:srgbClr val="284CF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rmAutofit/>
      </a:bodyPr>
      <a:lstStyle>
        <a:defPPr marL="0" indent="0">
          <a:spcAft>
            <a:spcPts val="1800"/>
          </a:spcAft>
          <a:buNone/>
          <a:defRPr sz="2400" dirty="0"/>
        </a:defPPr>
      </a:lstStyle>
    </a:txDef>
  </a:objectDefaults>
  <a:extraClrSchemeLst/>
  <a:custClrLst>
    <a:custClr name="MF Status Crimson">
      <a:srgbClr val="E5004C"/>
    </a:custClr>
    <a:custClr name="MF Status Apricot">
      <a:srgbClr val="F48B34"/>
    </a:custClr>
    <a:custClr name="MF Status Yellow">
      <a:srgbClr val="FCDB1F"/>
    </a:custClr>
    <a:custClr name="MF Status Green">
      <a:srgbClr val="1AAC60"/>
    </a:custClr>
  </a:custClrLst>
  <a:extLst>
    <a:ext uri="{05A4C25C-085E-4340-85A3-A5531E510DB2}">
      <thm15:themeFamily xmlns:thm15="http://schemas.microsoft.com/office/thememl/2012/main" name="Presentation_2017" id="{EE410749-BDB7-BA44-9034-418D44443F47}" vid="{9639C47D-4534-FE4D-9883-F5A494F791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MF Status Crimson">
      <a:srgbClr val="E5004C"/>
    </a:custClr>
    <a:custClr name="MF Status Apricot">
      <a:srgbClr val="F48B34"/>
    </a:custClr>
    <a:custClr name="MF Status Yellow">
      <a:srgbClr val="FCDB1F"/>
    </a:custClr>
    <a:custClr name="MF Status Green">
      <a:srgbClr val="1AAC6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03BCB38-008C-E349-A4FC-E674450CD1CA}">
  <we:reference id="wa104381063" version="1.0.0.0" store="en-US" storeType="OMEX"/>
  <we:alternateReferences>
    <we:reference id="wa104381063" version="1.0.0.0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Presentation_2017</Template>
  <TotalTime>8432</TotalTime>
  <Words>3949</Words>
  <Application>Microsoft Office PowerPoint</Application>
  <PresentationFormat>Widescreen</PresentationFormat>
  <Paragraphs>953</Paragraphs>
  <Slides>48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宋体</vt:lpstr>
      <vt:lpstr>Arial</vt:lpstr>
      <vt:lpstr>Arial Narrow</vt:lpstr>
      <vt:lpstr>Calibri</vt:lpstr>
      <vt:lpstr>Calibri Light</vt:lpstr>
      <vt:lpstr>HP Simplified</vt:lpstr>
      <vt:lpstr>Mangal</vt:lpstr>
      <vt:lpstr>Roboto Light</vt:lpstr>
      <vt:lpstr>Times New Roman</vt:lpstr>
      <vt:lpstr>Wingdings</vt:lpstr>
      <vt:lpstr>Micro Focus Theme v5</vt:lpstr>
      <vt:lpstr>DCA Suite 2018.08 Shared Demo Lab Enablement – Level 340</vt:lpstr>
      <vt:lpstr>Agenda</vt:lpstr>
      <vt:lpstr>Requesting a demo</vt:lpstr>
      <vt:lpstr>Access to DCA Shared Demo Lab Environment</vt:lpstr>
      <vt:lpstr>What is NEW with DCA Suite Shared Demo Lab Environment?</vt:lpstr>
      <vt:lpstr>What is new in the DCA Suite 2018.08 Shared Demo Lab</vt:lpstr>
      <vt:lpstr>Data Center Automation Suite 2018.08</vt:lpstr>
      <vt:lpstr>DCA Lab Infrastructure</vt:lpstr>
      <vt:lpstr>Data Center Automation – Foundation</vt:lpstr>
      <vt:lpstr>Typical “Demo/POC” DCA Suite 2018.08 installation</vt:lpstr>
      <vt:lpstr>Lab infrastructure</vt:lpstr>
      <vt:lpstr>DCA Shared Demo Lab Configuration</vt:lpstr>
      <vt:lpstr>New DCA Suite 2018.08 Shared Lab Environment</vt:lpstr>
      <vt:lpstr>Example: Resources for demo2user – What you can use</vt:lpstr>
      <vt:lpstr>Lab Resources (Shared by all users) </vt:lpstr>
      <vt:lpstr>Lab Resources – DCA Demo Appliance  (Shared by all users) </vt:lpstr>
      <vt:lpstr>Passwords inside the Lab Environment</vt:lpstr>
      <vt:lpstr>Your SA 10.60 will look like this</vt:lpstr>
      <vt:lpstr>Danger Danger Will Robinson! What you can and cannot do in the lab!</vt:lpstr>
      <vt:lpstr>Login to dca-clientapps Accessvm RDP Session</vt:lpstr>
      <vt:lpstr>Login to the Student’s Lab Accessvm RDP Session (1)</vt:lpstr>
      <vt:lpstr>Login to the Student’s Lab Accessvm RDP Session (2)</vt:lpstr>
      <vt:lpstr>Login to the Student’s Lab Accessvm RDP Session (3)</vt:lpstr>
      <vt:lpstr>These URL Favorites – Ready in Chrome and IE (4)</vt:lpstr>
      <vt:lpstr>* IMPORTANT* - When you  are finished for the day (5)</vt:lpstr>
      <vt:lpstr>* IMPORTANT* - When you finish your Demo (6)</vt:lpstr>
      <vt:lpstr>What is on your Desktop?</vt:lpstr>
      <vt:lpstr>What is on the Desktop</vt:lpstr>
      <vt:lpstr>What is on the Desktop (2)</vt:lpstr>
      <vt:lpstr>Login to Shared vCenter vSphere Client</vt:lpstr>
      <vt:lpstr>Careful working in the vSphere Client!</vt:lpstr>
      <vt:lpstr>Login to the Shared vCenter vSphere Client</vt:lpstr>
      <vt:lpstr>Access VMs in vCenter vSphere Client</vt:lpstr>
      <vt:lpstr>View a VM’s Console</vt:lpstr>
      <vt:lpstr>Change VM’s Boot Delay Options  (optional)</vt:lpstr>
      <vt:lpstr>Revert a VM back to start of class</vt:lpstr>
      <vt:lpstr>Guidelines using vSphere Client and VMs</vt:lpstr>
      <vt:lpstr>DCA Suite Demo Use Cases</vt:lpstr>
      <vt:lpstr>Executive Demos – DCA Suite Reference The following can be used as a guideline working the lab environment! </vt:lpstr>
      <vt:lpstr>Executive Demos – DMA Ultimate Reference The following can be used as a guideline working the lab environment! </vt:lpstr>
      <vt:lpstr>Lab Use Case Recommendations </vt:lpstr>
      <vt:lpstr>Troubleshooting Resources!</vt:lpstr>
      <vt:lpstr>A new SA provisioned server not in DCA Resources</vt:lpstr>
      <vt:lpstr>How to Delete a Server from UCMDB</vt:lpstr>
      <vt:lpstr>How to Delete a Server from UCMDB</vt:lpstr>
      <vt:lpstr>Questions?</vt:lpstr>
      <vt:lpstr>Questions?</vt:lpstr>
      <vt:lpstr>PowerPoint Presentation</vt:lpstr>
    </vt:vector>
  </TitlesOfParts>
  <Company>Novell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 Focus Presentation Template</dc:title>
  <dc:creator>Karlin Stokes</dc:creator>
  <cp:lastModifiedBy>Brown, Hayden D (Data Center Automation)</cp:lastModifiedBy>
  <cp:revision>258</cp:revision>
  <dcterms:created xsi:type="dcterms:W3CDTF">2017-10-11T15:55:15Z</dcterms:created>
  <dcterms:modified xsi:type="dcterms:W3CDTF">2018-08-31T00:58:51Z</dcterms:modified>
</cp:coreProperties>
</file>